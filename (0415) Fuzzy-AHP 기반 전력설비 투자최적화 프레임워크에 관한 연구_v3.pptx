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7" r:id="rId1"/>
  </p:sldMasterIdLst>
  <p:notesMasterIdLst>
    <p:notesMasterId r:id="rId33"/>
  </p:notesMasterIdLst>
  <p:sldIdLst>
    <p:sldId id="275" r:id="rId2"/>
    <p:sldId id="387" r:id="rId3"/>
    <p:sldId id="394" r:id="rId4"/>
    <p:sldId id="389" r:id="rId5"/>
    <p:sldId id="390" r:id="rId6"/>
    <p:sldId id="391" r:id="rId7"/>
    <p:sldId id="359" r:id="rId8"/>
    <p:sldId id="393" r:id="rId9"/>
    <p:sldId id="395" r:id="rId10"/>
    <p:sldId id="396" r:id="rId11"/>
    <p:sldId id="397" r:id="rId12"/>
    <p:sldId id="398" r:id="rId13"/>
    <p:sldId id="401" r:id="rId14"/>
    <p:sldId id="403" r:id="rId15"/>
    <p:sldId id="404" r:id="rId16"/>
    <p:sldId id="406" r:id="rId17"/>
    <p:sldId id="407" r:id="rId18"/>
    <p:sldId id="410" r:id="rId19"/>
    <p:sldId id="411" r:id="rId20"/>
    <p:sldId id="413" r:id="rId21"/>
    <p:sldId id="414" r:id="rId22"/>
    <p:sldId id="415" r:id="rId23"/>
    <p:sldId id="416" r:id="rId24"/>
    <p:sldId id="417" r:id="rId25"/>
    <p:sldId id="418" r:id="rId26"/>
    <p:sldId id="422" r:id="rId27"/>
    <p:sldId id="420" r:id="rId28"/>
    <p:sldId id="421" r:id="rId29"/>
    <p:sldId id="286" r:id="rId30"/>
    <p:sldId id="424" r:id="rId31"/>
    <p:sldId id="425" r:id="rId32"/>
  </p:sldIdLst>
  <p:sldSz cx="9144000" cy="5715000" type="screen16x10"/>
  <p:notesSz cx="6735763" cy="9866313"/>
  <p:embeddedFontLst>
    <p:embeddedFont>
      <p:font typeface="나눔스퀘어 네오 Bold" panose="020B0600000101010101" charset="-127"/>
      <p:bold r:id="rId34"/>
    </p:embeddedFont>
    <p:embeddedFont>
      <p:font typeface="나눔스퀘어 네오 ExtraBold" panose="020B0600000101010101" charset="-127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mbria Math" panose="02040503050406030204" pitchFamily="18" charset="0"/>
      <p:regular r:id="rId40"/>
    </p:embeddedFont>
    <p:embeddedFont>
      <p:font typeface="HY헤드라인M" panose="02030600000101010101" pitchFamily="18" charset="-127"/>
      <p:regular r:id="rId41"/>
    </p:embeddedFont>
    <p:embeddedFont>
      <p:font typeface="KoPubWorld돋움체 Medium" panose="00000600000000000000" pitchFamily="2" charset="-127"/>
      <p:regular r:id="rId42"/>
    </p:embeddedFont>
    <p:embeddedFont>
      <p:font typeface="KoPub돋움체 Bold" panose="00000800000000000000" pitchFamily="2" charset="-127"/>
      <p:bold r:id="rId43"/>
    </p:embeddedFont>
    <p:embeddedFont>
      <p:font typeface="KoPub돋움체 Medium" panose="00000600000000000000" pitchFamily="2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pco" initials="k" lastIdx="1" clrIdx="0">
    <p:extLst>
      <p:ext uri="{19B8F6BF-5375-455C-9EA6-DF929625EA0E}">
        <p15:presenceInfo xmlns:p15="http://schemas.microsoft.com/office/powerpoint/2012/main" userId="kepc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04C"/>
    <a:srgbClr val="0D014D"/>
    <a:srgbClr val="E0EBF6"/>
    <a:srgbClr val="4B7EB4"/>
    <a:srgbClr val="A5C0DE"/>
    <a:srgbClr val="042965"/>
    <a:srgbClr val="09214C"/>
    <a:srgbClr val="C2E2FB"/>
    <a:srgbClr val="291F5E"/>
    <a:srgbClr val="17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880" autoAdjust="0"/>
  </p:normalViewPr>
  <p:slideViewPr>
    <p:cSldViewPr snapToGrid="0" showGuides="1">
      <p:cViewPr>
        <p:scale>
          <a:sx n="75" d="100"/>
          <a:sy n="75" d="100"/>
        </p:scale>
        <p:origin x="1389" y="12"/>
      </p:cViewPr>
      <p:guideLst>
        <p:guide orient="horz" pos="734"/>
        <p:guide pos="249"/>
        <p:guide pos="55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hci-nas-fs\data2\05200512\&#46972;&#49548;&#50689;\2503_&#54617;&#54924;\&#44540;&#44144;&#51088;&#47308;\HOME_&#51204;&#47141;&#49444;&#48708;_&#48320;&#51204;&#49444;&#4870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765kV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Sheet2!$A$2:$A$54</c:f>
              <c:strCache>
                <c:ptCount val="53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  <c:pt idx="20">
                  <c:v>1991</c:v>
                </c:pt>
                <c:pt idx="21">
                  <c:v>1992</c:v>
                </c:pt>
                <c:pt idx="22">
                  <c:v>1993</c:v>
                </c:pt>
                <c:pt idx="23">
                  <c:v>1994</c:v>
                </c:pt>
                <c:pt idx="24">
                  <c:v>1995</c:v>
                </c:pt>
                <c:pt idx="25">
                  <c:v>1996</c:v>
                </c:pt>
                <c:pt idx="26">
                  <c:v>1997</c:v>
                </c:pt>
                <c:pt idx="27">
                  <c:v>1998</c:v>
                </c:pt>
                <c:pt idx="28">
                  <c:v>1999</c:v>
                </c:pt>
                <c:pt idx="29">
                  <c:v>2000</c:v>
                </c:pt>
                <c:pt idx="30">
                  <c:v>2001</c:v>
                </c:pt>
                <c:pt idx="31">
                  <c:v>2002</c:v>
                </c:pt>
                <c:pt idx="32">
                  <c:v>2003</c:v>
                </c:pt>
                <c:pt idx="33">
                  <c:v>2004</c:v>
                </c:pt>
                <c:pt idx="34">
                  <c:v>2005</c:v>
                </c:pt>
                <c:pt idx="35">
                  <c:v>2006</c:v>
                </c:pt>
                <c:pt idx="36">
                  <c:v>2007</c:v>
                </c:pt>
                <c:pt idx="37">
                  <c:v>2008</c:v>
                </c:pt>
                <c:pt idx="38">
                  <c:v>2009</c:v>
                </c:pt>
                <c:pt idx="39">
                  <c:v>2010</c:v>
                </c:pt>
                <c:pt idx="40">
                  <c:v>2011</c:v>
                </c:pt>
                <c:pt idx="41">
                  <c:v>2012</c:v>
                </c:pt>
                <c:pt idx="42">
                  <c:v>2013</c:v>
                </c:pt>
                <c:pt idx="43">
                  <c:v>2014</c:v>
                </c:pt>
                <c:pt idx="44">
                  <c:v>2015</c:v>
                </c:pt>
                <c:pt idx="45">
                  <c:v>2016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</c:strCache>
            </c:strRef>
          </c:cat>
          <c:val>
            <c:numRef>
              <c:f>Sheet2!$B$2:$B$54</c:f>
              <c:numCache>
                <c:formatCode>#,##0</c:formatCode>
                <c:ptCount val="5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1110</c:v>
                </c:pt>
                <c:pt idx="31">
                  <c:v>7110</c:v>
                </c:pt>
                <c:pt idx="32">
                  <c:v>7110</c:v>
                </c:pt>
                <c:pt idx="33">
                  <c:v>19111</c:v>
                </c:pt>
                <c:pt idx="34">
                  <c:v>21111.3</c:v>
                </c:pt>
                <c:pt idx="35">
                  <c:v>21114</c:v>
                </c:pt>
                <c:pt idx="36">
                  <c:v>23114.400000000001</c:v>
                </c:pt>
                <c:pt idx="37">
                  <c:v>23114.400000000001</c:v>
                </c:pt>
                <c:pt idx="38">
                  <c:v>24114.6</c:v>
                </c:pt>
                <c:pt idx="39">
                  <c:v>27115.200000000001</c:v>
                </c:pt>
                <c:pt idx="40">
                  <c:v>29115.599999999999</c:v>
                </c:pt>
                <c:pt idx="41">
                  <c:v>29115.599999999999</c:v>
                </c:pt>
                <c:pt idx="42">
                  <c:v>31116</c:v>
                </c:pt>
                <c:pt idx="43">
                  <c:v>29115.599999999999</c:v>
                </c:pt>
                <c:pt idx="44">
                  <c:v>37117.199999999997</c:v>
                </c:pt>
                <c:pt idx="45">
                  <c:v>38116.199999999997</c:v>
                </c:pt>
                <c:pt idx="46">
                  <c:v>38116.199999999997</c:v>
                </c:pt>
                <c:pt idx="47">
                  <c:v>39116.400000000001</c:v>
                </c:pt>
                <c:pt idx="48">
                  <c:v>38117.4</c:v>
                </c:pt>
                <c:pt idx="49">
                  <c:v>42110</c:v>
                </c:pt>
                <c:pt idx="50">
                  <c:v>44110</c:v>
                </c:pt>
                <c:pt idx="51">
                  <c:v>44110</c:v>
                </c:pt>
                <c:pt idx="52">
                  <c:v>46110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1-4DF4-B77F-4AEBE991DAF1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345kV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Sheet2!$A$2:$A$54</c:f>
              <c:strCache>
                <c:ptCount val="53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  <c:pt idx="20">
                  <c:v>1991</c:v>
                </c:pt>
                <c:pt idx="21">
                  <c:v>1992</c:v>
                </c:pt>
                <c:pt idx="22">
                  <c:v>1993</c:v>
                </c:pt>
                <c:pt idx="23">
                  <c:v>1994</c:v>
                </c:pt>
                <c:pt idx="24">
                  <c:v>1995</c:v>
                </c:pt>
                <c:pt idx="25">
                  <c:v>1996</c:v>
                </c:pt>
                <c:pt idx="26">
                  <c:v>1997</c:v>
                </c:pt>
                <c:pt idx="27">
                  <c:v>1998</c:v>
                </c:pt>
                <c:pt idx="28">
                  <c:v>1999</c:v>
                </c:pt>
                <c:pt idx="29">
                  <c:v>2000</c:v>
                </c:pt>
                <c:pt idx="30">
                  <c:v>2001</c:v>
                </c:pt>
                <c:pt idx="31">
                  <c:v>2002</c:v>
                </c:pt>
                <c:pt idx="32">
                  <c:v>2003</c:v>
                </c:pt>
                <c:pt idx="33">
                  <c:v>2004</c:v>
                </c:pt>
                <c:pt idx="34">
                  <c:v>2005</c:v>
                </c:pt>
                <c:pt idx="35">
                  <c:v>2006</c:v>
                </c:pt>
                <c:pt idx="36">
                  <c:v>2007</c:v>
                </c:pt>
                <c:pt idx="37">
                  <c:v>2008</c:v>
                </c:pt>
                <c:pt idx="38">
                  <c:v>2009</c:v>
                </c:pt>
                <c:pt idx="39">
                  <c:v>2010</c:v>
                </c:pt>
                <c:pt idx="40">
                  <c:v>2011</c:v>
                </c:pt>
                <c:pt idx="41">
                  <c:v>2012</c:v>
                </c:pt>
                <c:pt idx="42">
                  <c:v>2013</c:v>
                </c:pt>
                <c:pt idx="43">
                  <c:v>2014</c:v>
                </c:pt>
                <c:pt idx="44">
                  <c:v>2015</c:v>
                </c:pt>
                <c:pt idx="45">
                  <c:v>2016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</c:strCache>
            </c:strRef>
          </c:cat>
          <c:val>
            <c:numRef>
              <c:f>Sheet2!$C$2:$C$54</c:f>
              <c:numCache>
                <c:formatCode>#,##0</c:formatCode>
                <c:ptCount val="5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1167</c:v>
                </c:pt>
                <c:pt idx="6">
                  <c:v>1667</c:v>
                </c:pt>
                <c:pt idx="7">
                  <c:v>2667</c:v>
                </c:pt>
                <c:pt idx="8">
                  <c:v>5333</c:v>
                </c:pt>
                <c:pt idx="9">
                  <c:v>6333</c:v>
                </c:pt>
                <c:pt idx="10">
                  <c:v>7334</c:v>
                </c:pt>
                <c:pt idx="11">
                  <c:v>8667</c:v>
                </c:pt>
                <c:pt idx="12">
                  <c:v>9667</c:v>
                </c:pt>
                <c:pt idx="13">
                  <c:v>11669</c:v>
                </c:pt>
                <c:pt idx="14">
                  <c:v>13503</c:v>
                </c:pt>
                <c:pt idx="15">
                  <c:v>15336</c:v>
                </c:pt>
                <c:pt idx="16">
                  <c:v>16337</c:v>
                </c:pt>
                <c:pt idx="17">
                  <c:v>18670</c:v>
                </c:pt>
                <c:pt idx="18">
                  <c:v>19671</c:v>
                </c:pt>
                <c:pt idx="19">
                  <c:v>21171</c:v>
                </c:pt>
                <c:pt idx="20">
                  <c:v>24172</c:v>
                </c:pt>
                <c:pt idx="21">
                  <c:v>26339</c:v>
                </c:pt>
                <c:pt idx="22">
                  <c:v>28339</c:v>
                </c:pt>
                <c:pt idx="23">
                  <c:v>29173</c:v>
                </c:pt>
                <c:pt idx="24">
                  <c:v>36507</c:v>
                </c:pt>
                <c:pt idx="25">
                  <c:v>41675</c:v>
                </c:pt>
                <c:pt idx="26">
                  <c:v>46009</c:v>
                </c:pt>
                <c:pt idx="27">
                  <c:v>47510</c:v>
                </c:pt>
                <c:pt idx="28">
                  <c:v>51510</c:v>
                </c:pt>
                <c:pt idx="29">
                  <c:v>53116</c:v>
                </c:pt>
                <c:pt idx="30">
                  <c:v>63577</c:v>
                </c:pt>
                <c:pt idx="31">
                  <c:v>69078</c:v>
                </c:pt>
                <c:pt idx="32">
                  <c:v>75660</c:v>
                </c:pt>
                <c:pt idx="33">
                  <c:v>80081</c:v>
                </c:pt>
                <c:pt idx="34">
                  <c:v>84381.2</c:v>
                </c:pt>
                <c:pt idx="35">
                  <c:v>90049</c:v>
                </c:pt>
                <c:pt idx="36">
                  <c:v>95278.6</c:v>
                </c:pt>
                <c:pt idx="37">
                  <c:v>98884.3</c:v>
                </c:pt>
                <c:pt idx="38">
                  <c:v>104595.4</c:v>
                </c:pt>
                <c:pt idx="39">
                  <c:v>108096.1</c:v>
                </c:pt>
                <c:pt idx="40">
                  <c:v>111596.8</c:v>
                </c:pt>
                <c:pt idx="41">
                  <c:v>115597.6</c:v>
                </c:pt>
                <c:pt idx="42">
                  <c:v>117097.8</c:v>
                </c:pt>
                <c:pt idx="43">
                  <c:v>122378.9</c:v>
                </c:pt>
                <c:pt idx="44">
                  <c:v>124879.4</c:v>
                </c:pt>
                <c:pt idx="45">
                  <c:v>128380.1</c:v>
                </c:pt>
                <c:pt idx="46">
                  <c:v>131880.20000000001</c:v>
                </c:pt>
                <c:pt idx="47">
                  <c:v>137610</c:v>
                </c:pt>
                <c:pt idx="48">
                  <c:v>138597.20000000001</c:v>
                </c:pt>
                <c:pt idx="49">
                  <c:v>141570</c:v>
                </c:pt>
                <c:pt idx="50">
                  <c:v>144070</c:v>
                </c:pt>
                <c:pt idx="51">
                  <c:v>144970</c:v>
                </c:pt>
                <c:pt idx="52">
                  <c:v>146470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D1-4DF4-B77F-4AEBE991DAF1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154kV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Sheet2!$A$2:$A$54</c:f>
              <c:strCache>
                <c:ptCount val="53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  <c:pt idx="20">
                  <c:v>1991</c:v>
                </c:pt>
                <c:pt idx="21">
                  <c:v>1992</c:v>
                </c:pt>
                <c:pt idx="22">
                  <c:v>1993</c:v>
                </c:pt>
                <c:pt idx="23">
                  <c:v>1994</c:v>
                </c:pt>
                <c:pt idx="24">
                  <c:v>1995</c:v>
                </c:pt>
                <c:pt idx="25">
                  <c:v>1996</c:v>
                </c:pt>
                <c:pt idx="26">
                  <c:v>1997</c:v>
                </c:pt>
                <c:pt idx="27">
                  <c:v>1998</c:v>
                </c:pt>
                <c:pt idx="28">
                  <c:v>1999</c:v>
                </c:pt>
                <c:pt idx="29">
                  <c:v>2000</c:v>
                </c:pt>
                <c:pt idx="30">
                  <c:v>2001</c:v>
                </c:pt>
                <c:pt idx="31">
                  <c:v>2002</c:v>
                </c:pt>
                <c:pt idx="32">
                  <c:v>2003</c:v>
                </c:pt>
                <c:pt idx="33">
                  <c:v>2004</c:v>
                </c:pt>
                <c:pt idx="34">
                  <c:v>2005</c:v>
                </c:pt>
                <c:pt idx="35">
                  <c:v>2006</c:v>
                </c:pt>
                <c:pt idx="36">
                  <c:v>2007</c:v>
                </c:pt>
                <c:pt idx="37">
                  <c:v>2008</c:v>
                </c:pt>
                <c:pt idx="38">
                  <c:v>2009</c:v>
                </c:pt>
                <c:pt idx="39">
                  <c:v>2010</c:v>
                </c:pt>
                <c:pt idx="40">
                  <c:v>2011</c:v>
                </c:pt>
                <c:pt idx="41">
                  <c:v>2012</c:v>
                </c:pt>
                <c:pt idx="42">
                  <c:v>2013</c:v>
                </c:pt>
                <c:pt idx="43">
                  <c:v>2014</c:v>
                </c:pt>
                <c:pt idx="44">
                  <c:v>2015</c:v>
                </c:pt>
                <c:pt idx="45">
                  <c:v>2016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</c:strCache>
            </c:strRef>
          </c:cat>
          <c:val>
            <c:numRef>
              <c:f>Sheet2!$D$2:$D$54</c:f>
              <c:numCache>
                <c:formatCode>#,##0</c:formatCode>
                <c:ptCount val="53"/>
                <c:pt idx="0">
                  <c:v>2540</c:v>
                </c:pt>
                <c:pt idx="1">
                  <c:v>2680</c:v>
                </c:pt>
                <c:pt idx="2">
                  <c:v>3273</c:v>
                </c:pt>
                <c:pt idx="3">
                  <c:v>3533</c:v>
                </c:pt>
                <c:pt idx="4">
                  <c:v>4013</c:v>
                </c:pt>
                <c:pt idx="5">
                  <c:v>4671</c:v>
                </c:pt>
                <c:pt idx="6">
                  <c:v>5618</c:v>
                </c:pt>
                <c:pt idx="7">
                  <c:v>6888</c:v>
                </c:pt>
                <c:pt idx="8">
                  <c:v>8532</c:v>
                </c:pt>
                <c:pt idx="9">
                  <c:v>9789</c:v>
                </c:pt>
                <c:pt idx="10">
                  <c:v>10967</c:v>
                </c:pt>
                <c:pt idx="11">
                  <c:v>11325</c:v>
                </c:pt>
                <c:pt idx="12">
                  <c:v>13119</c:v>
                </c:pt>
                <c:pt idx="13">
                  <c:v>15026</c:v>
                </c:pt>
                <c:pt idx="14">
                  <c:v>16451</c:v>
                </c:pt>
                <c:pt idx="15">
                  <c:v>18259</c:v>
                </c:pt>
                <c:pt idx="16">
                  <c:v>20395</c:v>
                </c:pt>
                <c:pt idx="17">
                  <c:v>22465</c:v>
                </c:pt>
                <c:pt idx="18">
                  <c:v>24713</c:v>
                </c:pt>
                <c:pt idx="19">
                  <c:v>27632</c:v>
                </c:pt>
                <c:pt idx="20">
                  <c:v>29767</c:v>
                </c:pt>
                <c:pt idx="21">
                  <c:v>32982</c:v>
                </c:pt>
                <c:pt idx="22">
                  <c:v>36834</c:v>
                </c:pt>
                <c:pt idx="23">
                  <c:v>41239</c:v>
                </c:pt>
                <c:pt idx="24">
                  <c:v>47059</c:v>
                </c:pt>
                <c:pt idx="25">
                  <c:v>52059</c:v>
                </c:pt>
                <c:pt idx="26">
                  <c:v>58706</c:v>
                </c:pt>
                <c:pt idx="27">
                  <c:v>63446</c:v>
                </c:pt>
                <c:pt idx="28">
                  <c:v>66929</c:v>
                </c:pt>
                <c:pt idx="29">
                  <c:v>70886</c:v>
                </c:pt>
                <c:pt idx="30">
                  <c:v>78119</c:v>
                </c:pt>
                <c:pt idx="31">
                  <c:v>83364</c:v>
                </c:pt>
                <c:pt idx="32">
                  <c:v>89228</c:v>
                </c:pt>
                <c:pt idx="33">
                  <c:v>93528</c:v>
                </c:pt>
                <c:pt idx="34">
                  <c:v>102168.2</c:v>
                </c:pt>
                <c:pt idx="35">
                  <c:v>104417</c:v>
                </c:pt>
                <c:pt idx="36">
                  <c:v>109268.2</c:v>
                </c:pt>
                <c:pt idx="37">
                  <c:v>114808</c:v>
                </c:pt>
                <c:pt idx="38">
                  <c:v>118643.2</c:v>
                </c:pt>
                <c:pt idx="39">
                  <c:v>120683.2</c:v>
                </c:pt>
                <c:pt idx="40">
                  <c:v>123226.4</c:v>
                </c:pt>
                <c:pt idx="41">
                  <c:v>126143.2</c:v>
                </c:pt>
                <c:pt idx="42">
                  <c:v>130931.2</c:v>
                </c:pt>
                <c:pt idx="43">
                  <c:v>133386.79999999999</c:v>
                </c:pt>
                <c:pt idx="44">
                  <c:v>135966.79999999999</c:v>
                </c:pt>
                <c:pt idx="45">
                  <c:v>138587.70000000001</c:v>
                </c:pt>
                <c:pt idx="46">
                  <c:v>141538.79999999999</c:v>
                </c:pt>
                <c:pt idx="47">
                  <c:v>139760.79999999999</c:v>
                </c:pt>
                <c:pt idx="48">
                  <c:v>149380.79999999999</c:v>
                </c:pt>
                <c:pt idx="49">
                  <c:v>153020</c:v>
                </c:pt>
                <c:pt idx="50">
                  <c:v>156000</c:v>
                </c:pt>
                <c:pt idx="51">
                  <c:v>158240</c:v>
                </c:pt>
                <c:pt idx="52">
                  <c:v>160480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D1-4DF4-B77F-4AEBE991DAF1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66kV</c:v>
                </c:pt>
              </c:strCache>
            </c:strRef>
          </c:tx>
          <c:spPr>
            <a:solidFill>
              <a:srgbClr val="BA3C2E"/>
            </a:solidFill>
            <a:ln>
              <a:noFill/>
            </a:ln>
            <a:effectLst/>
          </c:spPr>
          <c:invertIfNegative val="0"/>
          <c:cat>
            <c:strRef>
              <c:f>Sheet2!$A$2:$A$54</c:f>
              <c:strCache>
                <c:ptCount val="53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  <c:pt idx="20">
                  <c:v>1991</c:v>
                </c:pt>
                <c:pt idx="21">
                  <c:v>1992</c:v>
                </c:pt>
                <c:pt idx="22">
                  <c:v>1993</c:v>
                </c:pt>
                <c:pt idx="23">
                  <c:v>1994</c:v>
                </c:pt>
                <c:pt idx="24">
                  <c:v>1995</c:v>
                </c:pt>
                <c:pt idx="25">
                  <c:v>1996</c:v>
                </c:pt>
                <c:pt idx="26">
                  <c:v>1997</c:v>
                </c:pt>
                <c:pt idx="27">
                  <c:v>1998</c:v>
                </c:pt>
                <c:pt idx="28">
                  <c:v>1999</c:v>
                </c:pt>
                <c:pt idx="29">
                  <c:v>2000</c:v>
                </c:pt>
                <c:pt idx="30">
                  <c:v>2001</c:v>
                </c:pt>
                <c:pt idx="31">
                  <c:v>2002</c:v>
                </c:pt>
                <c:pt idx="32">
                  <c:v>2003</c:v>
                </c:pt>
                <c:pt idx="33">
                  <c:v>2004</c:v>
                </c:pt>
                <c:pt idx="34">
                  <c:v>2005</c:v>
                </c:pt>
                <c:pt idx="35">
                  <c:v>2006</c:v>
                </c:pt>
                <c:pt idx="36">
                  <c:v>2007</c:v>
                </c:pt>
                <c:pt idx="37">
                  <c:v>2008</c:v>
                </c:pt>
                <c:pt idx="38">
                  <c:v>2009</c:v>
                </c:pt>
                <c:pt idx="39">
                  <c:v>2010</c:v>
                </c:pt>
                <c:pt idx="40">
                  <c:v>2011</c:v>
                </c:pt>
                <c:pt idx="41">
                  <c:v>2012</c:v>
                </c:pt>
                <c:pt idx="42">
                  <c:v>2013</c:v>
                </c:pt>
                <c:pt idx="43">
                  <c:v>2014</c:v>
                </c:pt>
                <c:pt idx="44">
                  <c:v>2015</c:v>
                </c:pt>
                <c:pt idx="45">
                  <c:v>2016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</c:strCache>
            </c:strRef>
          </c:cat>
          <c:val>
            <c:numRef>
              <c:f>Sheet2!$E$2:$E$54</c:f>
              <c:numCache>
                <c:formatCode>#,##0</c:formatCode>
                <c:ptCount val="53"/>
                <c:pt idx="0">
                  <c:v>1266</c:v>
                </c:pt>
                <c:pt idx="1">
                  <c:v>1336</c:v>
                </c:pt>
                <c:pt idx="2">
                  <c:v>1435</c:v>
                </c:pt>
                <c:pt idx="3">
                  <c:v>1609</c:v>
                </c:pt>
                <c:pt idx="4">
                  <c:v>1852</c:v>
                </c:pt>
                <c:pt idx="5">
                  <c:v>2075</c:v>
                </c:pt>
                <c:pt idx="6">
                  <c:v>2101</c:v>
                </c:pt>
                <c:pt idx="7">
                  <c:v>2100</c:v>
                </c:pt>
                <c:pt idx="8">
                  <c:v>2178</c:v>
                </c:pt>
                <c:pt idx="9">
                  <c:v>2213</c:v>
                </c:pt>
                <c:pt idx="10">
                  <c:v>2209</c:v>
                </c:pt>
                <c:pt idx="11">
                  <c:v>2268</c:v>
                </c:pt>
                <c:pt idx="12">
                  <c:v>2309</c:v>
                </c:pt>
                <c:pt idx="13">
                  <c:v>2286</c:v>
                </c:pt>
                <c:pt idx="14">
                  <c:v>2373</c:v>
                </c:pt>
                <c:pt idx="15">
                  <c:v>2207</c:v>
                </c:pt>
                <c:pt idx="16">
                  <c:v>2270</c:v>
                </c:pt>
                <c:pt idx="17">
                  <c:v>2160</c:v>
                </c:pt>
                <c:pt idx="18">
                  <c:v>2201</c:v>
                </c:pt>
                <c:pt idx="19">
                  <c:v>2251</c:v>
                </c:pt>
                <c:pt idx="20">
                  <c:v>2235</c:v>
                </c:pt>
                <c:pt idx="21">
                  <c:v>2103</c:v>
                </c:pt>
                <c:pt idx="22">
                  <c:v>2019</c:v>
                </c:pt>
                <c:pt idx="23">
                  <c:v>2008</c:v>
                </c:pt>
                <c:pt idx="24">
                  <c:v>1939</c:v>
                </c:pt>
                <c:pt idx="25">
                  <c:v>1971</c:v>
                </c:pt>
                <c:pt idx="26">
                  <c:v>1813</c:v>
                </c:pt>
                <c:pt idx="27">
                  <c:v>1761</c:v>
                </c:pt>
                <c:pt idx="28">
                  <c:v>1529</c:v>
                </c:pt>
                <c:pt idx="29">
                  <c:v>1441</c:v>
                </c:pt>
                <c:pt idx="30">
                  <c:v>1225</c:v>
                </c:pt>
                <c:pt idx="31">
                  <c:v>1073</c:v>
                </c:pt>
                <c:pt idx="32">
                  <c:v>831</c:v>
                </c:pt>
                <c:pt idx="33">
                  <c:v>728</c:v>
                </c:pt>
                <c:pt idx="34">
                  <c:v>590</c:v>
                </c:pt>
                <c:pt idx="35">
                  <c:v>485</c:v>
                </c:pt>
                <c:pt idx="36">
                  <c:v>454</c:v>
                </c:pt>
                <c:pt idx="37">
                  <c:v>359</c:v>
                </c:pt>
                <c:pt idx="38">
                  <c:v>354</c:v>
                </c:pt>
                <c:pt idx="39">
                  <c:v>339</c:v>
                </c:pt>
                <c:pt idx="40">
                  <c:v>356</c:v>
                </c:pt>
                <c:pt idx="41">
                  <c:v>312</c:v>
                </c:pt>
                <c:pt idx="42">
                  <c:v>297</c:v>
                </c:pt>
                <c:pt idx="43">
                  <c:v>297</c:v>
                </c:pt>
                <c:pt idx="44">
                  <c:v>267</c:v>
                </c:pt>
                <c:pt idx="45">
                  <c:v>240</c:v>
                </c:pt>
                <c:pt idx="46">
                  <c:v>240</c:v>
                </c:pt>
                <c:pt idx="47">
                  <c:v>80</c:v>
                </c:pt>
                <c:pt idx="48">
                  <c:v>140</c:v>
                </c:pt>
                <c:pt idx="49">
                  <c:v>120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D1-4DF4-B77F-4AEBE991DAF1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22kV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Sheet2!$A$2:$A$54</c:f>
              <c:strCache>
                <c:ptCount val="53"/>
                <c:pt idx="0">
                  <c:v>1971</c:v>
                </c:pt>
                <c:pt idx="1">
                  <c:v>1972</c:v>
                </c:pt>
                <c:pt idx="2">
                  <c:v>1973</c:v>
                </c:pt>
                <c:pt idx="3">
                  <c:v>1974</c:v>
                </c:pt>
                <c:pt idx="4">
                  <c:v>1975</c:v>
                </c:pt>
                <c:pt idx="5">
                  <c:v>1976</c:v>
                </c:pt>
                <c:pt idx="6">
                  <c:v>1977</c:v>
                </c:pt>
                <c:pt idx="7">
                  <c:v>1978</c:v>
                </c:pt>
                <c:pt idx="8">
                  <c:v>1979</c:v>
                </c:pt>
                <c:pt idx="9">
                  <c:v>1980</c:v>
                </c:pt>
                <c:pt idx="10">
                  <c:v>1981</c:v>
                </c:pt>
                <c:pt idx="11">
                  <c:v>1982</c:v>
                </c:pt>
                <c:pt idx="12">
                  <c:v>1983</c:v>
                </c:pt>
                <c:pt idx="13">
                  <c:v>1984</c:v>
                </c:pt>
                <c:pt idx="14">
                  <c:v>1985</c:v>
                </c:pt>
                <c:pt idx="15">
                  <c:v>1986</c:v>
                </c:pt>
                <c:pt idx="16">
                  <c:v>1987</c:v>
                </c:pt>
                <c:pt idx="17">
                  <c:v>1988</c:v>
                </c:pt>
                <c:pt idx="18">
                  <c:v>1989</c:v>
                </c:pt>
                <c:pt idx="19">
                  <c:v>1990</c:v>
                </c:pt>
                <c:pt idx="20">
                  <c:v>1991</c:v>
                </c:pt>
                <c:pt idx="21">
                  <c:v>1992</c:v>
                </c:pt>
                <c:pt idx="22">
                  <c:v>1993</c:v>
                </c:pt>
                <c:pt idx="23">
                  <c:v>1994</c:v>
                </c:pt>
                <c:pt idx="24">
                  <c:v>1995</c:v>
                </c:pt>
                <c:pt idx="25">
                  <c:v>1996</c:v>
                </c:pt>
                <c:pt idx="26">
                  <c:v>1997</c:v>
                </c:pt>
                <c:pt idx="27">
                  <c:v>1998</c:v>
                </c:pt>
                <c:pt idx="28">
                  <c:v>1999</c:v>
                </c:pt>
                <c:pt idx="29">
                  <c:v>2000</c:v>
                </c:pt>
                <c:pt idx="30">
                  <c:v>2001</c:v>
                </c:pt>
                <c:pt idx="31">
                  <c:v>2002</c:v>
                </c:pt>
                <c:pt idx="32">
                  <c:v>2003</c:v>
                </c:pt>
                <c:pt idx="33">
                  <c:v>2004</c:v>
                </c:pt>
                <c:pt idx="34">
                  <c:v>2005</c:v>
                </c:pt>
                <c:pt idx="35">
                  <c:v>2006</c:v>
                </c:pt>
                <c:pt idx="36">
                  <c:v>2007</c:v>
                </c:pt>
                <c:pt idx="37">
                  <c:v>2008</c:v>
                </c:pt>
                <c:pt idx="38">
                  <c:v>2009</c:v>
                </c:pt>
                <c:pt idx="39">
                  <c:v>2010</c:v>
                </c:pt>
                <c:pt idx="40">
                  <c:v>2011</c:v>
                </c:pt>
                <c:pt idx="41">
                  <c:v>2012</c:v>
                </c:pt>
                <c:pt idx="42">
                  <c:v>2013</c:v>
                </c:pt>
                <c:pt idx="43">
                  <c:v>2014</c:v>
                </c:pt>
                <c:pt idx="44">
                  <c:v>2015</c:v>
                </c:pt>
                <c:pt idx="45">
                  <c:v>2016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</c:strCache>
            </c:strRef>
          </c:cat>
          <c:val>
            <c:numRef>
              <c:f>Sheet2!$F$2:$F$54</c:f>
              <c:numCache>
                <c:formatCode>#,##0</c:formatCode>
                <c:ptCount val="53"/>
                <c:pt idx="0">
                  <c:v>604</c:v>
                </c:pt>
                <c:pt idx="1">
                  <c:v>675</c:v>
                </c:pt>
                <c:pt idx="2">
                  <c:v>755</c:v>
                </c:pt>
                <c:pt idx="3">
                  <c:v>855</c:v>
                </c:pt>
                <c:pt idx="4">
                  <c:v>889</c:v>
                </c:pt>
                <c:pt idx="5">
                  <c:v>882</c:v>
                </c:pt>
                <c:pt idx="6">
                  <c:v>876</c:v>
                </c:pt>
                <c:pt idx="7">
                  <c:v>804</c:v>
                </c:pt>
                <c:pt idx="8">
                  <c:v>753</c:v>
                </c:pt>
                <c:pt idx="9">
                  <c:v>773</c:v>
                </c:pt>
                <c:pt idx="10">
                  <c:v>755</c:v>
                </c:pt>
                <c:pt idx="11">
                  <c:v>717</c:v>
                </c:pt>
                <c:pt idx="12">
                  <c:v>701</c:v>
                </c:pt>
                <c:pt idx="13">
                  <c:v>637</c:v>
                </c:pt>
                <c:pt idx="14">
                  <c:v>586</c:v>
                </c:pt>
                <c:pt idx="15">
                  <c:v>527</c:v>
                </c:pt>
                <c:pt idx="16">
                  <c:v>596</c:v>
                </c:pt>
                <c:pt idx="17">
                  <c:v>596</c:v>
                </c:pt>
                <c:pt idx="18">
                  <c:v>572</c:v>
                </c:pt>
                <c:pt idx="19">
                  <c:v>631</c:v>
                </c:pt>
                <c:pt idx="20">
                  <c:v>589</c:v>
                </c:pt>
                <c:pt idx="21">
                  <c:v>508</c:v>
                </c:pt>
                <c:pt idx="22">
                  <c:v>478</c:v>
                </c:pt>
                <c:pt idx="23">
                  <c:v>469</c:v>
                </c:pt>
                <c:pt idx="24">
                  <c:v>456</c:v>
                </c:pt>
                <c:pt idx="25">
                  <c:v>456</c:v>
                </c:pt>
                <c:pt idx="26">
                  <c:v>308</c:v>
                </c:pt>
                <c:pt idx="27">
                  <c:v>275</c:v>
                </c:pt>
                <c:pt idx="28">
                  <c:v>290</c:v>
                </c:pt>
                <c:pt idx="29">
                  <c:v>258</c:v>
                </c:pt>
                <c:pt idx="30">
                  <c:v>248</c:v>
                </c:pt>
                <c:pt idx="31">
                  <c:v>213</c:v>
                </c:pt>
                <c:pt idx="32">
                  <c:v>237</c:v>
                </c:pt>
                <c:pt idx="33">
                  <c:v>252</c:v>
                </c:pt>
                <c:pt idx="34">
                  <c:v>254.2</c:v>
                </c:pt>
                <c:pt idx="35">
                  <c:v>212</c:v>
                </c:pt>
                <c:pt idx="36">
                  <c:v>134.19999999999999</c:v>
                </c:pt>
                <c:pt idx="37">
                  <c:v>134.19999999999999</c:v>
                </c:pt>
                <c:pt idx="38">
                  <c:v>79.2</c:v>
                </c:pt>
                <c:pt idx="39">
                  <c:v>84.2</c:v>
                </c:pt>
                <c:pt idx="40">
                  <c:v>78.2</c:v>
                </c:pt>
                <c:pt idx="41">
                  <c:v>78.2</c:v>
                </c:pt>
                <c:pt idx="42">
                  <c:v>78.2</c:v>
                </c:pt>
                <c:pt idx="43">
                  <c:v>64</c:v>
                </c:pt>
                <c:pt idx="44">
                  <c:v>64</c:v>
                </c:pt>
                <c:pt idx="45">
                  <c:v>94</c:v>
                </c:pt>
                <c:pt idx="46">
                  <c:v>94</c:v>
                </c:pt>
                <c:pt idx="47">
                  <c:v>94</c:v>
                </c:pt>
                <c:pt idx="48">
                  <c:v>94</c:v>
                </c:pt>
                <c:pt idx="49">
                  <c:v>106</c:v>
                </c:pt>
                <c:pt idx="50">
                  <c:v>106</c:v>
                </c:pt>
                <c:pt idx="51">
                  <c:v>106</c:v>
                </c:pt>
                <c:pt idx="52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D1-4DF4-B77F-4AEBE991D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9206815"/>
        <c:axId val="1341325583"/>
      </c:barChart>
      <c:catAx>
        <c:axId val="13392068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41325583"/>
        <c:crosses val="autoZero"/>
        <c:auto val="1"/>
        <c:lblAlgn val="ctr"/>
        <c:lblOffset val="100"/>
        <c:noMultiLvlLbl val="0"/>
      </c:catAx>
      <c:valAx>
        <c:axId val="1341325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1339206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579466382149929"/>
          <c:y val="0.87330504681747423"/>
          <c:w val="0.60161790965848683"/>
          <c:h val="9.48224298909056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47038820016558"/>
          <c:y val="8.85667715478137E-2"/>
          <c:w val="0.80362145764933723"/>
          <c:h val="0.6308350572260532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765kV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numRef>
              <c:f>Sheet5!$A$2:$A$45</c:f>
              <c:numCache>
                <c:formatCode>General</c:formatCode>
                <c:ptCount val="44"/>
                <c:pt idx="0">
                  <c:v>1975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  <c:pt idx="38">
                  <c:v>2020</c:v>
                </c:pt>
                <c:pt idx="39">
                  <c:v>2021</c:v>
                </c:pt>
                <c:pt idx="40">
                  <c:v>2022</c:v>
                </c:pt>
                <c:pt idx="41">
                  <c:v>2023</c:v>
                </c:pt>
                <c:pt idx="42">
                  <c:v>2024</c:v>
                </c:pt>
                <c:pt idx="43">
                  <c:v>2025</c:v>
                </c:pt>
              </c:numCache>
            </c:numRef>
          </c:cat>
          <c:val>
            <c:numRef>
              <c:f>Sheet5!$B$2:$B$45</c:f>
              <c:numCache>
                <c:formatCode>General</c:formatCode>
                <c:ptCount val="44"/>
                <c:pt idx="19">
                  <c:v>1</c:v>
                </c:pt>
                <c:pt idx="20">
                  <c:v>5</c:v>
                </c:pt>
                <c:pt idx="21">
                  <c:v>5</c:v>
                </c:pt>
                <c:pt idx="22">
                  <c:v>11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13</c:v>
                </c:pt>
                <c:pt idx="28">
                  <c:v>14</c:v>
                </c:pt>
                <c:pt idx="29">
                  <c:v>15</c:v>
                </c:pt>
                <c:pt idx="30">
                  <c:v>15</c:v>
                </c:pt>
                <c:pt idx="31">
                  <c:v>16</c:v>
                </c:pt>
                <c:pt idx="32">
                  <c:v>15</c:v>
                </c:pt>
                <c:pt idx="33">
                  <c:v>19</c:v>
                </c:pt>
                <c:pt idx="34">
                  <c:v>20</c:v>
                </c:pt>
                <c:pt idx="35">
                  <c:v>20</c:v>
                </c:pt>
                <c:pt idx="36">
                  <c:v>22</c:v>
                </c:pt>
                <c:pt idx="37">
                  <c:v>20</c:v>
                </c:pt>
                <c:pt idx="38">
                  <c:v>22</c:v>
                </c:pt>
                <c:pt idx="39">
                  <c:v>23</c:v>
                </c:pt>
                <c:pt idx="40">
                  <c:v>23</c:v>
                </c:pt>
                <c:pt idx="4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3-410A-847E-CA8CC728F465}"/>
            </c:ext>
          </c:extLst>
        </c:ser>
        <c:ser>
          <c:idx val="1"/>
          <c:order val="1"/>
          <c:tx>
            <c:strRef>
              <c:f>Sheet5!$C$1</c:f>
              <c:strCache>
                <c:ptCount val="1"/>
                <c:pt idx="0">
                  <c:v>345kV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Sheet5!$A$2:$A$45</c:f>
              <c:numCache>
                <c:formatCode>General</c:formatCode>
                <c:ptCount val="44"/>
                <c:pt idx="0">
                  <c:v>1975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  <c:pt idx="38">
                  <c:v>2020</c:v>
                </c:pt>
                <c:pt idx="39">
                  <c:v>2021</c:v>
                </c:pt>
                <c:pt idx="40">
                  <c:v>2022</c:v>
                </c:pt>
                <c:pt idx="41">
                  <c:v>2023</c:v>
                </c:pt>
                <c:pt idx="42">
                  <c:v>2024</c:v>
                </c:pt>
                <c:pt idx="43">
                  <c:v>2025</c:v>
                </c:pt>
              </c:numCache>
            </c:numRef>
          </c:cat>
          <c:val>
            <c:numRef>
              <c:f>Sheet5!$C$2:$C$45</c:f>
              <c:numCache>
                <c:formatCode>General</c:formatCode>
                <c:ptCount val="44"/>
                <c:pt idx="3">
                  <c:v>1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4</c:v>
                </c:pt>
                <c:pt idx="9">
                  <c:v>13</c:v>
                </c:pt>
                <c:pt idx="10">
                  <c:v>13</c:v>
                </c:pt>
                <c:pt idx="11">
                  <c:v>11</c:v>
                </c:pt>
                <c:pt idx="12">
                  <c:v>14</c:v>
                </c:pt>
                <c:pt idx="13">
                  <c:v>33</c:v>
                </c:pt>
                <c:pt idx="14">
                  <c:v>25</c:v>
                </c:pt>
                <c:pt idx="15">
                  <c:v>49</c:v>
                </c:pt>
                <c:pt idx="16">
                  <c:v>12</c:v>
                </c:pt>
                <c:pt idx="17">
                  <c:v>19</c:v>
                </c:pt>
                <c:pt idx="18">
                  <c:v>14</c:v>
                </c:pt>
                <c:pt idx="19">
                  <c:v>30</c:v>
                </c:pt>
                <c:pt idx="20">
                  <c:v>45</c:v>
                </c:pt>
                <c:pt idx="21">
                  <c:v>50</c:v>
                </c:pt>
                <c:pt idx="22">
                  <c:v>25</c:v>
                </c:pt>
                <c:pt idx="23">
                  <c:v>27</c:v>
                </c:pt>
                <c:pt idx="24">
                  <c:v>28</c:v>
                </c:pt>
                <c:pt idx="25">
                  <c:v>20</c:v>
                </c:pt>
                <c:pt idx="26">
                  <c:v>24</c:v>
                </c:pt>
                <c:pt idx="27">
                  <c:v>30</c:v>
                </c:pt>
                <c:pt idx="28">
                  <c:v>42</c:v>
                </c:pt>
                <c:pt idx="29">
                  <c:v>10</c:v>
                </c:pt>
                <c:pt idx="30">
                  <c:v>36</c:v>
                </c:pt>
                <c:pt idx="31">
                  <c:v>9</c:v>
                </c:pt>
                <c:pt idx="32">
                  <c:v>36</c:v>
                </c:pt>
                <c:pt idx="33">
                  <c:v>44</c:v>
                </c:pt>
                <c:pt idx="34">
                  <c:v>24</c:v>
                </c:pt>
                <c:pt idx="35">
                  <c:v>29</c:v>
                </c:pt>
                <c:pt idx="36">
                  <c:v>30</c:v>
                </c:pt>
                <c:pt idx="37">
                  <c:v>27</c:v>
                </c:pt>
                <c:pt idx="38">
                  <c:v>12</c:v>
                </c:pt>
                <c:pt idx="39">
                  <c:v>52</c:v>
                </c:pt>
                <c:pt idx="40">
                  <c:v>10</c:v>
                </c:pt>
                <c:pt idx="41">
                  <c:v>28</c:v>
                </c:pt>
                <c:pt idx="4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F3-410A-847E-CA8CC728F465}"/>
            </c:ext>
          </c:extLst>
        </c:ser>
        <c:ser>
          <c:idx val="2"/>
          <c:order val="2"/>
          <c:tx>
            <c:strRef>
              <c:f>Sheet5!$D$1</c:f>
              <c:strCache>
                <c:ptCount val="1"/>
                <c:pt idx="0">
                  <c:v>154kV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Sheet5!$A$2:$A$45</c:f>
              <c:numCache>
                <c:formatCode>General</c:formatCode>
                <c:ptCount val="44"/>
                <c:pt idx="0">
                  <c:v>1975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  <c:pt idx="38">
                  <c:v>2020</c:v>
                </c:pt>
                <c:pt idx="39">
                  <c:v>2021</c:v>
                </c:pt>
                <c:pt idx="40">
                  <c:v>2022</c:v>
                </c:pt>
                <c:pt idx="41">
                  <c:v>2023</c:v>
                </c:pt>
                <c:pt idx="42">
                  <c:v>2024</c:v>
                </c:pt>
                <c:pt idx="43">
                  <c:v>2025</c:v>
                </c:pt>
              </c:numCache>
            </c:numRef>
          </c:cat>
          <c:val>
            <c:numRef>
              <c:f>Sheet5!$D$2:$D$45</c:f>
              <c:numCache>
                <c:formatCode>General</c:formatCode>
                <c:ptCount val="4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4">
                  <c:v>2</c:v>
                </c:pt>
                <c:pt idx="5">
                  <c:v>9</c:v>
                </c:pt>
                <c:pt idx="6">
                  <c:v>7</c:v>
                </c:pt>
                <c:pt idx="7">
                  <c:v>19</c:v>
                </c:pt>
                <c:pt idx="8">
                  <c:v>30</c:v>
                </c:pt>
                <c:pt idx="9">
                  <c:v>30</c:v>
                </c:pt>
                <c:pt idx="10">
                  <c:v>46</c:v>
                </c:pt>
                <c:pt idx="11">
                  <c:v>74</c:v>
                </c:pt>
                <c:pt idx="12">
                  <c:v>56</c:v>
                </c:pt>
                <c:pt idx="13">
                  <c:v>194</c:v>
                </c:pt>
                <c:pt idx="14">
                  <c:v>235</c:v>
                </c:pt>
                <c:pt idx="15">
                  <c:v>397</c:v>
                </c:pt>
                <c:pt idx="16">
                  <c:v>221</c:v>
                </c:pt>
                <c:pt idx="17">
                  <c:v>217</c:v>
                </c:pt>
                <c:pt idx="18">
                  <c:v>224</c:v>
                </c:pt>
                <c:pt idx="19">
                  <c:v>314</c:v>
                </c:pt>
                <c:pt idx="20">
                  <c:v>305</c:v>
                </c:pt>
                <c:pt idx="21">
                  <c:v>352</c:v>
                </c:pt>
                <c:pt idx="22">
                  <c:v>237</c:v>
                </c:pt>
                <c:pt idx="23">
                  <c:v>326</c:v>
                </c:pt>
                <c:pt idx="24">
                  <c:v>261</c:v>
                </c:pt>
                <c:pt idx="25">
                  <c:v>242</c:v>
                </c:pt>
                <c:pt idx="26">
                  <c:v>269</c:v>
                </c:pt>
                <c:pt idx="27">
                  <c:v>208</c:v>
                </c:pt>
                <c:pt idx="28">
                  <c:v>108</c:v>
                </c:pt>
                <c:pt idx="29">
                  <c:v>179</c:v>
                </c:pt>
                <c:pt idx="30">
                  <c:v>129</c:v>
                </c:pt>
                <c:pt idx="31">
                  <c:v>176</c:v>
                </c:pt>
                <c:pt idx="32">
                  <c:v>196</c:v>
                </c:pt>
                <c:pt idx="33">
                  <c:v>195</c:v>
                </c:pt>
                <c:pt idx="34">
                  <c:v>117</c:v>
                </c:pt>
                <c:pt idx="35">
                  <c:v>228</c:v>
                </c:pt>
                <c:pt idx="36">
                  <c:v>296</c:v>
                </c:pt>
                <c:pt idx="37">
                  <c:v>192</c:v>
                </c:pt>
                <c:pt idx="38">
                  <c:v>226</c:v>
                </c:pt>
                <c:pt idx="39">
                  <c:v>142</c:v>
                </c:pt>
                <c:pt idx="40">
                  <c:v>218</c:v>
                </c:pt>
                <c:pt idx="41">
                  <c:v>181</c:v>
                </c:pt>
                <c:pt idx="42">
                  <c:v>152</c:v>
                </c:pt>
                <c:pt idx="4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F3-410A-847E-CA8CC728F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95904975"/>
        <c:axId val="1796365247"/>
      </c:barChart>
      <c:catAx>
        <c:axId val="119590497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6365247"/>
        <c:crosses val="autoZero"/>
        <c:auto val="1"/>
        <c:lblAlgn val="ctr"/>
        <c:lblOffset val="100"/>
        <c:noMultiLvlLbl val="0"/>
      </c:catAx>
      <c:valAx>
        <c:axId val="179636524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1195904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964516417651605"/>
          <c:y val="0.79696461631465598"/>
          <c:w val="0.37755228074242897"/>
          <c:h val="0.107066819057694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EB162-DC71-4A50-B91A-59DBBEA672C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233488"/>
            <a:ext cx="5326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67BD-8FDB-45B0-BB86-1ED3BAB845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7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81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번째로 전력설비 용량 증가와 노후화 입니다</a:t>
            </a:r>
            <a:r>
              <a:rPr lang="en-US" altLang="ko-KR" dirty="0"/>
              <a:t>. </a:t>
            </a:r>
            <a:r>
              <a:rPr lang="ko-KR" altLang="en-US" dirty="0"/>
              <a:t>전력설비는 </a:t>
            </a:r>
            <a:r>
              <a:rPr lang="en-US" altLang="ko-KR" dirty="0"/>
              <a:t>1980</a:t>
            </a:r>
            <a:r>
              <a:rPr lang="ko-KR" altLang="en-US" dirty="0"/>
              <a:t>년대 산업화와 경제성장 과정에서 대규모로 설치되었으며 이후에도 전력설비 용량은 지속적으로 증가하고 있습니다</a:t>
            </a:r>
            <a:r>
              <a:rPr lang="en-US" altLang="ko-KR" dirty="0"/>
              <a:t>. </a:t>
            </a:r>
            <a:r>
              <a:rPr lang="ko-KR" altLang="en-US" dirty="0"/>
              <a:t>이렇게 지난 수십년간 설치된 전력설비들은 점차 노후화 되어 교체주기가 도래하고 있으며 수년 내에 교체 대상물량이 급증할 것으로 예상되고 있습니다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422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또한</a:t>
            </a:r>
            <a:r>
              <a:rPr lang="en-US" altLang="ko-KR" dirty="0"/>
              <a:t>, IEA </a:t>
            </a:r>
            <a:r>
              <a:rPr lang="ko-KR" altLang="en-US" dirty="0"/>
              <a:t>세계 에너지 전망에 따르면 </a:t>
            </a:r>
            <a:r>
              <a:rPr lang="en-US" altLang="ko-KR" dirty="0"/>
              <a:t>2050</a:t>
            </a:r>
            <a:r>
              <a:rPr lang="ko-KR" altLang="en-US" dirty="0"/>
              <a:t>년 세계 전력수요가 현재 대비 최대 </a:t>
            </a:r>
            <a:r>
              <a:rPr lang="en-US" altLang="ko-KR" dirty="0"/>
              <a:t>150% </a:t>
            </a:r>
            <a:r>
              <a:rPr lang="ko-KR" altLang="en-US" dirty="0"/>
              <a:t>증가할 것이며</a:t>
            </a:r>
            <a:r>
              <a:rPr lang="en-US" altLang="ko-KR" dirty="0"/>
              <a:t>, </a:t>
            </a:r>
            <a:r>
              <a:rPr lang="ko-KR" altLang="en-US" dirty="0"/>
              <a:t>국내도 마찬가지로 </a:t>
            </a:r>
            <a:r>
              <a:rPr lang="en-US" altLang="ko-KR" dirty="0"/>
              <a:t>2038</a:t>
            </a:r>
            <a:r>
              <a:rPr lang="ko-KR" altLang="en-US" dirty="0"/>
              <a:t>년까지 </a:t>
            </a:r>
            <a:r>
              <a:rPr lang="en-US" altLang="ko-KR" dirty="0"/>
              <a:t>31GW</a:t>
            </a:r>
            <a:r>
              <a:rPr lang="ko-KR" altLang="en-US" dirty="0"/>
              <a:t>가 증가할 것으로 예측하고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02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이에 발맞춰 </a:t>
            </a:r>
            <a:r>
              <a:rPr lang="en-US" altLang="ko-KR" dirty="0"/>
              <a:t>IEA</a:t>
            </a:r>
            <a:r>
              <a:rPr lang="ko-KR" altLang="en-US" dirty="0"/>
              <a:t>는 </a:t>
            </a:r>
            <a:r>
              <a:rPr lang="ko-KR" altLang="en-US" dirty="0" err="1"/>
              <a:t>전력망</a:t>
            </a:r>
            <a:r>
              <a:rPr lang="ko-KR" altLang="en-US" dirty="0"/>
              <a:t> 투자가 </a:t>
            </a:r>
            <a:r>
              <a:rPr lang="en-US" altLang="ko-KR" dirty="0"/>
              <a:t>2030</a:t>
            </a:r>
            <a:r>
              <a:rPr lang="ko-KR" altLang="en-US" dirty="0"/>
              <a:t>년에는 기존 대비 </a:t>
            </a:r>
            <a:r>
              <a:rPr lang="en-US" altLang="ko-KR" dirty="0"/>
              <a:t>2</a:t>
            </a:r>
            <a:r>
              <a:rPr lang="ko-KR" altLang="en-US" dirty="0"/>
              <a:t>배 이상 증가할 것으로 예상하고 있으며 국내도 마찬가지로 송전선로를 </a:t>
            </a:r>
            <a:r>
              <a:rPr lang="en-US" altLang="ko-KR" dirty="0"/>
              <a:t>2</a:t>
            </a:r>
            <a:r>
              <a:rPr lang="ko-KR" altLang="en-US" dirty="0"/>
              <a:t>배 이상으로 확충하는 것을 목표로 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97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노후화 대응과 전력수요 증가</a:t>
            </a:r>
            <a:r>
              <a:rPr lang="en-US" altLang="ko-KR" dirty="0"/>
              <a:t>, </a:t>
            </a:r>
            <a:r>
              <a:rPr lang="ko-KR" altLang="en-US" dirty="0" err="1"/>
              <a:t>전력망</a:t>
            </a:r>
            <a:r>
              <a:rPr lang="ko-KR" altLang="en-US" dirty="0"/>
              <a:t> 투자 확대가 동시에 요구되면서 투자재원 확보는 점차 어려워지고 있으며</a:t>
            </a:r>
            <a:r>
              <a:rPr lang="en-US" altLang="ko-KR" dirty="0"/>
              <a:t>, </a:t>
            </a:r>
            <a:r>
              <a:rPr lang="ko-KR" altLang="en-US" dirty="0"/>
              <a:t>이에 따라 </a:t>
            </a:r>
            <a:r>
              <a:rPr lang="ko-KR" altLang="en-US" dirty="0" err="1"/>
              <a:t>비용효율적인</a:t>
            </a:r>
            <a:r>
              <a:rPr lang="ko-KR" altLang="en-US" dirty="0"/>
              <a:t> 자산관리 시스템 도입이 요구되고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57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17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자산관리 시스템은 산업설비</a:t>
            </a:r>
            <a:r>
              <a:rPr lang="en-US" altLang="ko-KR" dirty="0"/>
              <a:t>, </a:t>
            </a:r>
            <a:r>
              <a:rPr lang="ko-KR" altLang="en-US" dirty="0"/>
              <a:t>사회인프라 시설의 노후화로 인한 급격한 유지관리 비용 상승에 따라 예산 부족을 경험하면서 설비 투자의 적정성을 판단할 수 있는 자산관리 개념이 등장하였으며</a:t>
            </a:r>
            <a:r>
              <a:rPr lang="en-US" altLang="ko-KR" dirty="0"/>
              <a:t>, </a:t>
            </a:r>
            <a:r>
              <a:rPr lang="ko-KR" altLang="en-US" dirty="0"/>
              <a:t>영국의 </a:t>
            </a:r>
            <a:r>
              <a:rPr lang="en-US" altLang="ko-KR" dirty="0"/>
              <a:t>PAS 55</a:t>
            </a:r>
            <a:r>
              <a:rPr lang="ko-KR" altLang="en-US" dirty="0"/>
              <a:t>를 시작으로 </a:t>
            </a:r>
            <a:r>
              <a:rPr lang="en-US" altLang="ko-KR" dirty="0"/>
              <a:t>ISO 55000</a:t>
            </a:r>
            <a:r>
              <a:rPr lang="ko-KR" altLang="en-US" dirty="0"/>
              <a:t> 국제 표준으로 확대되었습니다</a:t>
            </a:r>
            <a:r>
              <a:rPr lang="en-US" altLang="ko-KR" dirty="0"/>
              <a:t>. ISO55000</a:t>
            </a:r>
            <a:r>
              <a:rPr lang="ko-KR" altLang="en-US" dirty="0"/>
              <a:t>에서는 자사관리를 자산으로부터 더 많은 가치를 창출하기 위하여 재무</a:t>
            </a:r>
            <a:r>
              <a:rPr lang="en-US" altLang="ko-KR" dirty="0"/>
              <a:t>, </a:t>
            </a:r>
            <a:r>
              <a:rPr lang="ko-KR" altLang="en-US" dirty="0"/>
              <a:t>운영</a:t>
            </a:r>
            <a:r>
              <a:rPr lang="en-US" altLang="ko-KR" dirty="0"/>
              <a:t>, </a:t>
            </a:r>
            <a:r>
              <a:rPr lang="ko-KR" altLang="en-US" dirty="0"/>
              <a:t>성능 및 기타 자산관리 </a:t>
            </a:r>
            <a:r>
              <a:rPr lang="ko-KR" altLang="en-US" dirty="0" err="1"/>
              <a:t>활동을을</a:t>
            </a:r>
            <a:r>
              <a:rPr lang="ko-KR" altLang="en-US" dirty="0"/>
              <a:t> 편성</a:t>
            </a:r>
            <a:r>
              <a:rPr lang="en-US" altLang="ko-KR" dirty="0"/>
              <a:t>, </a:t>
            </a:r>
            <a:r>
              <a:rPr lang="ko-KR" altLang="en-US" dirty="0"/>
              <a:t>관리하는 것으로 정의하고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44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자산관리 기술은 사후 유지보수부터 주기적으로 교체하는 </a:t>
            </a:r>
            <a:r>
              <a:rPr lang="en-US" altLang="ko-KR" dirty="0"/>
              <a:t>TBM, </a:t>
            </a:r>
            <a:r>
              <a:rPr lang="ko-KR" altLang="en-US" dirty="0"/>
              <a:t>상태를 평가하여 교체하는 </a:t>
            </a:r>
            <a:r>
              <a:rPr lang="en-US" altLang="ko-KR" dirty="0"/>
              <a:t>CBM</a:t>
            </a:r>
            <a:r>
              <a:rPr lang="ko-KR" altLang="en-US" dirty="0"/>
              <a:t>을 지나 현재는 리스크와 경제성 기반의 자산관리 기술로 발전하였습니다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53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자산관리 시스템은 현재 북미</a:t>
            </a:r>
            <a:r>
              <a:rPr lang="en-US" altLang="ko-KR" dirty="0"/>
              <a:t>, </a:t>
            </a:r>
            <a:r>
              <a:rPr lang="ko-KR" altLang="en-US" dirty="0"/>
              <a:t>유럽 전력회사를 중심으로 실제 도입되고 있으며 전세계로 확대되고 있는 추세입니다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561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일반적으로 자산관리 시스템은 성능평가의 </a:t>
            </a:r>
            <a:r>
              <a:rPr lang="en-US" altLang="ko-KR" dirty="0"/>
              <a:t>APM</a:t>
            </a:r>
            <a:r>
              <a:rPr lang="ko-KR" altLang="en-US" dirty="0"/>
              <a:t>과 최적 투자계획을 수립하는 </a:t>
            </a:r>
            <a:r>
              <a:rPr lang="en-US" altLang="ko-KR" dirty="0"/>
              <a:t>AIP</a:t>
            </a:r>
            <a:r>
              <a:rPr lang="ko-KR" altLang="en-US" dirty="0"/>
              <a:t>로 나눌 수 있습니다</a:t>
            </a:r>
            <a:r>
              <a:rPr lang="en-US" altLang="ko-KR" dirty="0"/>
              <a:t>. </a:t>
            </a:r>
            <a:r>
              <a:rPr lang="ko-KR" altLang="en-US" dirty="0"/>
              <a:t>성능평가를 통해 높은 리스크를 가지는 설비를 식별하여 경제성 분석을 통해 최적 투자계획을 수립하는 프로세스입니다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352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기존 시스템은 리스크 중심 우선순위</a:t>
            </a:r>
            <a:r>
              <a:rPr lang="en-US" altLang="ko-KR" dirty="0"/>
              <a:t>, </a:t>
            </a:r>
            <a:r>
              <a:rPr lang="ko-KR" altLang="en-US" dirty="0"/>
              <a:t>경제성 단일 기준</a:t>
            </a:r>
            <a:r>
              <a:rPr lang="en-US" altLang="ko-KR" dirty="0"/>
              <a:t>, </a:t>
            </a:r>
            <a:r>
              <a:rPr lang="ko-KR" altLang="en-US" dirty="0"/>
              <a:t>계획의 유연함 부족이라는 한계가 있습니다</a:t>
            </a:r>
            <a:r>
              <a:rPr lang="en-US" altLang="ko-KR" dirty="0"/>
              <a:t>. </a:t>
            </a:r>
            <a:r>
              <a:rPr lang="ko-KR" altLang="en-US" dirty="0"/>
              <a:t>따라서 본 연구에서는 이를 보완하기 위해 </a:t>
            </a:r>
            <a:r>
              <a:rPr lang="en-US" altLang="ko-KR" dirty="0"/>
              <a:t>Fuzzy-AHP </a:t>
            </a:r>
            <a:r>
              <a:rPr lang="ko-KR" altLang="en-US" dirty="0"/>
              <a:t>기반 </a:t>
            </a:r>
            <a:r>
              <a:rPr lang="ko-KR" altLang="en-US" dirty="0" err="1"/>
              <a:t>다기준</a:t>
            </a:r>
            <a:r>
              <a:rPr lang="ko-KR" altLang="en-US" dirty="0"/>
              <a:t> 자산 투자 최적화 프레임워크를 제안하고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288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50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83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923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281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619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0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064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8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791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456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426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281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755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281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922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340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316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75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68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7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0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45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7375B62-FEAC-4841-9BCA-1DE5D9D9E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/>
          <a:stretch/>
        </p:blipFill>
        <p:spPr>
          <a:xfrm flipH="1">
            <a:off x="716132" y="-15265"/>
            <a:ext cx="8385005" cy="5715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BB21CB4-D2DF-4F8F-B621-09E1DD4B2C5D}"/>
              </a:ext>
            </a:extLst>
          </p:cNvPr>
          <p:cNvSpPr/>
          <p:nvPr userDrawn="1"/>
        </p:nvSpPr>
        <p:spPr>
          <a:xfrm>
            <a:off x="0" y="-15265"/>
            <a:ext cx="9144000" cy="5748649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시안21.png">
            <a:extLst>
              <a:ext uri="{FF2B5EF4-FFF2-40B4-BE49-F238E27FC236}">
                <a16:creationId xmlns:a16="http://schemas.microsoft.com/office/drawing/2014/main" id="{FFB50E59-4F0F-4B97-86C1-EC0DC498CC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7101" y="-7145"/>
            <a:ext cx="7680000" cy="576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A26A118-8C8C-4F52-B81C-981DEB5D045E}"/>
              </a:ext>
            </a:extLst>
          </p:cNvPr>
          <p:cNvSpPr/>
          <p:nvPr userDrawn="1"/>
        </p:nvSpPr>
        <p:spPr>
          <a:xfrm>
            <a:off x="6625156" y="-49882"/>
            <a:ext cx="2518844" cy="2371977"/>
          </a:xfrm>
          <a:prstGeom prst="rect">
            <a:avLst/>
          </a:prstGeom>
          <a:blipFill dpi="0" rotWithShape="1">
            <a:blip r:embed="rId4">
              <a:alphaModFix amt="1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76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8">
            <a:extLst>
              <a:ext uri="{FF2B5EF4-FFF2-40B4-BE49-F238E27FC236}">
                <a16:creationId xmlns:a16="http://schemas.microsoft.com/office/drawing/2014/main" id="{EB5F05C7-F9E0-4761-96DD-C704C72A257D}"/>
              </a:ext>
            </a:extLst>
          </p:cNvPr>
          <p:cNvSpPr/>
          <p:nvPr userDrawn="1"/>
        </p:nvSpPr>
        <p:spPr>
          <a:xfrm>
            <a:off x="0" y="0"/>
            <a:ext cx="9144000" cy="671872"/>
          </a:xfrm>
          <a:prstGeom prst="round2SameRect">
            <a:avLst>
              <a:gd name="adj1" fmla="val 0"/>
              <a:gd name="adj2" fmla="val 4281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EFDA3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95ADD0-54AB-44B0-8320-91339B70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771"/>
            <a:ext cx="9144000" cy="478074"/>
          </a:xfrm>
        </p:spPr>
        <p:txBody>
          <a:bodyPr>
            <a:normAutofit/>
          </a:bodyPr>
          <a:lstStyle>
            <a:lvl1pPr algn="ctr">
              <a:defRPr sz="2250">
                <a:solidFill>
                  <a:schemeClr val="accent6">
                    <a:lumMod val="10000"/>
                    <a:lumOff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1CEC18-C13F-4781-8B8B-9ADE1155FF3D}"/>
              </a:ext>
            </a:extLst>
          </p:cNvPr>
          <p:cNvSpPr/>
          <p:nvPr userDrawn="1"/>
        </p:nvSpPr>
        <p:spPr>
          <a:xfrm>
            <a:off x="8413194" y="295391"/>
            <a:ext cx="25200" cy="11520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ancomEQN" panose="02000000000000000000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91398-76BD-49B7-8247-A5C7DF9F8B56}"/>
              </a:ext>
            </a:extLst>
          </p:cNvPr>
          <p:cNvSpPr txBox="1"/>
          <p:nvPr userDrawn="1"/>
        </p:nvSpPr>
        <p:spPr>
          <a:xfrm>
            <a:off x="8497477" y="219008"/>
            <a:ext cx="5764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fld id="{B5ED264B-0C58-4952-868A-68AD3109D095}" type="slidenum">
              <a:rPr lang="ko-KR" altLang="en-US" sz="1600" b="1" spc="-8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‹#›</a:t>
            </a:fld>
            <a:r>
              <a:rPr lang="en-US" altLang="ko-KR" sz="1600" b="1" spc="-8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/12</a:t>
            </a:r>
            <a:endParaRPr lang="ko-KR" altLang="en-US" sz="1600" b="1" spc="-8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953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0AE76-C0D7-491A-944B-D1EA68C0BDB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31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63" r:id="rId4"/>
    <p:sldLayoutId id="2147483664" r:id="rId5"/>
    <p:sldLayoutId id="2147483673" r:id="rId6"/>
    <p:sldLayoutId id="2147483671" r:id="rId7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5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wmf"/><Relationship Id="rId4" Type="http://schemas.openxmlformats.org/officeDocument/2006/relationships/image" Target="../media/image11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3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CAA4377-9514-4FF8-B8C2-396CD5853F2D}"/>
              </a:ext>
            </a:extLst>
          </p:cNvPr>
          <p:cNvSpPr txBox="1">
            <a:spLocks/>
          </p:cNvSpPr>
          <p:nvPr/>
        </p:nvSpPr>
        <p:spPr>
          <a:xfrm>
            <a:off x="-31084" y="1955297"/>
            <a:ext cx="6948721" cy="149852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Fuzzy-AHP </a:t>
            </a:r>
            <a:r>
              <a:rPr lang="ko-KR" altLang="en-US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 전력설비</a:t>
            </a:r>
            <a:r>
              <a:rPr lang="en-US" altLang="ko-KR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ko-KR" altLang="en-US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투자최적화 프레임워크에 관한 연구</a:t>
            </a:r>
            <a:endParaRPr lang="en-US" altLang="ko-KR" sz="3400" dirty="0">
              <a:solidFill>
                <a:srgbClr val="00409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377" y="4162104"/>
            <a:ext cx="4577239" cy="824836"/>
          </a:xfrm>
          <a:prstGeom prst="rect">
            <a:avLst/>
          </a:prstGeom>
          <a:noFill/>
        </p:spPr>
        <p:txBody>
          <a:bodyPr wrap="square" rtlCol="0" anchor="ctr">
            <a:no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fontAlgn="base" latinLnBrk="1">
              <a:lnSpc>
                <a:spcPct val="130000"/>
              </a:lnSpc>
            </a:pPr>
            <a:r>
              <a:rPr lang="ko-KR" altLang="en-US" sz="2000" b="1" dirty="0" err="1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국립목포대학교</a:t>
            </a:r>
            <a:r>
              <a:rPr lang="ko-KR" altLang="en-US" sz="2000" b="1" dirty="0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 전기공학과</a:t>
            </a:r>
            <a:r>
              <a:rPr lang="en-US" altLang="ko-KR" sz="2000" b="1" dirty="0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 </a:t>
            </a:r>
          </a:p>
          <a:p>
            <a:pPr lvl="0" fontAlgn="base" latinLnBrk="1">
              <a:lnSpc>
                <a:spcPct val="130000"/>
              </a:lnSpc>
            </a:pPr>
            <a:r>
              <a:rPr lang="ko-KR" altLang="en-US" sz="2000" b="1" dirty="0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박사과정 안병현</a:t>
            </a:r>
            <a:endParaRPr lang="en-US" altLang="ko-KR" sz="2000" b="1" dirty="0">
              <a:solidFill>
                <a:srgbClr val="004098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589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4743102-4ADA-47DB-B586-7C83E132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477838"/>
          </a:xfrm>
        </p:spPr>
        <p:txBody>
          <a:bodyPr/>
          <a:lstStyle/>
          <a:p>
            <a:pPr indent="177800"/>
            <a:r>
              <a: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목차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98777E-F62A-4239-9D98-C04E2F0AF9BE}"/>
              </a:ext>
            </a:extLst>
          </p:cNvPr>
          <p:cNvSpPr/>
          <p:nvPr/>
        </p:nvSpPr>
        <p:spPr>
          <a:xfrm>
            <a:off x="8309113" y="182880"/>
            <a:ext cx="691764" cy="333955"/>
          </a:xfrm>
          <a:prstGeom prst="rect">
            <a:avLst/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B75D316-6C74-4A53-B4CA-71B3CC97ACCD}"/>
              </a:ext>
            </a:extLst>
          </p:cNvPr>
          <p:cNvGrpSpPr/>
          <p:nvPr/>
        </p:nvGrpSpPr>
        <p:grpSpPr>
          <a:xfrm>
            <a:off x="1916494" y="1069797"/>
            <a:ext cx="4836862" cy="553998"/>
            <a:chOff x="2544647" y="1116743"/>
            <a:chExt cx="4836862" cy="553998"/>
          </a:xfrm>
        </p:grpSpPr>
        <p:grpSp>
          <p:nvGrpSpPr>
            <p:cNvPr id="8" name="그룹 61">
              <a:extLst>
                <a:ext uri="{FF2B5EF4-FFF2-40B4-BE49-F238E27FC236}">
                  <a16:creationId xmlns:a16="http://schemas.microsoft.com/office/drawing/2014/main" id="{DC78BBA6-728E-4FEC-A6DD-A86ED3C0448C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9" name="그룹 34">
                <a:extLst>
                  <a:ext uri="{FF2B5EF4-FFF2-40B4-BE49-F238E27FC236}">
                    <a16:creationId xmlns:a16="http://schemas.microsoft.com/office/drawing/2014/main" id="{9556C8C4-1D88-4D7E-901D-27A4331189CB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11" name="모서리가 둥근 직사각형 26">
                  <a:extLst>
                    <a:ext uri="{FF2B5EF4-FFF2-40B4-BE49-F238E27FC236}">
                      <a16:creationId xmlns:a16="http://schemas.microsoft.com/office/drawing/2014/main" id="{98591904-BF72-40A7-9631-D359A5D386D9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12" name="양쪽 모서리가 둥근 사각형 27">
                  <a:extLst>
                    <a:ext uri="{FF2B5EF4-FFF2-40B4-BE49-F238E27FC236}">
                      <a16:creationId xmlns:a16="http://schemas.microsoft.com/office/drawing/2014/main" id="{C3B1D164-A4BD-4A2C-B94B-DC72AB69F31E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10" name="이등변 삼각형 9">
                <a:extLst>
                  <a:ext uri="{FF2B5EF4-FFF2-40B4-BE49-F238E27FC236}">
                    <a16:creationId xmlns:a16="http://schemas.microsoft.com/office/drawing/2014/main" id="{FB1B3599-7D4F-4B59-8FCE-14F219D2B19D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373EF5-159A-4B12-893C-80B74A90C2A1}"/>
                </a:ext>
              </a:extLst>
            </p:cNvPr>
            <p:cNvSpPr txBox="1"/>
            <p:nvPr/>
          </p:nvSpPr>
          <p:spPr>
            <a:xfrm>
              <a:off x="3138365" y="1144781"/>
              <a:ext cx="42431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연구 배경 및 필요성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E27EFB-0898-4C07-B269-8310504F5833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Ⅰ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AE3527C-1747-4486-9570-74C9073B94E8}"/>
              </a:ext>
            </a:extLst>
          </p:cNvPr>
          <p:cNvGrpSpPr/>
          <p:nvPr/>
        </p:nvGrpSpPr>
        <p:grpSpPr>
          <a:xfrm>
            <a:off x="1916494" y="1948939"/>
            <a:ext cx="5764466" cy="553998"/>
            <a:chOff x="2544647" y="1116743"/>
            <a:chExt cx="5764466" cy="553998"/>
          </a:xfrm>
        </p:grpSpPr>
        <p:grpSp>
          <p:nvGrpSpPr>
            <p:cNvPr id="45" name="그룹 61">
              <a:extLst>
                <a:ext uri="{FF2B5EF4-FFF2-40B4-BE49-F238E27FC236}">
                  <a16:creationId xmlns:a16="http://schemas.microsoft.com/office/drawing/2014/main" id="{124257F6-1332-44E0-9675-ECD39B78917A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48" name="그룹 34">
                <a:extLst>
                  <a:ext uri="{FF2B5EF4-FFF2-40B4-BE49-F238E27FC236}">
                    <a16:creationId xmlns:a16="http://schemas.microsoft.com/office/drawing/2014/main" id="{0D5F050B-7CB6-4635-B732-DEA79329CE4E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50" name="모서리가 둥근 직사각형 26">
                  <a:extLst>
                    <a:ext uri="{FF2B5EF4-FFF2-40B4-BE49-F238E27FC236}">
                      <a16:creationId xmlns:a16="http://schemas.microsoft.com/office/drawing/2014/main" id="{B3E7C59F-435D-45FA-9886-F27DE8EC1812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51" name="양쪽 모서리가 둥근 사각형 27">
                  <a:extLst>
                    <a:ext uri="{FF2B5EF4-FFF2-40B4-BE49-F238E27FC236}">
                      <a16:creationId xmlns:a16="http://schemas.microsoft.com/office/drawing/2014/main" id="{2F0EF4E1-F625-4341-9AE4-F58F34EE1248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49" name="이등변 삼각형 48">
                <a:extLst>
                  <a:ext uri="{FF2B5EF4-FFF2-40B4-BE49-F238E27FC236}">
                    <a16:creationId xmlns:a16="http://schemas.microsoft.com/office/drawing/2014/main" id="{2C5966D8-780B-4123-A948-A9A70D869F13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DAA34AF-3F5C-410A-82FD-7473A3004F33}"/>
                </a:ext>
              </a:extLst>
            </p:cNvPr>
            <p:cNvSpPr txBox="1"/>
            <p:nvPr/>
          </p:nvSpPr>
          <p:spPr>
            <a:xfrm>
              <a:off x="3138365" y="1144781"/>
              <a:ext cx="517074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전력설비 자산관리 시스템 개요 및 한계</a:t>
              </a:r>
              <a:endParaRPr lang="ko-KR" altLang="en-US" sz="24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46D1BA2-8BF3-4E39-B5DD-BF6A2B2240A7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Ⅱ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EBEF3AC-9105-4E22-A879-B3C6FFAA7D1A}"/>
              </a:ext>
            </a:extLst>
          </p:cNvPr>
          <p:cNvGrpSpPr/>
          <p:nvPr/>
        </p:nvGrpSpPr>
        <p:grpSpPr>
          <a:xfrm>
            <a:off x="1916494" y="2828081"/>
            <a:ext cx="6519840" cy="553998"/>
            <a:chOff x="2544647" y="1116743"/>
            <a:chExt cx="6519840" cy="553998"/>
          </a:xfrm>
        </p:grpSpPr>
        <p:grpSp>
          <p:nvGrpSpPr>
            <p:cNvPr id="53" name="그룹 61">
              <a:extLst>
                <a:ext uri="{FF2B5EF4-FFF2-40B4-BE49-F238E27FC236}">
                  <a16:creationId xmlns:a16="http://schemas.microsoft.com/office/drawing/2014/main" id="{7993CC6F-ED8C-424D-9F6F-7C4AED8E66F1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56" name="그룹 34">
                <a:extLst>
                  <a:ext uri="{FF2B5EF4-FFF2-40B4-BE49-F238E27FC236}">
                    <a16:creationId xmlns:a16="http://schemas.microsoft.com/office/drawing/2014/main" id="{E4D5DA4B-895F-424E-867C-B6852B791FA4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58" name="모서리가 둥근 직사각형 26">
                  <a:extLst>
                    <a:ext uri="{FF2B5EF4-FFF2-40B4-BE49-F238E27FC236}">
                      <a16:creationId xmlns:a16="http://schemas.microsoft.com/office/drawing/2014/main" id="{4927BFD2-30B4-4E4B-A640-074816FFFA83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59" name="양쪽 모서리가 둥근 사각형 27">
                  <a:extLst>
                    <a:ext uri="{FF2B5EF4-FFF2-40B4-BE49-F238E27FC236}">
                      <a16:creationId xmlns:a16="http://schemas.microsoft.com/office/drawing/2014/main" id="{3F10353E-DC1A-4106-8650-B872BCD27F31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57" name="이등변 삼각형 56">
                <a:extLst>
                  <a:ext uri="{FF2B5EF4-FFF2-40B4-BE49-F238E27FC236}">
                    <a16:creationId xmlns:a16="http://schemas.microsoft.com/office/drawing/2014/main" id="{4CB9C2FF-9938-43E0-9F86-0E4D26318818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DEBDC87-3911-41DC-9E98-FEA6FABC71BF}"/>
                </a:ext>
              </a:extLst>
            </p:cNvPr>
            <p:cNvSpPr txBox="1"/>
            <p:nvPr/>
          </p:nvSpPr>
          <p:spPr>
            <a:xfrm>
              <a:off x="3138364" y="1144781"/>
              <a:ext cx="59261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en-US" altLang="ko-KR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Fuzzy-AHP </a:t>
              </a:r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기반 자산 투자 최적화 프레임워크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8CFD7F-7D4F-4E95-AD34-6A00F2BDFFAA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Ⅲ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09F3EEE-6628-4B22-A645-F6EC0A4E90DA}"/>
              </a:ext>
            </a:extLst>
          </p:cNvPr>
          <p:cNvGrpSpPr/>
          <p:nvPr/>
        </p:nvGrpSpPr>
        <p:grpSpPr>
          <a:xfrm>
            <a:off x="1916494" y="3707223"/>
            <a:ext cx="4836862" cy="553998"/>
            <a:chOff x="2544647" y="1116743"/>
            <a:chExt cx="4836862" cy="553998"/>
          </a:xfrm>
        </p:grpSpPr>
        <p:grpSp>
          <p:nvGrpSpPr>
            <p:cNvPr id="69" name="그룹 61">
              <a:extLst>
                <a:ext uri="{FF2B5EF4-FFF2-40B4-BE49-F238E27FC236}">
                  <a16:creationId xmlns:a16="http://schemas.microsoft.com/office/drawing/2014/main" id="{E6247E49-4B48-4AAB-8B54-BE150C3B4CB3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72" name="그룹 34">
                <a:extLst>
                  <a:ext uri="{FF2B5EF4-FFF2-40B4-BE49-F238E27FC236}">
                    <a16:creationId xmlns:a16="http://schemas.microsoft.com/office/drawing/2014/main" id="{4F6DE66F-445A-455E-8914-8384873C0935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74" name="모서리가 둥근 직사각형 26">
                  <a:extLst>
                    <a:ext uri="{FF2B5EF4-FFF2-40B4-BE49-F238E27FC236}">
                      <a16:creationId xmlns:a16="http://schemas.microsoft.com/office/drawing/2014/main" id="{E8936B1A-0879-42DD-BBBC-C688B808F085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75" name="양쪽 모서리가 둥근 사각형 27">
                  <a:extLst>
                    <a:ext uri="{FF2B5EF4-FFF2-40B4-BE49-F238E27FC236}">
                      <a16:creationId xmlns:a16="http://schemas.microsoft.com/office/drawing/2014/main" id="{419CEB23-9DD6-4E51-A2FC-A62D730DB3CA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73" name="이등변 삼각형 72">
                <a:extLst>
                  <a:ext uri="{FF2B5EF4-FFF2-40B4-BE49-F238E27FC236}">
                    <a16:creationId xmlns:a16="http://schemas.microsoft.com/office/drawing/2014/main" id="{CE118C67-9C4E-414A-A567-248CCE6B6EB2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0604CA1-D73B-41B2-A11C-FA4D7B3DB1D6}"/>
                </a:ext>
              </a:extLst>
            </p:cNvPr>
            <p:cNvSpPr txBox="1"/>
            <p:nvPr/>
          </p:nvSpPr>
          <p:spPr>
            <a:xfrm>
              <a:off x="3138365" y="1144781"/>
              <a:ext cx="42431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사례연구 및 결과 분석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72DF1DA-7589-46BE-8A72-9BF9F88B47B7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Ⅳ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07B3257-7F52-4923-881E-72F5C5D7446E}"/>
              </a:ext>
            </a:extLst>
          </p:cNvPr>
          <p:cNvGrpSpPr/>
          <p:nvPr/>
        </p:nvGrpSpPr>
        <p:grpSpPr>
          <a:xfrm>
            <a:off x="1916494" y="4586366"/>
            <a:ext cx="4836862" cy="553998"/>
            <a:chOff x="2544647" y="1116743"/>
            <a:chExt cx="4836862" cy="553998"/>
          </a:xfrm>
        </p:grpSpPr>
        <p:grpSp>
          <p:nvGrpSpPr>
            <p:cNvPr id="77" name="그룹 61">
              <a:extLst>
                <a:ext uri="{FF2B5EF4-FFF2-40B4-BE49-F238E27FC236}">
                  <a16:creationId xmlns:a16="http://schemas.microsoft.com/office/drawing/2014/main" id="{00E9310A-7D78-4AFA-9DA9-2B7242792D49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80" name="그룹 34">
                <a:extLst>
                  <a:ext uri="{FF2B5EF4-FFF2-40B4-BE49-F238E27FC236}">
                    <a16:creationId xmlns:a16="http://schemas.microsoft.com/office/drawing/2014/main" id="{7F67BF9D-E5A1-4C1B-AE5B-C37EB99E8C87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82" name="모서리가 둥근 직사각형 26">
                  <a:extLst>
                    <a:ext uri="{FF2B5EF4-FFF2-40B4-BE49-F238E27FC236}">
                      <a16:creationId xmlns:a16="http://schemas.microsoft.com/office/drawing/2014/main" id="{C565EA6B-04F7-4007-BC84-DDE23CAC210F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83" name="양쪽 모서리가 둥근 사각형 27">
                  <a:extLst>
                    <a:ext uri="{FF2B5EF4-FFF2-40B4-BE49-F238E27FC236}">
                      <a16:creationId xmlns:a16="http://schemas.microsoft.com/office/drawing/2014/main" id="{CFE0D7F9-7293-440C-897C-45DBD907077A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81" name="이등변 삼각형 80">
                <a:extLst>
                  <a:ext uri="{FF2B5EF4-FFF2-40B4-BE49-F238E27FC236}">
                    <a16:creationId xmlns:a16="http://schemas.microsoft.com/office/drawing/2014/main" id="{EF7FD355-F93D-45F7-8D56-9BE5662DADB9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F6E6C7B-7E7D-44EB-91F2-59A73158B626}"/>
                </a:ext>
              </a:extLst>
            </p:cNvPr>
            <p:cNvSpPr txBox="1"/>
            <p:nvPr/>
          </p:nvSpPr>
          <p:spPr>
            <a:xfrm>
              <a:off x="3138365" y="1144781"/>
              <a:ext cx="42431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결론 및 향후 연구 방향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84A528-7BB1-4D45-A521-820981417E36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Ⅴ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34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572000" y="2565112"/>
            <a:ext cx="34480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배경 및 필요성</a:t>
            </a:r>
          </a:p>
        </p:txBody>
      </p:sp>
    </p:spTree>
    <p:extLst>
      <p:ext uri="{BB962C8B-B14F-4D97-AF65-F5344CB8AC3E}">
        <p14:creationId xmlns:p14="http://schemas.microsoft.com/office/powerpoint/2010/main" val="16671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전력설비 용량 증가 및 노후화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D226BDC1-0984-494A-B4BE-5B29C5E25616}"/>
              </a:ext>
            </a:extLst>
          </p:cNvPr>
          <p:cNvSpPr/>
          <p:nvPr/>
        </p:nvSpPr>
        <p:spPr>
          <a:xfrm flipH="1">
            <a:off x="4460423" y="1345735"/>
            <a:ext cx="4390072" cy="666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dist="25400" dir="5400000" algn="tl" rotWithShape="0">
              <a:srgbClr val="E5EBF7"/>
            </a:outerShdw>
          </a:effectLst>
        </p:spPr>
        <p:txBody>
          <a:bodyPr wrap="none" lIns="0" tIns="0" rIns="0" bIns="0" rtlCol="0" anchor="ctr">
            <a:noAutofit/>
          </a:bodyPr>
          <a:lstStyle/>
          <a:p>
            <a:pPr algn="ctr" fontAlgn="base"/>
            <a:endParaRPr lang="ko-KR" altLang="en-US" sz="1300" spc="-1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38F21-56DE-442F-9F21-0098DDFB2A23}"/>
              </a:ext>
            </a:extLst>
          </p:cNvPr>
          <p:cNvSpPr txBox="1"/>
          <p:nvPr/>
        </p:nvSpPr>
        <p:spPr>
          <a:xfrm>
            <a:off x="5164027" y="1487020"/>
            <a:ext cx="2517036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fontAlgn="base">
              <a:buSzPct val="50000"/>
            </a:pPr>
            <a:r>
              <a:rPr lang="ko-KR" alt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노후교체에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대규모 투자 필요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모서리가 둥근 직사각형 7">
            <a:extLst>
              <a:ext uri="{FF2B5EF4-FFF2-40B4-BE49-F238E27FC236}">
                <a16:creationId xmlns:a16="http://schemas.microsoft.com/office/drawing/2014/main" id="{4A9EF81D-5C39-4C4A-B93E-06D9B6D3E326}"/>
              </a:ext>
            </a:extLst>
          </p:cNvPr>
          <p:cNvSpPr/>
          <p:nvPr/>
        </p:nvSpPr>
        <p:spPr>
          <a:xfrm flipH="1">
            <a:off x="0" y="2204890"/>
            <a:ext cx="9144000" cy="43590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rgbClr val="3864B2"/>
              </a:gs>
            </a:gsLst>
            <a:path path="circle">
              <a:fillToRect l="100000" t="100000"/>
            </a:path>
            <a:tileRect r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endParaRPr lang="ko-KR" altLang="en-US" sz="9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0B2B14-69FE-4CCB-AD18-A8411C0E4418}"/>
              </a:ext>
            </a:extLst>
          </p:cNvPr>
          <p:cNvSpPr txBox="1"/>
          <p:nvPr/>
        </p:nvSpPr>
        <p:spPr>
          <a:xfrm>
            <a:off x="1021246" y="1332006"/>
            <a:ext cx="2977975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fontAlgn="base">
              <a:buSzPct val="50000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1970~80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년대부터 경제성장과</a:t>
            </a:r>
            <a:endParaRPr lang="en-US" altLang="ko-KR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buSzPct val="50000"/>
            </a:pPr>
            <a:r>
              <a:rPr lang="ko-KR" altLang="en-US" sz="1600" dirty="0">
                <a:solidFill>
                  <a:srgbClr val="2F539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산업화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인해 전력설비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 확대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오른쪽 화살표 10">
            <a:extLst>
              <a:ext uri="{FF2B5EF4-FFF2-40B4-BE49-F238E27FC236}">
                <a16:creationId xmlns:a16="http://schemas.microsoft.com/office/drawing/2014/main" id="{7966F8BA-91C2-4361-9131-986E6E62BFCC}"/>
              </a:ext>
            </a:extLst>
          </p:cNvPr>
          <p:cNvSpPr/>
          <p:nvPr/>
        </p:nvSpPr>
        <p:spPr>
          <a:xfrm>
            <a:off x="3931389" y="1483655"/>
            <a:ext cx="655372" cy="502920"/>
          </a:xfrm>
          <a:prstGeom prst="rightArrow">
            <a:avLst>
              <a:gd name="adj1" fmla="val 57331"/>
              <a:gd name="adj2" fmla="val 49134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41000">
                <a:srgbClr val="C0CFEA"/>
              </a:gs>
              <a:gs pos="100000">
                <a:srgbClr val="5F779B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 defTabSz="914400" latinLnBrk="1"/>
            <a:endParaRPr lang="ko-KR" altLang="en-US" sz="16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69CB775-00B4-4B16-8F40-C276FA831440}"/>
              </a:ext>
            </a:extLst>
          </p:cNvPr>
          <p:cNvGrpSpPr/>
          <p:nvPr/>
        </p:nvGrpSpPr>
        <p:grpSpPr>
          <a:xfrm>
            <a:off x="488940" y="1304728"/>
            <a:ext cx="504295" cy="519687"/>
            <a:chOff x="7939088" y="4368800"/>
            <a:chExt cx="884237" cy="911225"/>
          </a:xfrm>
        </p:grpSpPr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495AC4DD-4D15-4378-8396-C7F0DB8E1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8650" y="4687888"/>
              <a:ext cx="255587" cy="387350"/>
            </a:xfrm>
            <a:custGeom>
              <a:avLst/>
              <a:gdLst>
                <a:gd name="T0" fmla="*/ 178 w 476"/>
                <a:gd name="T1" fmla="*/ 720 h 720"/>
                <a:gd name="T2" fmla="*/ 163 w 476"/>
                <a:gd name="T3" fmla="*/ 705 h 720"/>
                <a:gd name="T4" fmla="*/ 162 w 476"/>
                <a:gd name="T5" fmla="*/ 690 h 720"/>
                <a:gd name="T6" fmla="*/ 121 w 476"/>
                <a:gd name="T7" fmla="*/ 280 h 720"/>
                <a:gd name="T8" fmla="*/ 16 w 476"/>
                <a:gd name="T9" fmla="*/ 280 h 720"/>
                <a:gd name="T10" fmla="*/ 2 w 476"/>
                <a:gd name="T11" fmla="*/ 271 h 720"/>
                <a:gd name="T12" fmla="*/ 5 w 476"/>
                <a:gd name="T13" fmla="*/ 254 h 720"/>
                <a:gd name="T14" fmla="*/ 236 w 476"/>
                <a:gd name="T15" fmla="*/ 5 h 720"/>
                <a:gd name="T16" fmla="*/ 247 w 476"/>
                <a:gd name="T17" fmla="*/ 0 h 720"/>
                <a:gd name="T18" fmla="*/ 247 w 476"/>
                <a:gd name="T19" fmla="*/ 0 h 720"/>
                <a:gd name="T20" fmla="*/ 259 w 476"/>
                <a:gd name="T21" fmla="*/ 5 h 720"/>
                <a:gd name="T22" fmla="*/ 471 w 476"/>
                <a:gd name="T23" fmla="*/ 241 h 720"/>
                <a:gd name="T24" fmla="*/ 474 w 476"/>
                <a:gd name="T25" fmla="*/ 257 h 720"/>
                <a:gd name="T26" fmla="*/ 460 w 476"/>
                <a:gd name="T27" fmla="*/ 267 h 720"/>
                <a:gd name="T28" fmla="*/ 360 w 476"/>
                <a:gd name="T29" fmla="*/ 274 h 720"/>
                <a:gd name="T30" fmla="*/ 347 w 476"/>
                <a:gd name="T31" fmla="*/ 668 h 720"/>
                <a:gd name="T32" fmla="*/ 346 w 476"/>
                <a:gd name="T33" fmla="*/ 695 h 720"/>
                <a:gd name="T34" fmla="*/ 329 w 476"/>
                <a:gd name="T35" fmla="*/ 710 h 720"/>
                <a:gd name="T36" fmla="*/ 315 w 476"/>
                <a:gd name="T37" fmla="*/ 694 h 720"/>
                <a:gd name="T38" fmla="*/ 316 w 476"/>
                <a:gd name="T39" fmla="*/ 666 h 720"/>
                <a:gd name="T40" fmla="*/ 329 w 476"/>
                <a:gd name="T41" fmla="*/ 261 h 720"/>
                <a:gd name="T42" fmla="*/ 336 w 476"/>
                <a:gd name="T43" fmla="*/ 248 h 720"/>
                <a:gd name="T44" fmla="*/ 426 w 476"/>
                <a:gd name="T45" fmla="*/ 237 h 720"/>
                <a:gd name="T46" fmla="*/ 247 w 476"/>
                <a:gd name="T47" fmla="*/ 39 h 720"/>
                <a:gd name="T48" fmla="*/ 52 w 476"/>
                <a:gd name="T49" fmla="*/ 249 h 720"/>
                <a:gd name="T50" fmla="*/ 133 w 476"/>
                <a:gd name="T51" fmla="*/ 249 h 720"/>
                <a:gd name="T52" fmla="*/ 149 w 476"/>
                <a:gd name="T53" fmla="*/ 262 h 720"/>
                <a:gd name="T54" fmla="*/ 193 w 476"/>
                <a:gd name="T55" fmla="*/ 689 h 720"/>
                <a:gd name="T56" fmla="*/ 194 w 476"/>
                <a:gd name="T57" fmla="*/ 704 h 720"/>
                <a:gd name="T58" fmla="*/ 179 w 476"/>
                <a:gd name="T59" fmla="*/ 720 h 720"/>
                <a:gd name="T60" fmla="*/ 178 w 476"/>
                <a:gd name="T61" fmla="*/ 720 h 720"/>
                <a:gd name="T62" fmla="*/ 351 w 476"/>
                <a:gd name="T63" fmla="*/ 275 h 720"/>
                <a:gd name="T64" fmla="*/ 351 w 476"/>
                <a:gd name="T65" fmla="*/ 275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6" h="720">
                  <a:moveTo>
                    <a:pt x="178" y="720"/>
                  </a:moveTo>
                  <a:cubicBezTo>
                    <a:pt x="170" y="720"/>
                    <a:pt x="163" y="714"/>
                    <a:pt x="163" y="705"/>
                  </a:cubicBezTo>
                  <a:cubicBezTo>
                    <a:pt x="162" y="690"/>
                    <a:pt x="162" y="690"/>
                    <a:pt x="162" y="690"/>
                  </a:cubicBezTo>
                  <a:cubicBezTo>
                    <a:pt x="157" y="592"/>
                    <a:pt x="150" y="443"/>
                    <a:pt x="121" y="280"/>
                  </a:cubicBezTo>
                  <a:cubicBezTo>
                    <a:pt x="16" y="280"/>
                    <a:pt x="16" y="280"/>
                    <a:pt x="16" y="280"/>
                  </a:cubicBezTo>
                  <a:cubicBezTo>
                    <a:pt x="10" y="280"/>
                    <a:pt x="5" y="277"/>
                    <a:pt x="2" y="271"/>
                  </a:cubicBezTo>
                  <a:cubicBezTo>
                    <a:pt x="0" y="265"/>
                    <a:pt x="1" y="259"/>
                    <a:pt x="5" y="254"/>
                  </a:cubicBezTo>
                  <a:cubicBezTo>
                    <a:pt x="236" y="5"/>
                    <a:pt x="236" y="5"/>
                    <a:pt x="236" y="5"/>
                  </a:cubicBezTo>
                  <a:cubicBezTo>
                    <a:pt x="239" y="2"/>
                    <a:pt x="243" y="0"/>
                    <a:pt x="247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1" y="0"/>
                    <a:pt x="256" y="2"/>
                    <a:pt x="259" y="5"/>
                  </a:cubicBezTo>
                  <a:cubicBezTo>
                    <a:pt x="471" y="241"/>
                    <a:pt x="471" y="241"/>
                    <a:pt x="471" y="241"/>
                  </a:cubicBezTo>
                  <a:cubicBezTo>
                    <a:pt x="475" y="245"/>
                    <a:pt x="476" y="252"/>
                    <a:pt x="474" y="257"/>
                  </a:cubicBezTo>
                  <a:cubicBezTo>
                    <a:pt x="472" y="263"/>
                    <a:pt x="466" y="267"/>
                    <a:pt x="460" y="267"/>
                  </a:cubicBezTo>
                  <a:cubicBezTo>
                    <a:pt x="423" y="268"/>
                    <a:pt x="379" y="271"/>
                    <a:pt x="360" y="274"/>
                  </a:cubicBezTo>
                  <a:cubicBezTo>
                    <a:pt x="360" y="470"/>
                    <a:pt x="356" y="533"/>
                    <a:pt x="347" y="668"/>
                  </a:cubicBezTo>
                  <a:cubicBezTo>
                    <a:pt x="346" y="695"/>
                    <a:pt x="346" y="695"/>
                    <a:pt x="346" y="695"/>
                  </a:cubicBezTo>
                  <a:cubicBezTo>
                    <a:pt x="345" y="704"/>
                    <a:pt x="338" y="711"/>
                    <a:pt x="329" y="710"/>
                  </a:cubicBezTo>
                  <a:cubicBezTo>
                    <a:pt x="321" y="710"/>
                    <a:pt x="314" y="702"/>
                    <a:pt x="315" y="694"/>
                  </a:cubicBezTo>
                  <a:cubicBezTo>
                    <a:pt x="316" y="666"/>
                    <a:pt x="316" y="666"/>
                    <a:pt x="316" y="666"/>
                  </a:cubicBezTo>
                  <a:cubicBezTo>
                    <a:pt x="325" y="529"/>
                    <a:pt x="329" y="467"/>
                    <a:pt x="329" y="261"/>
                  </a:cubicBezTo>
                  <a:cubicBezTo>
                    <a:pt x="329" y="256"/>
                    <a:pt x="331" y="251"/>
                    <a:pt x="336" y="248"/>
                  </a:cubicBezTo>
                  <a:cubicBezTo>
                    <a:pt x="339" y="246"/>
                    <a:pt x="346" y="241"/>
                    <a:pt x="426" y="237"/>
                  </a:cubicBezTo>
                  <a:cubicBezTo>
                    <a:pt x="247" y="39"/>
                    <a:pt x="247" y="39"/>
                    <a:pt x="247" y="39"/>
                  </a:cubicBezTo>
                  <a:cubicBezTo>
                    <a:pt x="52" y="249"/>
                    <a:pt x="52" y="249"/>
                    <a:pt x="52" y="249"/>
                  </a:cubicBezTo>
                  <a:cubicBezTo>
                    <a:pt x="133" y="249"/>
                    <a:pt x="133" y="249"/>
                    <a:pt x="133" y="249"/>
                  </a:cubicBezTo>
                  <a:cubicBezTo>
                    <a:pt x="141" y="249"/>
                    <a:pt x="147" y="255"/>
                    <a:pt x="149" y="262"/>
                  </a:cubicBezTo>
                  <a:cubicBezTo>
                    <a:pt x="181" y="432"/>
                    <a:pt x="188" y="587"/>
                    <a:pt x="193" y="689"/>
                  </a:cubicBezTo>
                  <a:cubicBezTo>
                    <a:pt x="194" y="704"/>
                    <a:pt x="194" y="704"/>
                    <a:pt x="194" y="704"/>
                  </a:cubicBezTo>
                  <a:cubicBezTo>
                    <a:pt x="194" y="712"/>
                    <a:pt x="188" y="720"/>
                    <a:pt x="179" y="720"/>
                  </a:cubicBezTo>
                  <a:cubicBezTo>
                    <a:pt x="179" y="720"/>
                    <a:pt x="179" y="720"/>
                    <a:pt x="178" y="720"/>
                  </a:cubicBezTo>
                  <a:close/>
                  <a:moveTo>
                    <a:pt x="351" y="275"/>
                  </a:moveTo>
                  <a:cubicBezTo>
                    <a:pt x="351" y="275"/>
                    <a:pt x="351" y="275"/>
                    <a:pt x="351" y="275"/>
                  </a:cubicBezTo>
                  <a:close/>
                </a:path>
              </a:pathLst>
            </a:custGeom>
            <a:solidFill>
              <a:srgbClr val="3E9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A47898BC-85AD-46F6-A53D-6E3E420E6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78788" y="4516438"/>
              <a:ext cx="608012" cy="731838"/>
            </a:xfrm>
            <a:custGeom>
              <a:avLst/>
              <a:gdLst>
                <a:gd name="T0" fmla="*/ 636 w 1135"/>
                <a:gd name="T1" fmla="*/ 1365 h 1365"/>
                <a:gd name="T2" fmla="*/ 622 w 1135"/>
                <a:gd name="T3" fmla="*/ 1364 h 1365"/>
                <a:gd name="T4" fmla="*/ 611 w 1135"/>
                <a:gd name="T5" fmla="*/ 1357 h 1365"/>
                <a:gd name="T6" fmla="*/ 600 w 1135"/>
                <a:gd name="T7" fmla="*/ 1363 h 1365"/>
                <a:gd name="T8" fmla="*/ 437 w 1135"/>
                <a:gd name="T9" fmla="*/ 1321 h 1365"/>
                <a:gd name="T10" fmla="*/ 388 w 1135"/>
                <a:gd name="T11" fmla="*/ 1183 h 1365"/>
                <a:gd name="T12" fmla="*/ 388 w 1135"/>
                <a:gd name="T13" fmla="*/ 1157 h 1365"/>
                <a:gd name="T14" fmla="*/ 373 w 1135"/>
                <a:gd name="T15" fmla="*/ 1052 h 1365"/>
                <a:gd name="T16" fmla="*/ 236 w 1135"/>
                <a:gd name="T17" fmla="*/ 920 h 1365"/>
                <a:gd name="T18" fmla="*/ 15 w 1135"/>
                <a:gd name="T19" fmla="*/ 599 h 1365"/>
                <a:gd name="T20" fmla="*/ 44 w 1135"/>
                <a:gd name="T21" fmla="*/ 327 h 1365"/>
                <a:gd name="T22" fmla="*/ 193 w 1135"/>
                <a:gd name="T23" fmla="*/ 139 h 1365"/>
                <a:gd name="T24" fmla="*/ 500 w 1135"/>
                <a:gd name="T25" fmla="*/ 15 h 1365"/>
                <a:gd name="T26" fmla="*/ 804 w 1135"/>
                <a:gd name="T27" fmla="*/ 49 h 1365"/>
                <a:gd name="T28" fmla="*/ 1071 w 1135"/>
                <a:gd name="T29" fmla="*/ 318 h 1365"/>
                <a:gd name="T30" fmla="*/ 1097 w 1135"/>
                <a:gd name="T31" fmla="*/ 687 h 1365"/>
                <a:gd name="T32" fmla="*/ 932 w 1135"/>
                <a:gd name="T33" fmla="*/ 920 h 1365"/>
                <a:gd name="T34" fmla="*/ 896 w 1135"/>
                <a:gd name="T35" fmla="*/ 938 h 1365"/>
                <a:gd name="T36" fmla="*/ 831 w 1135"/>
                <a:gd name="T37" fmla="*/ 976 h 1365"/>
                <a:gd name="T38" fmla="*/ 781 w 1135"/>
                <a:gd name="T39" fmla="*/ 1110 h 1365"/>
                <a:gd name="T40" fmla="*/ 779 w 1135"/>
                <a:gd name="T41" fmla="*/ 1143 h 1365"/>
                <a:gd name="T42" fmla="*/ 758 w 1135"/>
                <a:gd name="T43" fmla="*/ 1270 h 1365"/>
                <a:gd name="T44" fmla="*/ 636 w 1135"/>
                <a:gd name="T45" fmla="*/ 1365 h 1365"/>
                <a:gd name="T46" fmla="*/ 599 w 1135"/>
                <a:gd name="T47" fmla="*/ 1332 h 1365"/>
                <a:gd name="T48" fmla="*/ 612 w 1135"/>
                <a:gd name="T49" fmla="*/ 1338 h 1365"/>
                <a:gd name="T50" fmla="*/ 626 w 1135"/>
                <a:gd name="T51" fmla="*/ 1333 h 1365"/>
                <a:gd name="T52" fmla="*/ 729 w 1135"/>
                <a:gd name="T53" fmla="*/ 1258 h 1365"/>
                <a:gd name="T54" fmla="*/ 748 w 1135"/>
                <a:gd name="T55" fmla="*/ 1141 h 1365"/>
                <a:gd name="T56" fmla="*/ 750 w 1135"/>
                <a:gd name="T57" fmla="*/ 1107 h 1365"/>
                <a:gd name="T58" fmla="*/ 810 w 1135"/>
                <a:gd name="T59" fmla="*/ 953 h 1365"/>
                <a:gd name="T60" fmla="*/ 883 w 1135"/>
                <a:gd name="T61" fmla="*/ 910 h 1365"/>
                <a:gd name="T62" fmla="*/ 917 w 1135"/>
                <a:gd name="T63" fmla="*/ 893 h 1365"/>
                <a:gd name="T64" fmla="*/ 1067 w 1135"/>
                <a:gd name="T65" fmla="*/ 678 h 1365"/>
                <a:gd name="T66" fmla="*/ 1043 w 1135"/>
                <a:gd name="T67" fmla="*/ 332 h 1365"/>
                <a:gd name="T68" fmla="*/ 792 w 1135"/>
                <a:gd name="T69" fmla="*/ 77 h 1365"/>
                <a:gd name="T70" fmla="*/ 212 w 1135"/>
                <a:gd name="T71" fmla="*/ 164 h 1365"/>
                <a:gd name="T72" fmla="*/ 45 w 1135"/>
                <a:gd name="T73" fmla="*/ 594 h 1365"/>
                <a:gd name="T74" fmla="*/ 252 w 1135"/>
                <a:gd name="T75" fmla="*/ 893 h 1365"/>
                <a:gd name="T76" fmla="*/ 401 w 1135"/>
                <a:gd name="T77" fmla="*/ 1040 h 1365"/>
                <a:gd name="T78" fmla="*/ 419 w 1135"/>
                <a:gd name="T79" fmla="*/ 1157 h 1365"/>
                <a:gd name="T80" fmla="*/ 419 w 1135"/>
                <a:gd name="T81" fmla="*/ 1182 h 1365"/>
                <a:gd name="T82" fmla="*/ 458 w 1135"/>
                <a:gd name="T83" fmla="*/ 1299 h 1365"/>
                <a:gd name="T84" fmla="*/ 599 w 1135"/>
                <a:gd name="T85" fmla="*/ 1332 h 1365"/>
                <a:gd name="T86" fmla="*/ 599 w 1135"/>
                <a:gd name="T87" fmla="*/ 1332 h 1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5" h="1365">
                  <a:moveTo>
                    <a:pt x="636" y="1365"/>
                  </a:moveTo>
                  <a:cubicBezTo>
                    <a:pt x="631" y="1365"/>
                    <a:pt x="626" y="1364"/>
                    <a:pt x="622" y="1364"/>
                  </a:cubicBezTo>
                  <a:cubicBezTo>
                    <a:pt x="617" y="1363"/>
                    <a:pt x="614" y="1361"/>
                    <a:pt x="611" y="1357"/>
                  </a:cubicBezTo>
                  <a:cubicBezTo>
                    <a:pt x="608" y="1361"/>
                    <a:pt x="604" y="1363"/>
                    <a:pt x="600" y="1363"/>
                  </a:cubicBezTo>
                  <a:cubicBezTo>
                    <a:pt x="540" y="1364"/>
                    <a:pt x="479" y="1361"/>
                    <a:pt x="437" y="1321"/>
                  </a:cubicBezTo>
                  <a:cubicBezTo>
                    <a:pt x="397" y="1283"/>
                    <a:pt x="390" y="1224"/>
                    <a:pt x="388" y="1183"/>
                  </a:cubicBezTo>
                  <a:cubicBezTo>
                    <a:pt x="388" y="1174"/>
                    <a:pt x="388" y="1166"/>
                    <a:pt x="388" y="1157"/>
                  </a:cubicBezTo>
                  <a:cubicBezTo>
                    <a:pt x="387" y="1120"/>
                    <a:pt x="386" y="1084"/>
                    <a:pt x="373" y="1052"/>
                  </a:cubicBezTo>
                  <a:cubicBezTo>
                    <a:pt x="345" y="985"/>
                    <a:pt x="294" y="955"/>
                    <a:pt x="236" y="920"/>
                  </a:cubicBezTo>
                  <a:cubicBezTo>
                    <a:pt x="147" y="867"/>
                    <a:pt x="46" y="806"/>
                    <a:pt x="15" y="599"/>
                  </a:cubicBezTo>
                  <a:cubicBezTo>
                    <a:pt x="0" y="500"/>
                    <a:pt x="10" y="409"/>
                    <a:pt x="44" y="327"/>
                  </a:cubicBezTo>
                  <a:cubicBezTo>
                    <a:pt x="75" y="254"/>
                    <a:pt x="125" y="191"/>
                    <a:pt x="193" y="139"/>
                  </a:cubicBezTo>
                  <a:cubicBezTo>
                    <a:pt x="276" y="75"/>
                    <a:pt x="386" y="31"/>
                    <a:pt x="500" y="15"/>
                  </a:cubicBezTo>
                  <a:cubicBezTo>
                    <a:pt x="612" y="0"/>
                    <a:pt x="719" y="12"/>
                    <a:pt x="804" y="49"/>
                  </a:cubicBezTo>
                  <a:cubicBezTo>
                    <a:pt x="892" y="87"/>
                    <a:pt x="985" y="139"/>
                    <a:pt x="1071" y="318"/>
                  </a:cubicBezTo>
                  <a:cubicBezTo>
                    <a:pt x="1126" y="431"/>
                    <a:pt x="1135" y="562"/>
                    <a:pt x="1097" y="687"/>
                  </a:cubicBezTo>
                  <a:cubicBezTo>
                    <a:pt x="1064" y="793"/>
                    <a:pt x="1001" y="882"/>
                    <a:pt x="932" y="920"/>
                  </a:cubicBezTo>
                  <a:cubicBezTo>
                    <a:pt x="920" y="927"/>
                    <a:pt x="908" y="933"/>
                    <a:pt x="896" y="938"/>
                  </a:cubicBezTo>
                  <a:cubicBezTo>
                    <a:pt x="872" y="949"/>
                    <a:pt x="849" y="959"/>
                    <a:pt x="831" y="976"/>
                  </a:cubicBezTo>
                  <a:cubicBezTo>
                    <a:pt x="802" y="1003"/>
                    <a:pt x="786" y="1045"/>
                    <a:pt x="781" y="1110"/>
                  </a:cubicBezTo>
                  <a:cubicBezTo>
                    <a:pt x="780" y="1121"/>
                    <a:pt x="779" y="1132"/>
                    <a:pt x="779" y="1143"/>
                  </a:cubicBezTo>
                  <a:cubicBezTo>
                    <a:pt x="776" y="1185"/>
                    <a:pt x="774" y="1229"/>
                    <a:pt x="758" y="1270"/>
                  </a:cubicBezTo>
                  <a:cubicBezTo>
                    <a:pt x="738" y="1319"/>
                    <a:pt x="691" y="1365"/>
                    <a:pt x="636" y="1365"/>
                  </a:cubicBezTo>
                  <a:close/>
                  <a:moveTo>
                    <a:pt x="599" y="1332"/>
                  </a:moveTo>
                  <a:cubicBezTo>
                    <a:pt x="604" y="1332"/>
                    <a:pt x="609" y="1334"/>
                    <a:pt x="612" y="1338"/>
                  </a:cubicBezTo>
                  <a:cubicBezTo>
                    <a:pt x="615" y="1334"/>
                    <a:pt x="620" y="1332"/>
                    <a:pt x="626" y="1333"/>
                  </a:cubicBezTo>
                  <a:cubicBezTo>
                    <a:pt x="671" y="1339"/>
                    <a:pt x="713" y="1299"/>
                    <a:pt x="729" y="1258"/>
                  </a:cubicBezTo>
                  <a:cubicBezTo>
                    <a:pt x="743" y="1222"/>
                    <a:pt x="745" y="1183"/>
                    <a:pt x="748" y="1141"/>
                  </a:cubicBezTo>
                  <a:cubicBezTo>
                    <a:pt x="748" y="1130"/>
                    <a:pt x="749" y="1118"/>
                    <a:pt x="750" y="1107"/>
                  </a:cubicBezTo>
                  <a:cubicBezTo>
                    <a:pt x="754" y="1061"/>
                    <a:pt x="764" y="996"/>
                    <a:pt x="810" y="953"/>
                  </a:cubicBezTo>
                  <a:cubicBezTo>
                    <a:pt x="831" y="933"/>
                    <a:pt x="857" y="921"/>
                    <a:pt x="883" y="910"/>
                  </a:cubicBezTo>
                  <a:cubicBezTo>
                    <a:pt x="895" y="904"/>
                    <a:pt x="906" y="899"/>
                    <a:pt x="917" y="893"/>
                  </a:cubicBezTo>
                  <a:cubicBezTo>
                    <a:pt x="979" y="859"/>
                    <a:pt x="1037" y="775"/>
                    <a:pt x="1067" y="678"/>
                  </a:cubicBezTo>
                  <a:cubicBezTo>
                    <a:pt x="1103" y="561"/>
                    <a:pt x="1094" y="438"/>
                    <a:pt x="1043" y="332"/>
                  </a:cubicBezTo>
                  <a:cubicBezTo>
                    <a:pt x="961" y="162"/>
                    <a:pt x="877" y="114"/>
                    <a:pt x="792" y="77"/>
                  </a:cubicBezTo>
                  <a:cubicBezTo>
                    <a:pt x="622" y="3"/>
                    <a:pt x="372" y="40"/>
                    <a:pt x="212" y="164"/>
                  </a:cubicBezTo>
                  <a:cubicBezTo>
                    <a:pt x="117" y="236"/>
                    <a:pt x="12" y="370"/>
                    <a:pt x="45" y="594"/>
                  </a:cubicBezTo>
                  <a:cubicBezTo>
                    <a:pt x="74" y="787"/>
                    <a:pt x="165" y="841"/>
                    <a:pt x="252" y="893"/>
                  </a:cubicBezTo>
                  <a:cubicBezTo>
                    <a:pt x="312" y="929"/>
                    <a:pt x="370" y="963"/>
                    <a:pt x="401" y="1040"/>
                  </a:cubicBezTo>
                  <a:cubicBezTo>
                    <a:pt x="417" y="1077"/>
                    <a:pt x="418" y="1118"/>
                    <a:pt x="419" y="1157"/>
                  </a:cubicBezTo>
                  <a:cubicBezTo>
                    <a:pt x="419" y="1165"/>
                    <a:pt x="419" y="1173"/>
                    <a:pt x="419" y="1182"/>
                  </a:cubicBezTo>
                  <a:cubicBezTo>
                    <a:pt x="422" y="1238"/>
                    <a:pt x="434" y="1276"/>
                    <a:pt x="458" y="1299"/>
                  </a:cubicBezTo>
                  <a:cubicBezTo>
                    <a:pt x="492" y="1331"/>
                    <a:pt x="546" y="1333"/>
                    <a:pt x="599" y="1332"/>
                  </a:cubicBezTo>
                  <a:cubicBezTo>
                    <a:pt x="599" y="1332"/>
                    <a:pt x="599" y="1332"/>
                    <a:pt x="599" y="13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1" name="Freeform 82">
              <a:extLst>
                <a:ext uri="{FF2B5EF4-FFF2-40B4-BE49-F238E27FC236}">
                  <a16:creationId xmlns:a16="http://schemas.microsoft.com/office/drawing/2014/main" id="{8ECF6F2A-73E4-42D4-A785-5C695F3CD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5000" y="5054600"/>
              <a:ext cx="271462" cy="30163"/>
            </a:xfrm>
            <a:custGeom>
              <a:avLst/>
              <a:gdLst>
                <a:gd name="T0" fmla="*/ 17 w 506"/>
                <a:gd name="T1" fmla="*/ 58 h 58"/>
                <a:gd name="T2" fmla="*/ 1 w 506"/>
                <a:gd name="T3" fmla="*/ 45 h 58"/>
                <a:gd name="T4" fmla="*/ 14 w 506"/>
                <a:gd name="T5" fmla="*/ 27 h 58"/>
                <a:gd name="T6" fmla="*/ 491 w 506"/>
                <a:gd name="T7" fmla="*/ 26 h 58"/>
                <a:gd name="T8" fmla="*/ 504 w 506"/>
                <a:gd name="T9" fmla="*/ 44 h 58"/>
                <a:gd name="T10" fmla="*/ 486 w 506"/>
                <a:gd name="T11" fmla="*/ 57 h 58"/>
                <a:gd name="T12" fmla="*/ 19 w 506"/>
                <a:gd name="T13" fmla="*/ 57 h 58"/>
                <a:gd name="T14" fmla="*/ 17 w 506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6" h="58">
                  <a:moveTo>
                    <a:pt x="17" y="58"/>
                  </a:moveTo>
                  <a:cubicBezTo>
                    <a:pt x="9" y="58"/>
                    <a:pt x="3" y="52"/>
                    <a:pt x="1" y="45"/>
                  </a:cubicBezTo>
                  <a:cubicBezTo>
                    <a:pt x="0" y="36"/>
                    <a:pt x="6" y="28"/>
                    <a:pt x="14" y="27"/>
                  </a:cubicBezTo>
                  <a:cubicBezTo>
                    <a:pt x="173" y="1"/>
                    <a:pt x="333" y="0"/>
                    <a:pt x="491" y="26"/>
                  </a:cubicBezTo>
                  <a:cubicBezTo>
                    <a:pt x="500" y="27"/>
                    <a:pt x="506" y="35"/>
                    <a:pt x="504" y="44"/>
                  </a:cubicBezTo>
                  <a:cubicBezTo>
                    <a:pt x="503" y="52"/>
                    <a:pt x="495" y="58"/>
                    <a:pt x="486" y="57"/>
                  </a:cubicBezTo>
                  <a:cubicBezTo>
                    <a:pt x="331" y="32"/>
                    <a:pt x="174" y="32"/>
                    <a:pt x="19" y="57"/>
                  </a:cubicBezTo>
                  <a:cubicBezTo>
                    <a:pt x="19" y="58"/>
                    <a:pt x="18" y="58"/>
                    <a:pt x="17" y="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20F79C82-2403-4EE4-8EE4-0AE60F679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9925" y="5097463"/>
              <a:ext cx="206375" cy="23813"/>
            </a:xfrm>
            <a:custGeom>
              <a:avLst/>
              <a:gdLst>
                <a:gd name="T0" fmla="*/ 16 w 385"/>
                <a:gd name="T1" fmla="*/ 45 h 45"/>
                <a:gd name="T2" fmla="*/ 0 w 385"/>
                <a:gd name="T3" fmla="*/ 30 h 45"/>
                <a:gd name="T4" fmla="*/ 15 w 385"/>
                <a:gd name="T5" fmla="*/ 13 h 45"/>
                <a:gd name="T6" fmla="*/ 370 w 385"/>
                <a:gd name="T7" fmla="*/ 3 h 45"/>
                <a:gd name="T8" fmla="*/ 385 w 385"/>
                <a:gd name="T9" fmla="*/ 19 h 45"/>
                <a:gd name="T10" fmla="*/ 370 w 385"/>
                <a:gd name="T11" fmla="*/ 34 h 45"/>
                <a:gd name="T12" fmla="*/ 369 w 385"/>
                <a:gd name="T13" fmla="*/ 34 h 45"/>
                <a:gd name="T14" fmla="*/ 17 w 385"/>
                <a:gd name="T15" fmla="*/ 44 h 45"/>
                <a:gd name="T16" fmla="*/ 16 w 385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5" h="45">
                  <a:moveTo>
                    <a:pt x="16" y="45"/>
                  </a:moveTo>
                  <a:cubicBezTo>
                    <a:pt x="8" y="45"/>
                    <a:pt x="1" y="38"/>
                    <a:pt x="0" y="30"/>
                  </a:cubicBezTo>
                  <a:cubicBezTo>
                    <a:pt x="0" y="22"/>
                    <a:pt x="6" y="14"/>
                    <a:pt x="15" y="13"/>
                  </a:cubicBezTo>
                  <a:cubicBezTo>
                    <a:pt x="132" y="3"/>
                    <a:pt x="252" y="0"/>
                    <a:pt x="370" y="3"/>
                  </a:cubicBezTo>
                  <a:cubicBezTo>
                    <a:pt x="379" y="3"/>
                    <a:pt x="385" y="10"/>
                    <a:pt x="385" y="19"/>
                  </a:cubicBezTo>
                  <a:cubicBezTo>
                    <a:pt x="385" y="27"/>
                    <a:pt x="378" y="34"/>
                    <a:pt x="370" y="34"/>
                  </a:cubicBezTo>
                  <a:cubicBezTo>
                    <a:pt x="370" y="34"/>
                    <a:pt x="369" y="34"/>
                    <a:pt x="369" y="34"/>
                  </a:cubicBezTo>
                  <a:cubicBezTo>
                    <a:pt x="252" y="31"/>
                    <a:pt x="134" y="35"/>
                    <a:pt x="17" y="44"/>
                  </a:cubicBezTo>
                  <a:cubicBezTo>
                    <a:pt x="17" y="44"/>
                    <a:pt x="16" y="45"/>
                    <a:pt x="16" y="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3" name="Freeform 84">
              <a:extLst>
                <a:ext uri="{FF2B5EF4-FFF2-40B4-BE49-F238E27FC236}">
                  <a16:creationId xmlns:a16="http://schemas.microsoft.com/office/drawing/2014/main" id="{2ED34EB3-8A55-4EEE-8414-CD69BD6CE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6275" y="5138738"/>
              <a:ext cx="188912" cy="25400"/>
            </a:xfrm>
            <a:custGeom>
              <a:avLst/>
              <a:gdLst>
                <a:gd name="T0" fmla="*/ 16 w 351"/>
                <a:gd name="T1" fmla="*/ 48 h 48"/>
                <a:gd name="T2" fmla="*/ 1 w 351"/>
                <a:gd name="T3" fmla="*/ 34 h 48"/>
                <a:gd name="T4" fmla="*/ 14 w 351"/>
                <a:gd name="T5" fmla="*/ 17 h 48"/>
                <a:gd name="T6" fmla="*/ 336 w 351"/>
                <a:gd name="T7" fmla="*/ 5 h 48"/>
                <a:gd name="T8" fmla="*/ 351 w 351"/>
                <a:gd name="T9" fmla="*/ 21 h 48"/>
                <a:gd name="T10" fmla="*/ 334 w 351"/>
                <a:gd name="T11" fmla="*/ 36 h 48"/>
                <a:gd name="T12" fmla="*/ 18 w 351"/>
                <a:gd name="T13" fmla="*/ 48 h 48"/>
                <a:gd name="T14" fmla="*/ 16 w 351"/>
                <a:gd name="T1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1" h="48">
                  <a:moveTo>
                    <a:pt x="16" y="48"/>
                  </a:moveTo>
                  <a:cubicBezTo>
                    <a:pt x="8" y="48"/>
                    <a:pt x="2" y="42"/>
                    <a:pt x="1" y="34"/>
                  </a:cubicBezTo>
                  <a:cubicBezTo>
                    <a:pt x="0" y="26"/>
                    <a:pt x="6" y="18"/>
                    <a:pt x="14" y="17"/>
                  </a:cubicBezTo>
                  <a:cubicBezTo>
                    <a:pt x="121" y="4"/>
                    <a:pt x="229" y="0"/>
                    <a:pt x="336" y="5"/>
                  </a:cubicBezTo>
                  <a:cubicBezTo>
                    <a:pt x="345" y="6"/>
                    <a:pt x="351" y="13"/>
                    <a:pt x="351" y="21"/>
                  </a:cubicBezTo>
                  <a:cubicBezTo>
                    <a:pt x="350" y="30"/>
                    <a:pt x="343" y="37"/>
                    <a:pt x="334" y="36"/>
                  </a:cubicBezTo>
                  <a:cubicBezTo>
                    <a:pt x="229" y="31"/>
                    <a:pt x="123" y="35"/>
                    <a:pt x="18" y="48"/>
                  </a:cubicBezTo>
                  <a:cubicBezTo>
                    <a:pt x="17" y="48"/>
                    <a:pt x="17" y="48"/>
                    <a:pt x="16" y="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4" name="Freeform 85">
              <a:extLst>
                <a:ext uri="{FF2B5EF4-FFF2-40B4-BE49-F238E27FC236}">
                  <a16:creationId xmlns:a16="http://schemas.microsoft.com/office/drawing/2014/main" id="{898838EA-28DF-4019-AE1D-CEB27048D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7863" y="5184775"/>
              <a:ext cx="179387" cy="25400"/>
            </a:xfrm>
            <a:custGeom>
              <a:avLst/>
              <a:gdLst>
                <a:gd name="T0" fmla="*/ 17 w 337"/>
                <a:gd name="T1" fmla="*/ 47 h 47"/>
                <a:gd name="T2" fmla="*/ 1 w 337"/>
                <a:gd name="T3" fmla="*/ 33 h 47"/>
                <a:gd name="T4" fmla="*/ 15 w 337"/>
                <a:gd name="T5" fmla="*/ 16 h 47"/>
                <a:gd name="T6" fmla="*/ 321 w 337"/>
                <a:gd name="T7" fmla="*/ 3 h 47"/>
                <a:gd name="T8" fmla="*/ 337 w 337"/>
                <a:gd name="T9" fmla="*/ 19 h 47"/>
                <a:gd name="T10" fmla="*/ 321 w 337"/>
                <a:gd name="T11" fmla="*/ 34 h 47"/>
                <a:gd name="T12" fmla="*/ 321 w 337"/>
                <a:gd name="T13" fmla="*/ 34 h 47"/>
                <a:gd name="T14" fmla="*/ 18 w 337"/>
                <a:gd name="T15" fmla="*/ 46 h 47"/>
                <a:gd name="T16" fmla="*/ 17 w 337"/>
                <a:gd name="T17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7" h="47">
                  <a:moveTo>
                    <a:pt x="17" y="47"/>
                  </a:moveTo>
                  <a:cubicBezTo>
                    <a:pt x="9" y="47"/>
                    <a:pt x="2" y="41"/>
                    <a:pt x="1" y="33"/>
                  </a:cubicBezTo>
                  <a:cubicBezTo>
                    <a:pt x="0" y="24"/>
                    <a:pt x="7" y="16"/>
                    <a:pt x="15" y="16"/>
                  </a:cubicBezTo>
                  <a:cubicBezTo>
                    <a:pt x="116" y="5"/>
                    <a:pt x="219" y="0"/>
                    <a:pt x="321" y="3"/>
                  </a:cubicBezTo>
                  <a:cubicBezTo>
                    <a:pt x="330" y="3"/>
                    <a:pt x="337" y="10"/>
                    <a:pt x="337" y="19"/>
                  </a:cubicBezTo>
                  <a:cubicBezTo>
                    <a:pt x="336" y="27"/>
                    <a:pt x="329" y="34"/>
                    <a:pt x="321" y="34"/>
                  </a:cubicBezTo>
                  <a:cubicBezTo>
                    <a:pt x="321" y="34"/>
                    <a:pt x="321" y="34"/>
                    <a:pt x="321" y="34"/>
                  </a:cubicBezTo>
                  <a:cubicBezTo>
                    <a:pt x="220" y="32"/>
                    <a:pt x="118" y="36"/>
                    <a:pt x="18" y="46"/>
                  </a:cubicBezTo>
                  <a:cubicBezTo>
                    <a:pt x="18" y="47"/>
                    <a:pt x="17" y="47"/>
                    <a:pt x="17" y="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5" name="Freeform 86">
              <a:extLst>
                <a:ext uri="{FF2B5EF4-FFF2-40B4-BE49-F238E27FC236}">
                  <a16:creationId xmlns:a16="http://schemas.microsoft.com/office/drawing/2014/main" id="{CEE2C8EC-08C5-4E7B-98DB-C511FF564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5963" y="5230813"/>
              <a:ext cx="115887" cy="41275"/>
            </a:xfrm>
            <a:custGeom>
              <a:avLst/>
              <a:gdLst>
                <a:gd name="T0" fmla="*/ 3 w 217"/>
                <a:gd name="T1" fmla="*/ 6 h 76"/>
                <a:gd name="T2" fmla="*/ 28 w 217"/>
                <a:gd name="T3" fmla="*/ 69 h 76"/>
                <a:gd name="T4" fmla="*/ 67 w 217"/>
                <a:gd name="T5" fmla="*/ 76 h 76"/>
                <a:gd name="T6" fmla="*/ 171 w 217"/>
                <a:gd name="T7" fmla="*/ 69 h 76"/>
                <a:gd name="T8" fmla="*/ 198 w 217"/>
                <a:gd name="T9" fmla="*/ 62 h 76"/>
                <a:gd name="T10" fmla="*/ 216 w 217"/>
                <a:gd name="T11" fmla="*/ 0 h 76"/>
                <a:gd name="T12" fmla="*/ 119 w 217"/>
                <a:gd name="T13" fmla="*/ 18 h 76"/>
                <a:gd name="T14" fmla="*/ 9 w 217"/>
                <a:gd name="T15" fmla="*/ 8 h 76"/>
                <a:gd name="T16" fmla="*/ 3 w 217"/>
                <a:gd name="T17" fmla="*/ 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7" h="76">
                  <a:moveTo>
                    <a:pt x="3" y="6"/>
                  </a:moveTo>
                  <a:cubicBezTo>
                    <a:pt x="0" y="30"/>
                    <a:pt x="7" y="57"/>
                    <a:pt x="28" y="69"/>
                  </a:cubicBezTo>
                  <a:cubicBezTo>
                    <a:pt x="39" y="75"/>
                    <a:pt x="53" y="76"/>
                    <a:pt x="67" y="76"/>
                  </a:cubicBezTo>
                  <a:cubicBezTo>
                    <a:pt x="101" y="76"/>
                    <a:pt x="136" y="73"/>
                    <a:pt x="171" y="69"/>
                  </a:cubicBezTo>
                  <a:cubicBezTo>
                    <a:pt x="180" y="68"/>
                    <a:pt x="190" y="67"/>
                    <a:pt x="198" y="62"/>
                  </a:cubicBezTo>
                  <a:cubicBezTo>
                    <a:pt x="216" y="50"/>
                    <a:pt x="217" y="24"/>
                    <a:pt x="216" y="0"/>
                  </a:cubicBezTo>
                  <a:cubicBezTo>
                    <a:pt x="186" y="14"/>
                    <a:pt x="152" y="16"/>
                    <a:pt x="119" y="18"/>
                  </a:cubicBezTo>
                  <a:cubicBezTo>
                    <a:pt x="82" y="19"/>
                    <a:pt x="44" y="21"/>
                    <a:pt x="9" y="8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Freeform 87">
              <a:extLst>
                <a:ext uri="{FF2B5EF4-FFF2-40B4-BE49-F238E27FC236}">
                  <a16:creationId xmlns:a16="http://schemas.microsoft.com/office/drawing/2014/main" id="{EE463DBE-5A7F-458F-9BF5-62D8CDF786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28025" y="5222875"/>
              <a:ext cx="133350" cy="57150"/>
            </a:xfrm>
            <a:custGeom>
              <a:avLst/>
              <a:gdLst>
                <a:gd name="T0" fmla="*/ 84 w 248"/>
                <a:gd name="T1" fmla="*/ 108 h 108"/>
                <a:gd name="T2" fmla="*/ 81 w 248"/>
                <a:gd name="T3" fmla="*/ 108 h 108"/>
                <a:gd name="T4" fmla="*/ 35 w 248"/>
                <a:gd name="T5" fmla="*/ 98 h 108"/>
                <a:gd name="T6" fmla="*/ 3 w 248"/>
                <a:gd name="T7" fmla="*/ 20 h 108"/>
                <a:gd name="T8" fmla="*/ 20 w 248"/>
                <a:gd name="T9" fmla="*/ 7 h 108"/>
                <a:gd name="T10" fmla="*/ 25 w 248"/>
                <a:gd name="T11" fmla="*/ 8 h 108"/>
                <a:gd name="T12" fmla="*/ 29 w 248"/>
                <a:gd name="T13" fmla="*/ 9 h 108"/>
                <a:gd name="T14" fmla="*/ 134 w 248"/>
                <a:gd name="T15" fmla="*/ 18 h 108"/>
                <a:gd name="T16" fmla="*/ 225 w 248"/>
                <a:gd name="T17" fmla="*/ 2 h 108"/>
                <a:gd name="T18" fmla="*/ 239 w 248"/>
                <a:gd name="T19" fmla="*/ 3 h 108"/>
                <a:gd name="T20" fmla="*/ 247 w 248"/>
                <a:gd name="T21" fmla="*/ 16 h 108"/>
                <a:gd name="T22" fmla="*/ 222 w 248"/>
                <a:gd name="T23" fmla="*/ 91 h 108"/>
                <a:gd name="T24" fmla="*/ 187 w 248"/>
                <a:gd name="T25" fmla="*/ 101 h 108"/>
                <a:gd name="T26" fmla="*/ 84 w 248"/>
                <a:gd name="T27" fmla="*/ 108 h 108"/>
                <a:gd name="T28" fmla="*/ 34 w 248"/>
                <a:gd name="T29" fmla="*/ 43 h 108"/>
                <a:gd name="T30" fmla="*/ 51 w 248"/>
                <a:gd name="T31" fmla="*/ 71 h 108"/>
                <a:gd name="T32" fmla="*/ 82 w 248"/>
                <a:gd name="T33" fmla="*/ 77 h 108"/>
                <a:gd name="T34" fmla="*/ 184 w 248"/>
                <a:gd name="T35" fmla="*/ 70 h 108"/>
                <a:gd name="T36" fmla="*/ 205 w 248"/>
                <a:gd name="T37" fmla="*/ 65 h 108"/>
                <a:gd name="T38" fmla="*/ 215 w 248"/>
                <a:gd name="T39" fmla="*/ 39 h 108"/>
                <a:gd name="T40" fmla="*/ 135 w 248"/>
                <a:gd name="T41" fmla="*/ 49 h 108"/>
                <a:gd name="T42" fmla="*/ 34 w 248"/>
                <a:gd name="T43" fmla="*/ 4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8" h="108">
                  <a:moveTo>
                    <a:pt x="84" y="108"/>
                  </a:moveTo>
                  <a:cubicBezTo>
                    <a:pt x="83" y="108"/>
                    <a:pt x="82" y="108"/>
                    <a:pt x="81" y="108"/>
                  </a:cubicBezTo>
                  <a:cubicBezTo>
                    <a:pt x="67" y="108"/>
                    <a:pt x="50" y="107"/>
                    <a:pt x="35" y="98"/>
                  </a:cubicBezTo>
                  <a:cubicBezTo>
                    <a:pt x="6" y="82"/>
                    <a:pt x="0" y="46"/>
                    <a:pt x="3" y="20"/>
                  </a:cubicBezTo>
                  <a:cubicBezTo>
                    <a:pt x="4" y="12"/>
                    <a:pt x="12" y="6"/>
                    <a:pt x="20" y="7"/>
                  </a:cubicBezTo>
                  <a:cubicBezTo>
                    <a:pt x="22" y="7"/>
                    <a:pt x="23" y="7"/>
                    <a:pt x="25" y="8"/>
                  </a:cubicBezTo>
                  <a:cubicBezTo>
                    <a:pt x="26" y="8"/>
                    <a:pt x="28" y="8"/>
                    <a:pt x="29" y="9"/>
                  </a:cubicBezTo>
                  <a:cubicBezTo>
                    <a:pt x="62" y="21"/>
                    <a:pt x="100" y="20"/>
                    <a:pt x="134" y="18"/>
                  </a:cubicBezTo>
                  <a:cubicBezTo>
                    <a:pt x="165" y="17"/>
                    <a:pt x="197" y="15"/>
                    <a:pt x="225" y="2"/>
                  </a:cubicBezTo>
                  <a:cubicBezTo>
                    <a:pt x="229" y="0"/>
                    <a:pt x="235" y="0"/>
                    <a:pt x="239" y="3"/>
                  </a:cubicBezTo>
                  <a:cubicBezTo>
                    <a:pt x="244" y="6"/>
                    <a:pt x="247" y="11"/>
                    <a:pt x="247" y="16"/>
                  </a:cubicBezTo>
                  <a:cubicBezTo>
                    <a:pt x="247" y="38"/>
                    <a:pt x="248" y="74"/>
                    <a:pt x="222" y="91"/>
                  </a:cubicBezTo>
                  <a:cubicBezTo>
                    <a:pt x="210" y="98"/>
                    <a:pt x="198" y="100"/>
                    <a:pt x="187" y="101"/>
                  </a:cubicBezTo>
                  <a:cubicBezTo>
                    <a:pt x="154" y="104"/>
                    <a:pt x="119" y="108"/>
                    <a:pt x="84" y="108"/>
                  </a:cubicBezTo>
                  <a:close/>
                  <a:moveTo>
                    <a:pt x="34" y="43"/>
                  </a:moveTo>
                  <a:cubicBezTo>
                    <a:pt x="36" y="55"/>
                    <a:pt x="41" y="66"/>
                    <a:pt x="51" y="71"/>
                  </a:cubicBezTo>
                  <a:cubicBezTo>
                    <a:pt x="59" y="76"/>
                    <a:pt x="71" y="77"/>
                    <a:pt x="82" y="77"/>
                  </a:cubicBezTo>
                  <a:cubicBezTo>
                    <a:pt x="116" y="77"/>
                    <a:pt x="150" y="73"/>
                    <a:pt x="184" y="70"/>
                  </a:cubicBezTo>
                  <a:cubicBezTo>
                    <a:pt x="191" y="69"/>
                    <a:pt x="200" y="68"/>
                    <a:pt x="205" y="65"/>
                  </a:cubicBezTo>
                  <a:cubicBezTo>
                    <a:pt x="212" y="60"/>
                    <a:pt x="214" y="51"/>
                    <a:pt x="215" y="39"/>
                  </a:cubicBezTo>
                  <a:cubicBezTo>
                    <a:pt x="189" y="47"/>
                    <a:pt x="161" y="48"/>
                    <a:pt x="135" y="49"/>
                  </a:cubicBezTo>
                  <a:cubicBezTo>
                    <a:pt x="103" y="51"/>
                    <a:pt x="68" y="52"/>
                    <a:pt x="34" y="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7" name="Freeform 88">
              <a:extLst>
                <a:ext uri="{FF2B5EF4-FFF2-40B4-BE49-F238E27FC236}">
                  <a16:creationId xmlns:a16="http://schemas.microsoft.com/office/drawing/2014/main" id="{237ADDBE-38B8-4E65-BDE7-8FE920C1E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5813" y="4368800"/>
              <a:ext cx="17462" cy="101600"/>
            </a:xfrm>
            <a:custGeom>
              <a:avLst/>
              <a:gdLst>
                <a:gd name="T0" fmla="*/ 15 w 33"/>
                <a:gd name="T1" fmla="*/ 188 h 188"/>
                <a:gd name="T2" fmla="*/ 15 w 33"/>
                <a:gd name="T3" fmla="*/ 188 h 188"/>
                <a:gd name="T4" fmla="*/ 0 w 33"/>
                <a:gd name="T5" fmla="*/ 172 h 188"/>
                <a:gd name="T6" fmla="*/ 2 w 33"/>
                <a:gd name="T7" fmla="*/ 15 h 188"/>
                <a:gd name="T8" fmla="*/ 18 w 33"/>
                <a:gd name="T9" fmla="*/ 0 h 188"/>
                <a:gd name="T10" fmla="*/ 33 w 33"/>
                <a:gd name="T11" fmla="*/ 16 h 188"/>
                <a:gd name="T12" fmla="*/ 31 w 33"/>
                <a:gd name="T13" fmla="*/ 173 h 188"/>
                <a:gd name="T14" fmla="*/ 15 w 33"/>
                <a:gd name="T15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88">
                  <a:moveTo>
                    <a:pt x="15" y="188"/>
                  </a:moveTo>
                  <a:cubicBezTo>
                    <a:pt x="15" y="188"/>
                    <a:pt x="15" y="188"/>
                    <a:pt x="15" y="188"/>
                  </a:cubicBezTo>
                  <a:cubicBezTo>
                    <a:pt x="7" y="188"/>
                    <a:pt x="0" y="181"/>
                    <a:pt x="0" y="17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7"/>
                    <a:pt x="9" y="0"/>
                    <a:pt x="18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1" y="173"/>
                    <a:pt x="31" y="173"/>
                    <a:pt x="31" y="173"/>
                  </a:cubicBezTo>
                  <a:cubicBezTo>
                    <a:pt x="31" y="181"/>
                    <a:pt x="24" y="188"/>
                    <a:pt x="15" y="1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8" name="Freeform 89">
              <a:extLst>
                <a:ext uri="{FF2B5EF4-FFF2-40B4-BE49-F238E27FC236}">
                  <a16:creationId xmlns:a16="http://schemas.microsoft.com/office/drawing/2014/main" id="{68508EBC-282E-4080-B743-A07A2C85E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350" y="4489450"/>
              <a:ext cx="98425" cy="84138"/>
            </a:xfrm>
            <a:custGeom>
              <a:avLst/>
              <a:gdLst>
                <a:gd name="T0" fmla="*/ 17 w 184"/>
                <a:gd name="T1" fmla="*/ 156 h 156"/>
                <a:gd name="T2" fmla="*/ 5 w 184"/>
                <a:gd name="T3" fmla="*/ 150 h 156"/>
                <a:gd name="T4" fmla="*/ 8 w 184"/>
                <a:gd name="T5" fmla="*/ 128 h 156"/>
                <a:gd name="T6" fmla="*/ 157 w 184"/>
                <a:gd name="T7" fmla="*/ 6 h 156"/>
                <a:gd name="T8" fmla="*/ 179 w 184"/>
                <a:gd name="T9" fmla="*/ 8 h 156"/>
                <a:gd name="T10" fmla="*/ 177 w 184"/>
                <a:gd name="T11" fmla="*/ 30 h 156"/>
                <a:gd name="T12" fmla="*/ 27 w 184"/>
                <a:gd name="T13" fmla="*/ 152 h 156"/>
                <a:gd name="T14" fmla="*/ 17 w 184"/>
                <a:gd name="T1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156">
                  <a:moveTo>
                    <a:pt x="17" y="156"/>
                  </a:moveTo>
                  <a:cubicBezTo>
                    <a:pt x="13" y="156"/>
                    <a:pt x="8" y="154"/>
                    <a:pt x="5" y="150"/>
                  </a:cubicBezTo>
                  <a:cubicBezTo>
                    <a:pt x="0" y="143"/>
                    <a:pt x="1" y="133"/>
                    <a:pt x="8" y="128"/>
                  </a:cubicBezTo>
                  <a:cubicBezTo>
                    <a:pt x="58" y="89"/>
                    <a:pt x="108" y="48"/>
                    <a:pt x="157" y="6"/>
                  </a:cubicBezTo>
                  <a:cubicBezTo>
                    <a:pt x="163" y="0"/>
                    <a:pt x="173" y="1"/>
                    <a:pt x="179" y="8"/>
                  </a:cubicBezTo>
                  <a:cubicBezTo>
                    <a:pt x="184" y="14"/>
                    <a:pt x="183" y="24"/>
                    <a:pt x="177" y="30"/>
                  </a:cubicBezTo>
                  <a:cubicBezTo>
                    <a:pt x="128" y="72"/>
                    <a:pt x="78" y="113"/>
                    <a:pt x="27" y="152"/>
                  </a:cubicBezTo>
                  <a:cubicBezTo>
                    <a:pt x="24" y="155"/>
                    <a:pt x="21" y="156"/>
                    <a:pt x="17" y="1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9" name="Freeform 90">
              <a:extLst>
                <a:ext uri="{FF2B5EF4-FFF2-40B4-BE49-F238E27FC236}">
                  <a16:creationId xmlns:a16="http://schemas.microsoft.com/office/drawing/2014/main" id="{DB18DBAA-6258-4E05-B113-7D5F39D65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9975" y="4964113"/>
              <a:ext cx="88900" cy="60325"/>
            </a:xfrm>
            <a:custGeom>
              <a:avLst/>
              <a:gdLst>
                <a:gd name="T0" fmla="*/ 149 w 166"/>
                <a:gd name="T1" fmla="*/ 111 h 111"/>
                <a:gd name="T2" fmla="*/ 141 w 166"/>
                <a:gd name="T3" fmla="*/ 109 h 111"/>
                <a:gd name="T4" fmla="*/ 10 w 166"/>
                <a:gd name="T5" fmla="*/ 31 h 111"/>
                <a:gd name="T6" fmla="*/ 5 w 166"/>
                <a:gd name="T7" fmla="*/ 9 h 111"/>
                <a:gd name="T8" fmla="*/ 26 w 166"/>
                <a:gd name="T9" fmla="*/ 4 h 111"/>
                <a:gd name="T10" fmla="*/ 156 w 166"/>
                <a:gd name="T11" fmla="*/ 82 h 111"/>
                <a:gd name="T12" fmla="*/ 162 w 166"/>
                <a:gd name="T13" fmla="*/ 103 h 111"/>
                <a:gd name="T14" fmla="*/ 149 w 166"/>
                <a:gd name="T1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6" h="111">
                  <a:moveTo>
                    <a:pt x="149" y="111"/>
                  </a:moveTo>
                  <a:cubicBezTo>
                    <a:pt x="146" y="111"/>
                    <a:pt x="143" y="110"/>
                    <a:pt x="141" y="109"/>
                  </a:cubicBezTo>
                  <a:cubicBezTo>
                    <a:pt x="97" y="84"/>
                    <a:pt x="53" y="57"/>
                    <a:pt x="10" y="31"/>
                  </a:cubicBezTo>
                  <a:cubicBezTo>
                    <a:pt x="2" y="26"/>
                    <a:pt x="0" y="17"/>
                    <a:pt x="5" y="9"/>
                  </a:cubicBezTo>
                  <a:cubicBezTo>
                    <a:pt x="9" y="2"/>
                    <a:pt x="19" y="0"/>
                    <a:pt x="26" y="4"/>
                  </a:cubicBezTo>
                  <a:cubicBezTo>
                    <a:pt x="69" y="31"/>
                    <a:pt x="113" y="57"/>
                    <a:pt x="156" y="82"/>
                  </a:cubicBezTo>
                  <a:cubicBezTo>
                    <a:pt x="164" y="86"/>
                    <a:pt x="166" y="96"/>
                    <a:pt x="162" y="103"/>
                  </a:cubicBezTo>
                  <a:cubicBezTo>
                    <a:pt x="159" y="108"/>
                    <a:pt x="154" y="111"/>
                    <a:pt x="149" y="1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0" name="Freeform 91">
              <a:extLst>
                <a:ext uri="{FF2B5EF4-FFF2-40B4-BE49-F238E27FC236}">
                  <a16:creationId xmlns:a16="http://schemas.microsoft.com/office/drawing/2014/main" id="{BEB91FD1-6F90-48A2-AE6D-3795FD64F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2600" y="4468813"/>
              <a:ext cx="61912" cy="88900"/>
            </a:xfrm>
            <a:custGeom>
              <a:avLst/>
              <a:gdLst>
                <a:gd name="T0" fmla="*/ 96 w 114"/>
                <a:gd name="T1" fmla="*/ 165 h 165"/>
                <a:gd name="T2" fmla="*/ 83 w 114"/>
                <a:gd name="T3" fmla="*/ 157 h 165"/>
                <a:gd name="T4" fmla="*/ 4 w 114"/>
                <a:gd name="T5" fmla="*/ 25 h 165"/>
                <a:gd name="T6" fmla="*/ 10 w 114"/>
                <a:gd name="T7" fmla="*/ 4 h 165"/>
                <a:gd name="T8" fmla="*/ 31 w 114"/>
                <a:gd name="T9" fmla="*/ 9 h 165"/>
                <a:gd name="T10" fmla="*/ 109 w 114"/>
                <a:gd name="T11" fmla="*/ 142 h 165"/>
                <a:gd name="T12" fmla="*/ 104 w 114"/>
                <a:gd name="T13" fmla="*/ 163 h 165"/>
                <a:gd name="T14" fmla="*/ 96 w 114"/>
                <a:gd name="T15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65">
                  <a:moveTo>
                    <a:pt x="96" y="165"/>
                  </a:moveTo>
                  <a:cubicBezTo>
                    <a:pt x="91" y="165"/>
                    <a:pt x="86" y="162"/>
                    <a:pt x="83" y="157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0" y="18"/>
                    <a:pt x="2" y="8"/>
                    <a:pt x="10" y="4"/>
                  </a:cubicBezTo>
                  <a:cubicBezTo>
                    <a:pt x="17" y="0"/>
                    <a:pt x="27" y="2"/>
                    <a:pt x="31" y="9"/>
                  </a:cubicBezTo>
                  <a:cubicBezTo>
                    <a:pt x="109" y="142"/>
                    <a:pt x="109" y="142"/>
                    <a:pt x="109" y="142"/>
                  </a:cubicBezTo>
                  <a:cubicBezTo>
                    <a:pt x="114" y="149"/>
                    <a:pt x="111" y="158"/>
                    <a:pt x="104" y="163"/>
                  </a:cubicBezTo>
                  <a:cubicBezTo>
                    <a:pt x="101" y="164"/>
                    <a:pt x="99" y="165"/>
                    <a:pt x="96" y="1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1" name="Freeform 92">
              <a:extLst>
                <a:ext uri="{FF2B5EF4-FFF2-40B4-BE49-F238E27FC236}">
                  <a16:creationId xmlns:a16="http://schemas.microsoft.com/office/drawing/2014/main" id="{877EBB61-30B6-4BE3-BBA4-A53749055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4718050"/>
              <a:ext cx="88900" cy="36513"/>
            </a:xfrm>
            <a:custGeom>
              <a:avLst/>
              <a:gdLst>
                <a:gd name="T0" fmla="*/ 149 w 166"/>
                <a:gd name="T1" fmla="*/ 69 h 69"/>
                <a:gd name="T2" fmla="*/ 145 w 166"/>
                <a:gd name="T3" fmla="*/ 68 h 69"/>
                <a:gd name="T4" fmla="*/ 14 w 166"/>
                <a:gd name="T5" fmla="*/ 33 h 69"/>
                <a:gd name="T6" fmla="*/ 3 w 166"/>
                <a:gd name="T7" fmla="*/ 14 h 69"/>
                <a:gd name="T8" fmla="*/ 22 w 166"/>
                <a:gd name="T9" fmla="*/ 3 h 69"/>
                <a:gd name="T10" fmla="*/ 153 w 166"/>
                <a:gd name="T11" fmla="*/ 38 h 69"/>
                <a:gd name="T12" fmla="*/ 164 w 166"/>
                <a:gd name="T13" fmla="*/ 57 h 69"/>
                <a:gd name="T14" fmla="*/ 149 w 166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6" h="69">
                  <a:moveTo>
                    <a:pt x="149" y="69"/>
                  </a:moveTo>
                  <a:cubicBezTo>
                    <a:pt x="148" y="69"/>
                    <a:pt x="146" y="68"/>
                    <a:pt x="145" y="68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5" y="31"/>
                    <a:pt x="0" y="22"/>
                    <a:pt x="3" y="14"/>
                  </a:cubicBezTo>
                  <a:cubicBezTo>
                    <a:pt x="5" y="5"/>
                    <a:pt x="13" y="0"/>
                    <a:pt x="22" y="3"/>
                  </a:cubicBezTo>
                  <a:cubicBezTo>
                    <a:pt x="153" y="38"/>
                    <a:pt x="153" y="38"/>
                    <a:pt x="153" y="38"/>
                  </a:cubicBezTo>
                  <a:cubicBezTo>
                    <a:pt x="161" y="40"/>
                    <a:pt x="166" y="49"/>
                    <a:pt x="164" y="57"/>
                  </a:cubicBezTo>
                  <a:cubicBezTo>
                    <a:pt x="162" y="64"/>
                    <a:pt x="156" y="69"/>
                    <a:pt x="149" y="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2" name="Freeform 93">
              <a:extLst>
                <a:ext uri="{FF2B5EF4-FFF2-40B4-BE49-F238E27FC236}">
                  <a16:creationId xmlns:a16="http://schemas.microsoft.com/office/drawing/2014/main" id="{25870C8C-A2EE-46D6-BE7C-A97C96EE3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3850" y="4959350"/>
              <a:ext cx="84137" cy="63500"/>
            </a:xfrm>
            <a:custGeom>
              <a:avLst/>
              <a:gdLst>
                <a:gd name="T0" fmla="*/ 18 w 156"/>
                <a:gd name="T1" fmla="*/ 119 h 119"/>
                <a:gd name="T2" fmla="*/ 5 w 156"/>
                <a:gd name="T3" fmla="*/ 112 h 119"/>
                <a:gd name="T4" fmla="*/ 8 w 156"/>
                <a:gd name="T5" fmla="*/ 90 h 119"/>
                <a:gd name="T6" fmla="*/ 129 w 156"/>
                <a:gd name="T7" fmla="*/ 5 h 119"/>
                <a:gd name="T8" fmla="*/ 151 w 156"/>
                <a:gd name="T9" fmla="*/ 9 h 119"/>
                <a:gd name="T10" fmla="*/ 147 w 156"/>
                <a:gd name="T11" fmla="*/ 30 h 119"/>
                <a:gd name="T12" fmla="*/ 27 w 156"/>
                <a:gd name="T13" fmla="*/ 115 h 119"/>
                <a:gd name="T14" fmla="*/ 18 w 156"/>
                <a:gd name="T1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6" h="119">
                  <a:moveTo>
                    <a:pt x="18" y="119"/>
                  </a:moveTo>
                  <a:cubicBezTo>
                    <a:pt x="13" y="119"/>
                    <a:pt x="8" y="116"/>
                    <a:pt x="5" y="112"/>
                  </a:cubicBezTo>
                  <a:cubicBezTo>
                    <a:pt x="0" y="105"/>
                    <a:pt x="1" y="95"/>
                    <a:pt x="8" y="90"/>
                  </a:cubicBezTo>
                  <a:cubicBezTo>
                    <a:pt x="48" y="61"/>
                    <a:pt x="89" y="32"/>
                    <a:pt x="129" y="5"/>
                  </a:cubicBezTo>
                  <a:cubicBezTo>
                    <a:pt x="137" y="0"/>
                    <a:pt x="146" y="2"/>
                    <a:pt x="151" y="9"/>
                  </a:cubicBezTo>
                  <a:cubicBezTo>
                    <a:pt x="156" y="16"/>
                    <a:pt x="154" y="25"/>
                    <a:pt x="147" y="30"/>
                  </a:cubicBezTo>
                  <a:cubicBezTo>
                    <a:pt x="107" y="58"/>
                    <a:pt x="66" y="87"/>
                    <a:pt x="27" y="115"/>
                  </a:cubicBezTo>
                  <a:cubicBezTo>
                    <a:pt x="24" y="118"/>
                    <a:pt x="21" y="119"/>
                    <a:pt x="18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3" name="Freeform 94">
              <a:extLst>
                <a:ext uri="{FF2B5EF4-FFF2-40B4-BE49-F238E27FC236}">
                  <a16:creationId xmlns:a16="http://schemas.microsoft.com/office/drawing/2014/main" id="{137F17B7-4586-405D-909F-CDC1E6766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9663" y="4749800"/>
              <a:ext cx="93662" cy="17463"/>
            </a:xfrm>
            <a:custGeom>
              <a:avLst/>
              <a:gdLst>
                <a:gd name="T0" fmla="*/ 15 w 177"/>
                <a:gd name="T1" fmla="*/ 33 h 33"/>
                <a:gd name="T2" fmla="*/ 0 w 177"/>
                <a:gd name="T3" fmla="*/ 17 h 33"/>
                <a:gd name="T4" fmla="*/ 15 w 177"/>
                <a:gd name="T5" fmla="*/ 2 h 33"/>
                <a:gd name="T6" fmla="*/ 162 w 177"/>
                <a:gd name="T7" fmla="*/ 0 h 33"/>
                <a:gd name="T8" fmla="*/ 162 w 177"/>
                <a:gd name="T9" fmla="*/ 0 h 33"/>
                <a:gd name="T10" fmla="*/ 177 w 177"/>
                <a:gd name="T11" fmla="*/ 16 h 33"/>
                <a:gd name="T12" fmla="*/ 162 w 177"/>
                <a:gd name="T13" fmla="*/ 32 h 33"/>
                <a:gd name="T14" fmla="*/ 15 w 177"/>
                <a:gd name="T15" fmla="*/ 33 h 33"/>
                <a:gd name="T16" fmla="*/ 15 w 177"/>
                <a:gd name="T1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" h="33">
                  <a:moveTo>
                    <a:pt x="15" y="33"/>
                  </a:moveTo>
                  <a:cubicBezTo>
                    <a:pt x="7" y="33"/>
                    <a:pt x="0" y="26"/>
                    <a:pt x="0" y="17"/>
                  </a:cubicBezTo>
                  <a:cubicBezTo>
                    <a:pt x="0" y="9"/>
                    <a:pt x="6" y="2"/>
                    <a:pt x="15" y="2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70" y="0"/>
                    <a:pt x="177" y="7"/>
                    <a:pt x="177" y="16"/>
                  </a:cubicBezTo>
                  <a:cubicBezTo>
                    <a:pt x="177" y="24"/>
                    <a:pt x="170" y="31"/>
                    <a:pt x="162" y="32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4" name="Freeform 95">
              <a:extLst>
                <a:ext uri="{FF2B5EF4-FFF2-40B4-BE49-F238E27FC236}">
                  <a16:creationId xmlns:a16="http://schemas.microsoft.com/office/drawing/2014/main" id="{020B2620-9366-4F2A-B8CC-E2599BDD0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000" y="4614863"/>
              <a:ext cx="109537" cy="182563"/>
            </a:xfrm>
            <a:custGeom>
              <a:avLst/>
              <a:gdLst>
                <a:gd name="T0" fmla="*/ 16 w 206"/>
                <a:gd name="T1" fmla="*/ 341 h 341"/>
                <a:gd name="T2" fmla="*/ 15 w 206"/>
                <a:gd name="T3" fmla="*/ 341 h 341"/>
                <a:gd name="T4" fmla="*/ 1 w 206"/>
                <a:gd name="T5" fmla="*/ 324 h 341"/>
                <a:gd name="T6" fmla="*/ 179 w 206"/>
                <a:gd name="T7" fmla="*/ 5 h 341"/>
                <a:gd name="T8" fmla="*/ 201 w 206"/>
                <a:gd name="T9" fmla="*/ 8 h 341"/>
                <a:gd name="T10" fmla="*/ 198 w 206"/>
                <a:gd name="T11" fmla="*/ 30 h 341"/>
                <a:gd name="T12" fmla="*/ 32 w 206"/>
                <a:gd name="T13" fmla="*/ 327 h 341"/>
                <a:gd name="T14" fmla="*/ 16 w 206"/>
                <a:gd name="T15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6" h="341">
                  <a:moveTo>
                    <a:pt x="16" y="341"/>
                  </a:moveTo>
                  <a:cubicBezTo>
                    <a:pt x="16" y="341"/>
                    <a:pt x="15" y="341"/>
                    <a:pt x="15" y="341"/>
                  </a:cubicBezTo>
                  <a:cubicBezTo>
                    <a:pt x="6" y="340"/>
                    <a:pt x="0" y="333"/>
                    <a:pt x="1" y="324"/>
                  </a:cubicBezTo>
                  <a:cubicBezTo>
                    <a:pt x="13" y="200"/>
                    <a:pt x="80" y="81"/>
                    <a:pt x="179" y="5"/>
                  </a:cubicBezTo>
                  <a:cubicBezTo>
                    <a:pt x="186" y="0"/>
                    <a:pt x="196" y="1"/>
                    <a:pt x="201" y="8"/>
                  </a:cubicBezTo>
                  <a:cubicBezTo>
                    <a:pt x="206" y="15"/>
                    <a:pt x="205" y="25"/>
                    <a:pt x="198" y="30"/>
                  </a:cubicBezTo>
                  <a:cubicBezTo>
                    <a:pt x="106" y="100"/>
                    <a:pt x="43" y="211"/>
                    <a:pt x="32" y="327"/>
                  </a:cubicBezTo>
                  <a:cubicBezTo>
                    <a:pt x="31" y="335"/>
                    <a:pt x="24" y="341"/>
                    <a:pt x="16" y="34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5" name="Freeform 96">
              <a:extLst>
                <a:ext uri="{FF2B5EF4-FFF2-40B4-BE49-F238E27FC236}">
                  <a16:creationId xmlns:a16="http://schemas.microsoft.com/office/drawing/2014/main" id="{BFA6ACB3-6AEF-4E05-8A73-D9069F0B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4713" y="4814888"/>
              <a:ext cx="122237" cy="185738"/>
            </a:xfrm>
            <a:custGeom>
              <a:avLst/>
              <a:gdLst>
                <a:gd name="T0" fmla="*/ 18 w 229"/>
                <a:gd name="T1" fmla="*/ 347 h 347"/>
                <a:gd name="T2" fmla="*/ 5 w 229"/>
                <a:gd name="T3" fmla="*/ 340 h 347"/>
                <a:gd name="T4" fmla="*/ 10 w 229"/>
                <a:gd name="T5" fmla="*/ 318 h 347"/>
                <a:gd name="T6" fmla="*/ 197 w 229"/>
                <a:gd name="T7" fmla="*/ 15 h 347"/>
                <a:gd name="T8" fmla="*/ 214 w 229"/>
                <a:gd name="T9" fmla="*/ 1 h 347"/>
                <a:gd name="T10" fmla="*/ 228 w 229"/>
                <a:gd name="T11" fmla="*/ 18 h 347"/>
                <a:gd name="T12" fmla="*/ 26 w 229"/>
                <a:gd name="T13" fmla="*/ 345 h 347"/>
                <a:gd name="T14" fmla="*/ 18 w 229"/>
                <a:gd name="T15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347">
                  <a:moveTo>
                    <a:pt x="18" y="347"/>
                  </a:moveTo>
                  <a:cubicBezTo>
                    <a:pt x="13" y="347"/>
                    <a:pt x="8" y="345"/>
                    <a:pt x="5" y="340"/>
                  </a:cubicBezTo>
                  <a:cubicBezTo>
                    <a:pt x="0" y="333"/>
                    <a:pt x="2" y="323"/>
                    <a:pt x="10" y="318"/>
                  </a:cubicBezTo>
                  <a:cubicBezTo>
                    <a:pt x="113" y="253"/>
                    <a:pt x="185" y="137"/>
                    <a:pt x="197" y="15"/>
                  </a:cubicBezTo>
                  <a:cubicBezTo>
                    <a:pt x="198" y="6"/>
                    <a:pt x="206" y="0"/>
                    <a:pt x="214" y="1"/>
                  </a:cubicBezTo>
                  <a:cubicBezTo>
                    <a:pt x="223" y="2"/>
                    <a:pt x="229" y="9"/>
                    <a:pt x="228" y="18"/>
                  </a:cubicBezTo>
                  <a:cubicBezTo>
                    <a:pt x="215" y="149"/>
                    <a:pt x="138" y="275"/>
                    <a:pt x="26" y="345"/>
                  </a:cubicBezTo>
                  <a:cubicBezTo>
                    <a:pt x="24" y="346"/>
                    <a:pt x="21" y="347"/>
                    <a:pt x="18" y="347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6" name="Freeform 97">
              <a:extLst>
                <a:ext uri="{FF2B5EF4-FFF2-40B4-BE49-F238E27FC236}">
                  <a16:creationId xmlns:a16="http://schemas.microsoft.com/office/drawing/2014/main" id="{535F8D13-26B2-400C-B94E-23384D8B0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6300" y="4791075"/>
              <a:ext cx="153987" cy="214313"/>
            </a:xfrm>
            <a:custGeom>
              <a:avLst/>
              <a:gdLst>
                <a:gd name="T0" fmla="*/ 18 w 288"/>
                <a:gd name="T1" fmla="*/ 400 h 400"/>
                <a:gd name="T2" fmla="*/ 3 w 288"/>
                <a:gd name="T3" fmla="*/ 390 h 400"/>
                <a:gd name="T4" fmla="*/ 12 w 288"/>
                <a:gd name="T5" fmla="*/ 370 h 400"/>
                <a:gd name="T6" fmla="*/ 257 w 288"/>
                <a:gd name="T7" fmla="*/ 15 h 400"/>
                <a:gd name="T8" fmla="*/ 273 w 288"/>
                <a:gd name="T9" fmla="*/ 0 h 400"/>
                <a:gd name="T10" fmla="*/ 288 w 288"/>
                <a:gd name="T11" fmla="*/ 16 h 400"/>
                <a:gd name="T12" fmla="*/ 211 w 288"/>
                <a:gd name="T13" fmla="*/ 246 h 400"/>
                <a:gd name="T14" fmla="*/ 24 w 288"/>
                <a:gd name="T15" fmla="*/ 398 h 400"/>
                <a:gd name="T16" fmla="*/ 18 w 288"/>
                <a:gd name="T17" fmla="*/ 40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400">
                  <a:moveTo>
                    <a:pt x="18" y="400"/>
                  </a:moveTo>
                  <a:cubicBezTo>
                    <a:pt x="12" y="400"/>
                    <a:pt x="6" y="396"/>
                    <a:pt x="3" y="390"/>
                  </a:cubicBezTo>
                  <a:cubicBezTo>
                    <a:pt x="0" y="382"/>
                    <a:pt x="4" y="373"/>
                    <a:pt x="12" y="370"/>
                  </a:cubicBezTo>
                  <a:cubicBezTo>
                    <a:pt x="152" y="312"/>
                    <a:pt x="253" y="167"/>
                    <a:pt x="257" y="15"/>
                  </a:cubicBezTo>
                  <a:cubicBezTo>
                    <a:pt x="257" y="7"/>
                    <a:pt x="264" y="0"/>
                    <a:pt x="273" y="0"/>
                  </a:cubicBezTo>
                  <a:cubicBezTo>
                    <a:pt x="282" y="1"/>
                    <a:pt x="288" y="8"/>
                    <a:pt x="288" y="16"/>
                  </a:cubicBezTo>
                  <a:cubicBezTo>
                    <a:pt x="286" y="97"/>
                    <a:pt x="259" y="176"/>
                    <a:pt x="211" y="246"/>
                  </a:cubicBezTo>
                  <a:cubicBezTo>
                    <a:pt x="163" y="315"/>
                    <a:pt x="98" y="368"/>
                    <a:pt x="24" y="398"/>
                  </a:cubicBezTo>
                  <a:cubicBezTo>
                    <a:pt x="22" y="399"/>
                    <a:pt x="20" y="400"/>
                    <a:pt x="18" y="40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9AE235E-A76C-4DEC-BA13-C200FED6BC43}"/>
              </a:ext>
            </a:extLst>
          </p:cNvPr>
          <p:cNvSpPr/>
          <p:nvPr/>
        </p:nvSpPr>
        <p:spPr>
          <a:xfrm>
            <a:off x="7934400" y="1294077"/>
            <a:ext cx="692467" cy="705923"/>
          </a:xfrm>
          <a:prstGeom prst="rect">
            <a:avLst/>
          </a:prstGeom>
          <a:blipFill dpi="0" rotWithShape="1">
            <a:blip r:embed="rId4">
              <a:alphaModFix amt="9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8" name="양쪽 모서리가 둥근 사각형 32">
            <a:extLst>
              <a:ext uri="{FF2B5EF4-FFF2-40B4-BE49-F238E27FC236}">
                <a16:creationId xmlns:a16="http://schemas.microsoft.com/office/drawing/2014/main" id="{79C51278-4ED0-454E-A22A-83A075B0C8C2}"/>
              </a:ext>
            </a:extLst>
          </p:cNvPr>
          <p:cNvSpPr/>
          <p:nvPr/>
        </p:nvSpPr>
        <p:spPr>
          <a:xfrm>
            <a:off x="216132" y="2688164"/>
            <a:ext cx="4278559" cy="384217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변전소 변압기 용량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(MVA)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A40C642-6F38-4B26-A35F-5ACA4ADEAC2F}"/>
              </a:ext>
            </a:extLst>
          </p:cNvPr>
          <p:cNvGrpSpPr/>
          <p:nvPr/>
        </p:nvGrpSpPr>
        <p:grpSpPr>
          <a:xfrm>
            <a:off x="4900098" y="1520649"/>
            <a:ext cx="263929" cy="263929"/>
            <a:chOff x="6120552" y="3431625"/>
            <a:chExt cx="193548" cy="193548"/>
          </a:xfrm>
        </p:grpSpPr>
        <p:sp>
          <p:nvSpPr>
            <p:cNvPr id="50" name="Oval 29">
              <a:extLst>
                <a:ext uri="{FF2B5EF4-FFF2-40B4-BE49-F238E27FC236}">
                  <a16:creationId xmlns:a16="http://schemas.microsoft.com/office/drawing/2014/main" id="{FDBC52FE-EBC9-47F3-B02E-DAB4732CD25A}"/>
                </a:ext>
              </a:extLst>
            </p:cNvPr>
            <p:cNvSpPr/>
            <p:nvPr/>
          </p:nvSpPr>
          <p:spPr>
            <a:xfrm rot="5400000" flipV="1">
              <a:off x="6120552" y="3431625"/>
              <a:ext cx="193548" cy="193548"/>
            </a:xfrm>
            <a:prstGeom prst="ellipse">
              <a:avLst/>
            </a:prstGeom>
            <a:noFill/>
            <a:ln w="12700" cap="flat" cmpd="sng" algn="ctr">
              <a:solidFill>
                <a:srgbClr val="0A306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1" name="자유형: 도형 30">
              <a:extLst>
                <a:ext uri="{FF2B5EF4-FFF2-40B4-BE49-F238E27FC236}">
                  <a16:creationId xmlns:a16="http://schemas.microsoft.com/office/drawing/2014/main" id="{D5CB0053-817D-4407-B185-D99E4CBE9B15}"/>
                </a:ext>
              </a:extLst>
            </p:cNvPr>
            <p:cNvSpPr/>
            <p:nvPr/>
          </p:nvSpPr>
          <p:spPr>
            <a:xfrm>
              <a:off x="6163749" y="3492681"/>
              <a:ext cx="107155" cy="71437"/>
            </a:xfrm>
            <a:custGeom>
              <a:avLst/>
              <a:gdLst>
                <a:gd name="connsiteX0" fmla="*/ 0 w 107155"/>
                <a:gd name="connsiteY0" fmla="*/ 35719 h 71437"/>
                <a:gd name="connsiteX1" fmla="*/ 35718 w 107155"/>
                <a:gd name="connsiteY1" fmla="*/ 71437 h 71437"/>
                <a:gd name="connsiteX2" fmla="*/ 107155 w 107155"/>
                <a:gd name="connsiteY2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7155" h="71437">
                  <a:moveTo>
                    <a:pt x="0" y="35719"/>
                  </a:moveTo>
                  <a:lnTo>
                    <a:pt x="35718" y="71437"/>
                  </a:lnTo>
                  <a:lnTo>
                    <a:pt x="107155" y="0"/>
                  </a:lnTo>
                </a:path>
              </a:pathLst>
            </a:custGeom>
            <a:noFill/>
            <a:ln w="12700" cap="flat" cmpd="sng" algn="ctr">
              <a:solidFill>
                <a:srgbClr val="0A306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6C7DBE-BB8F-4087-BA64-C8EA614B01AC}"/>
              </a:ext>
            </a:extLst>
          </p:cNvPr>
          <p:cNvGrpSpPr/>
          <p:nvPr/>
        </p:nvGrpSpPr>
        <p:grpSpPr>
          <a:xfrm>
            <a:off x="3259521" y="2270435"/>
            <a:ext cx="2624959" cy="338554"/>
            <a:chOff x="3598040" y="2170594"/>
            <a:chExt cx="2624959" cy="33855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E2EF6C6-A9C0-4223-89EF-E99EEF47939B}"/>
                </a:ext>
              </a:extLst>
            </p:cNvPr>
            <p:cNvSpPr/>
            <p:nvPr/>
          </p:nvSpPr>
          <p:spPr>
            <a:xfrm>
              <a:off x="3902060" y="2170594"/>
              <a:ext cx="232093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600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변전소 변압기 현황 추이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BA80791-D16B-417B-8ABD-D929A708FE29}"/>
                </a:ext>
              </a:extLst>
            </p:cNvPr>
            <p:cNvGrpSpPr/>
            <p:nvPr/>
          </p:nvGrpSpPr>
          <p:grpSpPr>
            <a:xfrm>
              <a:off x="3598040" y="2226374"/>
              <a:ext cx="210105" cy="239969"/>
              <a:chOff x="6120552" y="3431625"/>
              <a:chExt cx="193548" cy="193548"/>
            </a:xfrm>
          </p:grpSpPr>
          <p:sp>
            <p:nvSpPr>
              <p:cNvPr id="53" name="Oval 29">
                <a:extLst>
                  <a:ext uri="{FF2B5EF4-FFF2-40B4-BE49-F238E27FC236}">
                    <a16:creationId xmlns:a16="http://schemas.microsoft.com/office/drawing/2014/main" id="{17D715E2-42F3-49C1-8FC0-706D74EB57B8}"/>
                  </a:ext>
                </a:extLst>
              </p:cNvPr>
              <p:cNvSpPr/>
              <p:nvPr/>
            </p:nvSpPr>
            <p:spPr>
              <a:xfrm rot="5400000" flipV="1">
                <a:off x="6120552" y="3431625"/>
                <a:ext cx="193548" cy="193548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4" name="자유형: 도형 30">
                <a:extLst>
                  <a:ext uri="{FF2B5EF4-FFF2-40B4-BE49-F238E27FC236}">
                    <a16:creationId xmlns:a16="http://schemas.microsoft.com/office/drawing/2014/main" id="{AB43DDB1-EBB3-4DAC-AEB6-9B719B900420}"/>
                  </a:ext>
                </a:extLst>
              </p:cNvPr>
              <p:cNvSpPr/>
              <p:nvPr/>
            </p:nvSpPr>
            <p:spPr>
              <a:xfrm>
                <a:off x="6163749" y="3492681"/>
                <a:ext cx="107155" cy="71437"/>
              </a:xfrm>
              <a:custGeom>
                <a:avLst/>
                <a:gdLst>
                  <a:gd name="connsiteX0" fmla="*/ 0 w 107155"/>
                  <a:gd name="connsiteY0" fmla="*/ 35719 h 71437"/>
                  <a:gd name="connsiteX1" fmla="*/ 35718 w 107155"/>
                  <a:gd name="connsiteY1" fmla="*/ 71437 h 71437"/>
                  <a:gd name="connsiteX2" fmla="*/ 107155 w 107155"/>
                  <a:gd name="connsiteY2" fmla="*/ 0 h 71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155" h="71437">
                    <a:moveTo>
                      <a:pt x="0" y="35719"/>
                    </a:moveTo>
                    <a:lnTo>
                      <a:pt x="35718" y="71437"/>
                    </a:lnTo>
                    <a:lnTo>
                      <a:pt x="107155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18063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CF4FBF41-AC77-45A5-8DE6-71DD5E7A9D55}"/>
              </a:ext>
            </a:extLst>
          </p:cNvPr>
          <p:cNvSpPr/>
          <p:nvPr/>
        </p:nvSpPr>
        <p:spPr>
          <a:xfrm>
            <a:off x="202944" y="3113153"/>
            <a:ext cx="4306639" cy="2241832"/>
          </a:xfrm>
          <a:prstGeom prst="rect">
            <a:avLst/>
          </a:prstGeom>
          <a:solidFill>
            <a:schemeClr val="bg1"/>
          </a:solidFill>
          <a:ln>
            <a:solidFill>
              <a:srgbClr val="038E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57" name="차트 56">
            <a:extLst>
              <a:ext uri="{FF2B5EF4-FFF2-40B4-BE49-F238E27FC236}">
                <a16:creationId xmlns:a16="http://schemas.microsoft.com/office/drawing/2014/main" id="{FD9EC476-1C23-4A9B-AFEA-A6172012AE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6340318"/>
              </p:ext>
            </p:extLst>
          </p:nvPr>
        </p:nvGraphicFramePr>
        <p:xfrm>
          <a:off x="200975" y="3072078"/>
          <a:ext cx="4296408" cy="2390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40E6039-19C5-4679-BFFD-57045064DD37}"/>
              </a:ext>
            </a:extLst>
          </p:cNvPr>
          <p:cNvCxnSpPr/>
          <p:nvPr/>
        </p:nvCxnSpPr>
        <p:spPr>
          <a:xfrm>
            <a:off x="776120" y="5100676"/>
            <a:ext cx="35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18EE92D-E07F-4895-A5B1-826B6BEC2D07}"/>
              </a:ext>
            </a:extLst>
          </p:cNvPr>
          <p:cNvSpPr txBox="1"/>
          <p:nvPr/>
        </p:nvSpPr>
        <p:spPr>
          <a:xfrm>
            <a:off x="511760" y="5094083"/>
            <a:ext cx="75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1971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BE5CEB-9234-4513-AD0A-07664B63DEBD}"/>
              </a:ext>
            </a:extLst>
          </p:cNvPr>
          <p:cNvSpPr txBox="1"/>
          <p:nvPr/>
        </p:nvSpPr>
        <p:spPr>
          <a:xfrm>
            <a:off x="3743239" y="5099726"/>
            <a:ext cx="75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2023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TextBox 184">
            <a:extLst>
              <a:ext uri="{FF2B5EF4-FFF2-40B4-BE49-F238E27FC236}">
                <a16:creationId xmlns:a16="http://schemas.microsoft.com/office/drawing/2014/main" id="{908A4076-FBC6-4EAC-84F2-230CCFD18331}"/>
              </a:ext>
            </a:extLst>
          </p:cNvPr>
          <p:cNvSpPr txBox="1"/>
          <p:nvPr/>
        </p:nvSpPr>
        <p:spPr>
          <a:xfrm>
            <a:off x="539296" y="4669587"/>
            <a:ext cx="90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4,409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13C0506-1002-467B-9889-8B2ADE6C7513}"/>
              </a:ext>
            </a:extLst>
          </p:cNvPr>
          <p:cNvSpPr/>
          <p:nvPr/>
        </p:nvSpPr>
        <p:spPr>
          <a:xfrm>
            <a:off x="757162" y="4976388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3" name="TextBox 184">
            <a:extLst>
              <a:ext uri="{FF2B5EF4-FFF2-40B4-BE49-F238E27FC236}">
                <a16:creationId xmlns:a16="http://schemas.microsoft.com/office/drawing/2014/main" id="{CF837F9B-44BC-4CF8-BD62-D7BDC156BA57}"/>
              </a:ext>
            </a:extLst>
          </p:cNvPr>
          <p:cNvSpPr txBox="1"/>
          <p:nvPr/>
        </p:nvSpPr>
        <p:spPr>
          <a:xfrm>
            <a:off x="3424158" y="3083250"/>
            <a:ext cx="111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353,166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0AD72ECE-3D05-40D1-9A7C-9EADAE1E0B57}"/>
              </a:ext>
            </a:extLst>
          </p:cNvPr>
          <p:cNvSpPr/>
          <p:nvPr/>
        </p:nvSpPr>
        <p:spPr>
          <a:xfrm>
            <a:off x="4259926" y="3403714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6" name="자유형 194">
            <a:extLst>
              <a:ext uri="{FF2B5EF4-FFF2-40B4-BE49-F238E27FC236}">
                <a16:creationId xmlns:a16="http://schemas.microsoft.com/office/drawing/2014/main" id="{FF0009A4-39E8-4806-B5E2-E1B0062C092C}"/>
              </a:ext>
            </a:extLst>
          </p:cNvPr>
          <p:cNvSpPr/>
          <p:nvPr/>
        </p:nvSpPr>
        <p:spPr>
          <a:xfrm>
            <a:off x="2033443" y="4013430"/>
            <a:ext cx="631818" cy="742226"/>
          </a:xfrm>
          <a:custGeom>
            <a:avLst/>
            <a:gdLst>
              <a:gd name="connsiteX0" fmla="*/ 1980821 w 2326133"/>
              <a:gd name="connsiteY0" fmla="*/ 0 h 2155133"/>
              <a:gd name="connsiteX1" fmla="*/ 2326133 w 2326133"/>
              <a:gd name="connsiteY1" fmla="*/ 438586 h 2155133"/>
              <a:gd name="connsiteX2" fmla="*/ 2133488 w 2326133"/>
              <a:gd name="connsiteY2" fmla="*/ 438586 h 2155133"/>
              <a:gd name="connsiteX3" fmla="*/ 2106703 w 2326133"/>
              <a:gd name="connsiteY3" fmla="*/ 559561 h 2155133"/>
              <a:gd name="connsiteX4" fmla="*/ 915076 w 2326133"/>
              <a:gd name="connsiteY4" fmla="*/ 1830495 h 2155133"/>
              <a:gd name="connsiteX5" fmla="*/ 39436 w 2326133"/>
              <a:gd name="connsiteY5" fmla="*/ 2149046 h 2155133"/>
              <a:gd name="connsiteX6" fmla="*/ 0 w 2326133"/>
              <a:gd name="connsiteY6" fmla="*/ 2155133 h 2155133"/>
              <a:gd name="connsiteX7" fmla="*/ 56660 w 2326133"/>
              <a:gd name="connsiteY7" fmla="*/ 2138560 h 2155133"/>
              <a:gd name="connsiteX8" fmla="*/ 586445 w 2326133"/>
              <a:gd name="connsiteY8" fmla="*/ 1909430 h 2155133"/>
              <a:gd name="connsiteX9" fmla="*/ 1820266 w 2326133"/>
              <a:gd name="connsiteY9" fmla="*/ 447924 h 2155133"/>
              <a:gd name="connsiteX10" fmla="*/ 1820813 w 2326133"/>
              <a:gd name="connsiteY10" fmla="*/ 438586 h 2155133"/>
              <a:gd name="connsiteX11" fmla="*/ 1635509 w 2326133"/>
              <a:gd name="connsiteY11" fmla="*/ 438586 h 215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26133" h="2155133">
                <a:moveTo>
                  <a:pt x="1980821" y="0"/>
                </a:moveTo>
                <a:lnTo>
                  <a:pt x="2326133" y="438586"/>
                </a:lnTo>
                <a:lnTo>
                  <a:pt x="2133488" y="438586"/>
                </a:lnTo>
                <a:lnTo>
                  <a:pt x="2106703" y="559561"/>
                </a:lnTo>
                <a:cubicBezTo>
                  <a:pt x="1965567" y="1010485"/>
                  <a:pt x="1530995" y="1496326"/>
                  <a:pt x="915076" y="1830495"/>
                </a:cubicBezTo>
                <a:cubicBezTo>
                  <a:pt x="621781" y="1989623"/>
                  <a:pt x="322071" y="2095528"/>
                  <a:pt x="39436" y="2149046"/>
                </a:cubicBezTo>
                <a:lnTo>
                  <a:pt x="0" y="2155133"/>
                </a:lnTo>
                <a:lnTo>
                  <a:pt x="56660" y="2138560"/>
                </a:lnTo>
                <a:cubicBezTo>
                  <a:pt x="232182" y="2081224"/>
                  <a:pt x="410468" y="2004906"/>
                  <a:pt x="586445" y="1909430"/>
                </a:cubicBezTo>
                <a:cubicBezTo>
                  <a:pt x="1290353" y="1527522"/>
                  <a:pt x="1757399" y="947513"/>
                  <a:pt x="1820266" y="447924"/>
                </a:cubicBezTo>
                <a:lnTo>
                  <a:pt x="1820813" y="438586"/>
                </a:lnTo>
                <a:lnTo>
                  <a:pt x="1635509" y="438586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7" name="양쪽 모서리가 둥근 사각형 61">
            <a:extLst>
              <a:ext uri="{FF2B5EF4-FFF2-40B4-BE49-F238E27FC236}">
                <a16:creationId xmlns:a16="http://schemas.microsoft.com/office/drawing/2014/main" id="{DFA28AAD-12E4-4C21-B630-E40347579A5C}"/>
              </a:ext>
            </a:extLst>
          </p:cNvPr>
          <p:cNvSpPr/>
          <p:nvPr/>
        </p:nvSpPr>
        <p:spPr>
          <a:xfrm>
            <a:off x="4715212" y="2687133"/>
            <a:ext cx="4320549" cy="386279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변전소 변압기 제작연도별 현황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9187190-2BF3-4C3F-84E3-B227489C7058}"/>
              </a:ext>
            </a:extLst>
          </p:cNvPr>
          <p:cNvSpPr/>
          <p:nvPr/>
        </p:nvSpPr>
        <p:spPr>
          <a:xfrm>
            <a:off x="4733340" y="3110511"/>
            <a:ext cx="4294800" cy="2241832"/>
          </a:xfrm>
          <a:prstGeom prst="rect">
            <a:avLst/>
          </a:prstGeom>
          <a:solidFill>
            <a:schemeClr val="bg1"/>
          </a:solidFill>
          <a:ln>
            <a:solidFill>
              <a:srgbClr val="038E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9" name="TextBox 184">
            <a:extLst>
              <a:ext uri="{FF2B5EF4-FFF2-40B4-BE49-F238E27FC236}">
                <a16:creationId xmlns:a16="http://schemas.microsoft.com/office/drawing/2014/main" id="{38F6A20E-A415-497E-A5C6-0C769964559F}"/>
              </a:ext>
            </a:extLst>
          </p:cNvPr>
          <p:cNvSpPr txBox="1"/>
          <p:nvPr/>
        </p:nvSpPr>
        <p:spPr>
          <a:xfrm>
            <a:off x="5064666" y="3128063"/>
            <a:ext cx="1104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초과</a:t>
            </a:r>
          </a:p>
        </p:txBody>
      </p:sp>
      <p:graphicFrame>
        <p:nvGraphicFramePr>
          <p:cNvPr id="70" name="차트 69">
            <a:extLst>
              <a:ext uri="{FF2B5EF4-FFF2-40B4-BE49-F238E27FC236}">
                <a16:creationId xmlns:a16="http://schemas.microsoft.com/office/drawing/2014/main" id="{20472439-7ABA-430F-9800-A1DB1A70A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1036124"/>
              </p:ext>
            </p:extLst>
          </p:nvPr>
        </p:nvGraphicFramePr>
        <p:xfrm>
          <a:off x="4579043" y="3421476"/>
          <a:ext cx="4347729" cy="211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B9A434B-55F5-4FFF-B9C6-CE5C9D90E422}"/>
              </a:ext>
            </a:extLst>
          </p:cNvPr>
          <p:cNvCxnSpPr/>
          <p:nvPr/>
        </p:nvCxnSpPr>
        <p:spPr>
          <a:xfrm>
            <a:off x="5219793" y="5044840"/>
            <a:ext cx="35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81FC0C2-E8B5-4DEC-AA75-F4B0A01A4AAB}"/>
              </a:ext>
            </a:extLst>
          </p:cNvPr>
          <p:cNvSpPr txBox="1"/>
          <p:nvPr/>
        </p:nvSpPr>
        <p:spPr>
          <a:xfrm>
            <a:off x="4955433" y="5054149"/>
            <a:ext cx="75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1975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D15D7E-AE91-407F-A695-247AABCD6412}"/>
              </a:ext>
            </a:extLst>
          </p:cNvPr>
          <p:cNvSpPr txBox="1"/>
          <p:nvPr/>
        </p:nvSpPr>
        <p:spPr>
          <a:xfrm>
            <a:off x="8186912" y="5059792"/>
            <a:ext cx="75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2025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F2630AD-DFF7-4143-A7F2-12DCF1548B7E}"/>
              </a:ext>
            </a:extLst>
          </p:cNvPr>
          <p:cNvCxnSpPr/>
          <p:nvPr/>
        </p:nvCxnSpPr>
        <p:spPr>
          <a:xfrm>
            <a:off x="5193258" y="3517626"/>
            <a:ext cx="828000" cy="0"/>
          </a:xfrm>
          <a:prstGeom prst="line">
            <a:avLst/>
          </a:prstGeom>
          <a:ln w="127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BF7BF978-CBF2-4560-9FF7-F37C419E8BE5}"/>
              </a:ext>
            </a:extLst>
          </p:cNvPr>
          <p:cNvCxnSpPr/>
          <p:nvPr/>
        </p:nvCxnSpPr>
        <p:spPr>
          <a:xfrm>
            <a:off x="5193259" y="3416338"/>
            <a:ext cx="0" cy="154800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023D4815-965F-4BE2-948A-222C2CEE61D3}"/>
              </a:ext>
            </a:extLst>
          </p:cNvPr>
          <p:cNvCxnSpPr/>
          <p:nvPr/>
        </p:nvCxnSpPr>
        <p:spPr>
          <a:xfrm>
            <a:off x="6033458" y="3416338"/>
            <a:ext cx="0" cy="136800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자유형 194">
            <a:extLst>
              <a:ext uri="{FF2B5EF4-FFF2-40B4-BE49-F238E27FC236}">
                <a16:creationId xmlns:a16="http://schemas.microsoft.com/office/drawing/2014/main" id="{DBDEFCB2-AF90-4196-A199-2E9ECDCBC765}"/>
              </a:ext>
            </a:extLst>
          </p:cNvPr>
          <p:cNvSpPr/>
          <p:nvPr/>
        </p:nvSpPr>
        <p:spPr>
          <a:xfrm>
            <a:off x="5717549" y="3924243"/>
            <a:ext cx="631818" cy="742226"/>
          </a:xfrm>
          <a:custGeom>
            <a:avLst/>
            <a:gdLst>
              <a:gd name="connsiteX0" fmla="*/ 1980821 w 2326133"/>
              <a:gd name="connsiteY0" fmla="*/ 0 h 2155133"/>
              <a:gd name="connsiteX1" fmla="*/ 2326133 w 2326133"/>
              <a:gd name="connsiteY1" fmla="*/ 438586 h 2155133"/>
              <a:gd name="connsiteX2" fmla="*/ 2133488 w 2326133"/>
              <a:gd name="connsiteY2" fmla="*/ 438586 h 2155133"/>
              <a:gd name="connsiteX3" fmla="*/ 2106703 w 2326133"/>
              <a:gd name="connsiteY3" fmla="*/ 559561 h 2155133"/>
              <a:gd name="connsiteX4" fmla="*/ 915076 w 2326133"/>
              <a:gd name="connsiteY4" fmla="*/ 1830495 h 2155133"/>
              <a:gd name="connsiteX5" fmla="*/ 39436 w 2326133"/>
              <a:gd name="connsiteY5" fmla="*/ 2149046 h 2155133"/>
              <a:gd name="connsiteX6" fmla="*/ 0 w 2326133"/>
              <a:gd name="connsiteY6" fmla="*/ 2155133 h 2155133"/>
              <a:gd name="connsiteX7" fmla="*/ 56660 w 2326133"/>
              <a:gd name="connsiteY7" fmla="*/ 2138560 h 2155133"/>
              <a:gd name="connsiteX8" fmla="*/ 586445 w 2326133"/>
              <a:gd name="connsiteY8" fmla="*/ 1909430 h 2155133"/>
              <a:gd name="connsiteX9" fmla="*/ 1820266 w 2326133"/>
              <a:gd name="connsiteY9" fmla="*/ 447924 h 2155133"/>
              <a:gd name="connsiteX10" fmla="*/ 1820813 w 2326133"/>
              <a:gd name="connsiteY10" fmla="*/ 438586 h 2155133"/>
              <a:gd name="connsiteX11" fmla="*/ 1635509 w 2326133"/>
              <a:gd name="connsiteY11" fmla="*/ 438586 h 215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26133" h="2155133">
                <a:moveTo>
                  <a:pt x="1980821" y="0"/>
                </a:moveTo>
                <a:lnTo>
                  <a:pt x="2326133" y="438586"/>
                </a:lnTo>
                <a:lnTo>
                  <a:pt x="2133488" y="438586"/>
                </a:lnTo>
                <a:lnTo>
                  <a:pt x="2106703" y="559561"/>
                </a:lnTo>
                <a:cubicBezTo>
                  <a:pt x="1965567" y="1010485"/>
                  <a:pt x="1530995" y="1496326"/>
                  <a:pt x="915076" y="1830495"/>
                </a:cubicBezTo>
                <a:cubicBezTo>
                  <a:pt x="621781" y="1989623"/>
                  <a:pt x="322071" y="2095528"/>
                  <a:pt x="39436" y="2149046"/>
                </a:cubicBezTo>
                <a:lnTo>
                  <a:pt x="0" y="2155133"/>
                </a:lnTo>
                <a:lnTo>
                  <a:pt x="56660" y="2138560"/>
                </a:lnTo>
                <a:cubicBezTo>
                  <a:pt x="232182" y="2081224"/>
                  <a:pt x="410468" y="2004906"/>
                  <a:pt x="586445" y="1909430"/>
                </a:cubicBezTo>
                <a:cubicBezTo>
                  <a:pt x="1290353" y="1527522"/>
                  <a:pt x="1757399" y="947513"/>
                  <a:pt x="1820266" y="447924"/>
                </a:cubicBezTo>
                <a:lnTo>
                  <a:pt x="1820813" y="438586"/>
                </a:lnTo>
                <a:lnTo>
                  <a:pt x="1635509" y="438586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BFA5AC-5F0D-4929-8D3A-FC3D8743738A}"/>
              </a:ext>
            </a:extLst>
          </p:cNvPr>
          <p:cNvSpPr txBox="1"/>
          <p:nvPr/>
        </p:nvSpPr>
        <p:spPr>
          <a:xfrm>
            <a:off x="6748271" y="5369954"/>
            <a:ext cx="231418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22194" indent="-122194" algn="r" defTabSz="731990" latinLnBrk="0">
              <a:spcBef>
                <a:spcPts val="616"/>
              </a:spcBef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전력거래소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전력통계정보시스템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3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전력수요 전망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31398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직사각형 78">
            <a:extLst>
              <a:ext uri="{FF2B5EF4-FFF2-40B4-BE49-F238E27FC236}">
                <a16:creationId xmlns:a16="http://schemas.microsoft.com/office/drawing/2014/main" id="{A8E8DA57-68A5-4D03-A535-FBD893F869E8}"/>
              </a:ext>
            </a:extLst>
          </p:cNvPr>
          <p:cNvSpPr/>
          <p:nvPr/>
        </p:nvSpPr>
        <p:spPr>
          <a:xfrm>
            <a:off x="385007" y="1673002"/>
            <a:ext cx="4178860" cy="3870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380B1D-EFE7-4E41-AF6E-8D0EEBEDF14E}"/>
              </a:ext>
            </a:extLst>
          </p:cNvPr>
          <p:cNvSpPr/>
          <p:nvPr/>
        </p:nvSpPr>
        <p:spPr>
          <a:xfrm>
            <a:off x="420004" y="3893424"/>
            <a:ext cx="4091364" cy="1002891"/>
          </a:xfrm>
          <a:prstGeom prst="rect">
            <a:avLst/>
          </a:prstGeom>
          <a:solidFill>
            <a:srgbClr val="F2F7FC"/>
          </a:solidFill>
          <a:ln w="6350">
            <a:solidFill>
              <a:srgbClr val="A9B5C7"/>
            </a:solidFill>
          </a:ln>
          <a:effectLst>
            <a:outerShdw dist="25400" dir="5400000" algn="ctr" rotWithShape="0">
              <a:schemeClr val="accent1">
                <a:lumMod val="20000"/>
                <a:lumOff val="80000"/>
                <a:alpha val="8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>
              <a:lnSpc>
                <a:spcPct val="120000"/>
              </a:lnSpc>
            </a:pPr>
            <a:endParaRPr lang="ko-KR" altLang="en-US" sz="1400">
              <a:solidFill>
                <a:schemeClr val="bg2">
                  <a:lumMod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FDA32C2-5FEF-4967-888D-4E16470FF5FF}"/>
              </a:ext>
            </a:extLst>
          </p:cNvPr>
          <p:cNvSpPr/>
          <p:nvPr/>
        </p:nvSpPr>
        <p:spPr>
          <a:xfrm>
            <a:off x="4706316" y="1665294"/>
            <a:ext cx="4255777" cy="3870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E3339113-85A6-4F03-9CDB-CA71DA738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54" y="1829851"/>
            <a:ext cx="4102850" cy="173436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1DD40E0B-89DE-45E0-9F03-B60EAA1EA94E}"/>
              </a:ext>
            </a:extLst>
          </p:cNvPr>
          <p:cNvSpPr txBox="1"/>
          <p:nvPr/>
        </p:nvSpPr>
        <p:spPr>
          <a:xfrm>
            <a:off x="1348470" y="3549723"/>
            <a:ext cx="316349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22194" indent="-122194" algn="r" defTabSz="731990" latinLnBrk="0">
              <a:spcBef>
                <a:spcPts val="616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에너지경제연구소 원전시장 인사이트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월호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72E5D2B-961A-44A0-B66F-84DC463F13FE}"/>
              </a:ext>
            </a:extLst>
          </p:cNvPr>
          <p:cNvSpPr txBox="1"/>
          <p:nvPr/>
        </p:nvSpPr>
        <p:spPr>
          <a:xfrm>
            <a:off x="382244" y="3933581"/>
            <a:ext cx="4136069" cy="9608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‘IEA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세계 에너지 전망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2030’ </a:t>
            </a:r>
          </a:p>
          <a:p>
            <a:pPr algn="ctr" fontAlgn="base">
              <a:lnSpc>
                <a:spcPct val="120000"/>
              </a:lnSpc>
              <a:buSzPct val="50000"/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탄소중립 계획을 따를 경우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2050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세계 전력수요가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2023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대비</a:t>
            </a:r>
            <a:endParaRPr lang="en-US" altLang="ko-KR" sz="1600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CB69760-2024-4D01-A98C-9687D8DBA744}"/>
              </a:ext>
            </a:extLst>
          </p:cNvPr>
          <p:cNvSpPr txBox="1"/>
          <p:nvPr/>
        </p:nvSpPr>
        <p:spPr>
          <a:xfrm>
            <a:off x="4959834" y="3272430"/>
            <a:ext cx="142070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2023</a:t>
            </a:r>
            <a:r>
              <a:rPr lang="ko-KR" altLang="en-US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</a:t>
            </a:r>
            <a:r>
              <a:rPr lang="en-US" altLang="ko-KR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최대 수요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6ADBDE-B389-410A-9703-03D14F1514D7}"/>
              </a:ext>
            </a:extLst>
          </p:cNvPr>
          <p:cNvSpPr txBox="1"/>
          <p:nvPr/>
        </p:nvSpPr>
        <p:spPr>
          <a:xfrm>
            <a:off x="6965479" y="3303460"/>
            <a:ext cx="186229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2038</a:t>
            </a:r>
            <a:r>
              <a:rPr lang="ko-KR" altLang="en-US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</a:t>
            </a:r>
            <a:r>
              <a:rPr lang="en-US" altLang="ko-KR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최대 수요 전망</a:t>
            </a:r>
            <a:endParaRPr lang="en-US" altLang="ko-KR" sz="13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A2A0A6-E774-4958-8FA7-06E4B5B8276F}"/>
              </a:ext>
            </a:extLst>
          </p:cNvPr>
          <p:cNvSpPr txBox="1"/>
          <p:nvPr/>
        </p:nvSpPr>
        <p:spPr>
          <a:xfrm>
            <a:off x="6553342" y="1851104"/>
            <a:ext cx="9186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31GW </a:t>
            </a:r>
          </a:p>
          <a:p>
            <a:pPr algn="ctr"/>
            <a:r>
              <a:rPr lang="ko-KR" altLang="en-US" sz="1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증가 예측</a:t>
            </a:r>
            <a:endParaRPr lang="en-US" altLang="ko-KR" sz="13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11FE66-B7EF-4903-A0E2-3AB7806743D1}"/>
              </a:ext>
            </a:extLst>
          </p:cNvPr>
          <p:cNvSpPr txBox="1"/>
          <p:nvPr/>
        </p:nvSpPr>
        <p:spPr>
          <a:xfrm>
            <a:off x="5856552" y="3529488"/>
            <a:ext cx="316349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22194" indent="-122194" algn="r" defTabSz="731990" latinLnBrk="0">
              <a:spcBef>
                <a:spcPts val="616"/>
              </a:spcBef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z="900" dirty="0"/>
              <a:t>출처</a:t>
            </a:r>
            <a:r>
              <a:rPr lang="en-US" altLang="ko-KR" sz="900" dirty="0"/>
              <a:t>: </a:t>
            </a:r>
            <a:r>
              <a:rPr lang="ko-KR" altLang="en-US" sz="900" dirty="0"/>
              <a:t>제 </a:t>
            </a:r>
            <a:r>
              <a:rPr lang="en-US" altLang="ko-KR" sz="900" dirty="0"/>
              <a:t>11</a:t>
            </a:r>
            <a:r>
              <a:rPr lang="ko-KR" altLang="en-US" sz="900" dirty="0"/>
              <a:t>차 전력수급기본계획</a:t>
            </a:r>
            <a:endParaRPr lang="en-US" altLang="ko-KR" sz="900" dirty="0"/>
          </a:p>
        </p:txBody>
      </p:sp>
      <p:sp>
        <p:nvSpPr>
          <p:cNvPr id="92" name="사각형: 둥근 모서리 7">
            <a:extLst>
              <a:ext uri="{FF2B5EF4-FFF2-40B4-BE49-F238E27FC236}">
                <a16:creationId xmlns:a16="http://schemas.microsoft.com/office/drawing/2014/main" id="{1F5ACFCC-1F1F-4020-8F68-10CBD6416AF9}"/>
              </a:ext>
            </a:extLst>
          </p:cNvPr>
          <p:cNvSpPr/>
          <p:nvPr/>
        </p:nvSpPr>
        <p:spPr>
          <a:xfrm>
            <a:off x="5444520" y="2390726"/>
            <a:ext cx="421156" cy="86048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사각형: 둥근 모서리 53">
            <a:extLst>
              <a:ext uri="{FF2B5EF4-FFF2-40B4-BE49-F238E27FC236}">
                <a16:creationId xmlns:a16="http://schemas.microsoft.com/office/drawing/2014/main" id="{7EC5728D-76D4-4E69-92DF-1A132A2B5F1C}"/>
              </a:ext>
            </a:extLst>
          </p:cNvPr>
          <p:cNvSpPr/>
          <p:nvPr/>
        </p:nvSpPr>
        <p:spPr>
          <a:xfrm>
            <a:off x="7713226" y="1920942"/>
            <a:ext cx="421156" cy="1330267"/>
          </a:xfrm>
          <a:prstGeom prst="roundRect">
            <a:avLst/>
          </a:prstGeom>
          <a:solidFill>
            <a:srgbClr val="2675BA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C9AD24E-CE0A-4432-AE70-BD6AC8BF9474}"/>
              </a:ext>
            </a:extLst>
          </p:cNvPr>
          <p:cNvCxnSpPr>
            <a:cxnSpLocks/>
          </p:cNvCxnSpPr>
          <p:nvPr/>
        </p:nvCxnSpPr>
        <p:spPr>
          <a:xfrm>
            <a:off x="5180181" y="2382336"/>
            <a:ext cx="3376081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5B6CA69B-B811-45F2-89D5-C130EE03F2A2}"/>
              </a:ext>
            </a:extLst>
          </p:cNvPr>
          <p:cNvSpPr txBox="1"/>
          <p:nvPr/>
        </p:nvSpPr>
        <p:spPr>
          <a:xfrm>
            <a:off x="5295409" y="2071999"/>
            <a:ext cx="1046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98.3GW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22F8830-2646-440C-B981-535F034626EC}"/>
              </a:ext>
            </a:extLst>
          </p:cNvPr>
          <p:cNvSpPr txBox="1"/>
          <p:nvPr/>
        </p:nvSpPr>
        <p:spPr>
          <a:xfrm>
            <a:off x="7521713" y="1668429"/>
            <a:ext cx="1046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129.3GW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D0481EE-6EAF-4030-819C-92D8A9DA7CD3}"/>
              </a:ext>
            </a:extLst>
          </p:cNvPr>
          <p:cNvSpPr txBox="1"/>
          <p:nvPr/>
        </p:nvSpPr>
        <p:spPr>
          <a:xfrm>
            <a:off x="1290381" y="4972392"/>
            <a:ext cx="2190023" cy="4045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fontAlgn="base">
              <a:lnSpc>
                <a:spcPct val="120000"/>
              </a:lnSpc>
              <a:buSzPct val="50000"/>
            </a:pPr>
            <a:r>
              <a:rPr lang="ko-KR" altLang="en-US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최대 </a:t>
            </a:r>
            <a:r>
              <a:rPr lang="en-US" altLang="ko-KR" b="1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150%</a:t>
            </a:r>
            <a:r>
              <a:rPr lang="en-US" altLang="ko-KR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 예상</a:t>
            </a:r>
            <a:endParaRPr lang="en-US" altLang="ko-KR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5" name="자유형 42">
            <a:extLst>
              <a:ext uri="{FF2B5EF4-FFF2-40B4-BE49-F238E27FC236}">
                <a16:creationId xmlns:a16="http://schemas.microsoft.com/office/drawing/2014/main" id="{DDE1261A-D715-49D4-BFA6-108A4269FA9F}"/>
              </a:ext>
            </a:extLst>
          </p:cNvPr>
          <p:cNvSpPr/>
          <p:nvPr/>
        </p:nvSpPr>
        <p:spPr>
          <a:xfrm rot="15079498" flipH="1">
            <a:off x="6275358" y="1928522"/>
            <a:ext cx="271001" cy="356793"/>
          </a:xfrm>
          <a:custGeom>
            <a:avLst/>
            <a:gdLst>
              <a:gd name="connsiteX0" fmla="*/ 226073 w 295884"/>
              <a:gd name="connsiteY0" fmla="*/ 0 h 437917"/>
              <a:gd name="connsiteX1" fmla="*/ 127454 w 295884"/>
              <a:gd name="connsiteY1" fmla="*/ 381995 h 437917"/>
              <a:gd name="connsiteX2" fmla="*/ 146116 w 295884"/>
              <a:gd name="connsiteY2" fmla="*/ 437917 h 437917"/>
              <a:gd name="connsiteX3" fmla="*/ 0 w 295884"/>
              <a:gd name="connsiteY3" fmla="*/ 372542 h 437917"/>
              <a:gd name="connsiteX4" fmla="*/ 71468 w 295884"/>
              <a:gd name="connsiteY4" fmla="*/ 214228 h 437917"/>
              <a:gd name="connsiteX5" fmla="*/ 90130 w 295884"/>
              <a:gd name="connsiteY5" fmla="*/ 270150 h 437917"/>
              <a:gd name="connsiteX6" fmla="*/ 226073 w 295884"/>
              <a:gd name="connsiteY6" fmla="*/ 0 h 437917"/>
              <a:gd name="connsiteX0" fmla="*/ 73673 w 231446"/>
              <a:gd name="connsiteY0" fmla="*/ 0 h 433154"/>
              <a:gd name="connsiteX1" fmla="*/ 127454 w 231446"/>
              <a:gd name="connsiteY1" fmla="*/ 377232 h 433154"/>
              <a:gd name="connsiteX2" fmla="*/ 146116 w 231446"/>
              <a:gd name="connsiteY2" fmla="*/ 433154 h 433154"/>
              <a:gd name="connsiteX3" fmla="*/ 0 w 231446"/>
              <a:gd name="connsiteY3" fmla="*/ 367779 h 433154"/>
              <a:gd name="connsiteX4" fmla="*/ 71468 w 231446"/>
              <a:gd name="connsiteY4" fmla="*/ 209465 h 433154"/>
              <a:gd name="connsiteX5" fmla="*/ 90130 w 231446"/>
              <a:gd name="connsiteY5" fmla="*/ 265387 h 433154"/>
              <a:gd name="connsiteX6" fmla="*/ 73673 w 231446"/>
              <a:gd name="connsiteY6" fmla="*/ 0 h 433154"/>
              <a:gd name="connsiteX0" fmla="*/ 73673 w 232019"/>
              <a:gd name="connsiteY0" fmla="*/ 0 h 433154"/>
              <a:gd name="connsiteX1" fmla="*/ 127454 w 232019"/>
              <a:gd name="connsiteY1" fmla="*/ 377232 h 433154"/>
              <a:gd name="connsiteX2" fmla="*/ 146116 w 232019"/>
              <a:gd name="connsiteY2" fmla="*/ 433154 h 433154"/>
              <a:gd name="connsiteX3" fmla="*/ 0 w 232019"/>
              <a:gd name="connsiteY3" fmla="*/ 367779 h 433154"/>
              <a:gd name="connsiteX4" fmla="*/ 71468 w 232019"/>
              <a:gd name="connsiteY4" fmla="*/ 209465 h 433154"/>
              <a:gd name="connsiteX5" fmla="*/ 90130 w 232019"/>
              <a:gd name="connsiteY5" fmla="*/ 265387 h 433154"/>
              <a:gd name="connsiteX6" fmla="*/ 73673 w 232019"/>
              <a:gd name="connsiteY6" fmla="*/ 0 h 433154"/>
              <a:gd name="connsiteX0" fmla="*/ 73673 w 232019"/>
              <a:gd name="connsiteY0" fmla="*/ 0 h 433154"/>
              <a:gd name="connsiteX1" fmla="*/ 127454 w 232019"/>
              <a:gd name="connsiteY1" fmla="*/ 377232 h 433154"/>
              <a:gd name="connsiteX2" fmla="*/ 146116 w 232019"/>
              <a:gd name="connsiteY2" fmla="*/ 433154 h 433154"/>
              <a:gd name="connsiteX3" fmla="*/ 0 w 232019"/>
              <a:gd name="connsiteY3" fmla="*/ 367779 h 433154"/>
              <a:gd name="connsiteX4" fmla="*/ 71468 w 232019"/>
              <a:gd name="connsiteY4" fmla="*/ 209465 h 433154"/>
              <a:gd name="connsiteX5" fmla="*/ 90130 w 232019"/>
              <a:gd name="connsiteY5" fmla="*/ 265387 h 433154"/>
              <a:gd name="connsiteX6" fmla="*/ 73673 w 232019"/>
              <a:gd name="connsiteY6" fmla="*/ 0 h 433154"/>
              <a:gd name="connsiteX0" fmla="*/ 170963 w 267724"/>
              <a:gd name="connsiteY0" fmla="*/ 0 h 398102"/>
              <a:gd name="connsiteX1" fmla="*/ 127454 w 267724"/>
              <a:gd name="connsiteY1" fmla="*/ 342180 h 398102"/>
              <a:gd name="connsiteX2" fmla="*/ 146116 w 267724"/>
              <a:gd name="connsiteY2" fmla="*/ 398102 h 398102"/>
              <a:gd name="connsiteX3" fmla="*/ 0 w 267724"/>
              <a:gd name="connsiteY3" fmla="*/ 332727 h 398102"/>
              <a:gd name="connsiteX4" fmla="*/ 71468 w 267724"/>
              <a:gd name="connsiteY4" fmla="*/ 174413 h 398102"/>
              <a:gd name="connsiteX5" fmla="*/ 90130 w 267724"/>
              <a:gd name="connsiteY5" fmla="*/ 230335 h 398102"/>
              <a:gd name="connsiteX6" fmla="*/ 170963 w 267724"/>
              <a:gd name="connsiteY6" fmla="*/ 0 h 39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724" h="398102">
                <a:moveTo>
                  <a:pt x="170963" y="0"/>
                </a:moveTo>
                <a:cubicBezTo>
                  <a:pt x="269363" y="15321"/>
                  <a:pt x="344323" y="227394"/>
                  <a:pt x="127454" y="342180"/>
                </a:cubicBezTo>
                <a:lnTo>
                  <a:pt x="146116" y="398102"/>
                </a:lnTo>
                <a:lnTo>
                  <a:pt x="0" y="332727"/>
                </a:lnTo>
                <a:lnTo>
                  <a:pt x="71468" y="174413"/>
                </a:lnTo>
                <a:lnTo>
                  <a:pt x="90130" y="230335"/>
                </a:lnTo>
                <a:cubicBezTo>
                  <a:pt x="247398" y="147096"/>
                  <a:pt x="207148" y="38776"/>
                  <a:pt x="170963" y="0"/>
                </a:cubicBezTo>
                <a:close/>
              </a:path>
            </a:pathLst>
          </a:custGeom>
          <a:gradFill flip="none" rotWithShape="1">
            <a:gsLst>
              <a:gs pos="1639">
                <a:schemeClr val="accent5">
                  <a:lumMod val="50000"/>
                </a:schemeClr>
              </a:gs>
              <a:gs pos="38000">
                <a:srgbClr val="29AAE2"/>
              </a:gs>
              <a:gs pos="94000">
                <a:srgbClr val="29AAE2">
                  <a:alpha val="0"/>
                </a:srgbClr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83396F1-7E0F-4F80-90FB-B7B40DB5D6F5}"/>
              </a:ext>
            </a:extLst>
          </p:cNvPr>
          <p:cNvSpPr/>
          <p:nvPr/>
        </p:nvSpPr>
        <p:spPr>
          <a:xfrm>
            <a:off x="4776955" y="3893424"/>
            <a:ext cx="4091364" cy="1002891"/>
          </a:xfrm>
          <a:prstGeom prst="rect">
            <a:avLst/>
          </a:prstGeom>
          <a:solidFill>
            <a:srgbClr val="F2F7FC"/>
          </a:solidFill>
          <a:ln w="6350">
            <a:solidFill>
              <a:srgbClr val="A9B5C7"/>
            </a:solidFill>
          </a:ln>
          <a:effectLst>
            <a:outerShdw dist="25400" dir="5400000" algn="ctr" rotWithShape="0">
              <a:schemeClr val="accent1">
                <a:lumMod val="20000"/>
                <a:lumOff val="80000"/>
                <a:alpha val="8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>
              <a:lnSpc>
                <a:spcPct val="120000"/>
              </a:lnSpc>
            </a:pPr>
            <a:endParaRPr lang="ko-KR" altLang="en-US" sz="1400">
              <a:solidFill>
                <a:schemeClr val="bg2">
                  <a:lumMod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1A63417-9245-4D00-B88A-913F9F3CCA73}"/>
              </a:ext>
            </a:extLst>
          </p:cNvPr>
          <p:cNvSpPr txBox="1"/>
          <p:nvPr/>
        </p:nvSpPr>
        <p:spPr>
          <a:xfrm>
            <a:off x="5144478" y="4062181"/>
            <a:ext cx="3379451" cy="6653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‘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11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 전력수급기본계획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’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2038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최대 전력수요를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2023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대비 </a:t>
            </a:r>
            <a:endParaRPr lang="en-US" altLang="ko-KR" sz="1600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1ED7D9-C381-436A-B3F5-84AD90A1D7BF}"/>
              </a:ext>
            </a:extLst>
          </p:cNvPr>
          <p:cNvSpPr txBox="1"/>
          <p:nvPr/>
        </p:nvSpPr>
        <p:spPr>
          <a:xfrm>
            <a:off x="6018667" y="4972392"/>
            <a:ext cx="1765420" cy="4045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b="1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31GW</a:t>
            </a:r>
            <a:r>
              <a:rPr lang="en-US" altLang="ko-KR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 예상</a:t>
            </a:r>
            <a:endParaRPr lang="en-US" altLang="ko-KR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6" name="양쪽 모서리가 둥근 사각형 32">
            <a:extLst>
              <a:ext uri="{FF2B5EF4-FFF2-40B4-BE49-F238E27FC236}">
                <a16:creationId xmlns:a16="http://schemas.microsoft.com/office/drawing/2014/main" id="{2144FB08-D6DB-424A-95A0-410B3C3F7D1E}"/>
              </a:ext>
            </a:extLst>
          </p:cNvPr>
          <p:cNvSpPr/>
          <p:nvPr/>
        </p:nvSpPr>
        <p:spPr>
          <a:xfrm>
            <a:off x="320907" y="1289123"/>
            <a:ext cx="4278559" cy="384217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 세계 전력수요 전망</a:t>
            </a:r>
          </a:p>
        </p:txBody>
      </p:sp>
      <p:sp>
        <p:nvSpPr>
          <p:cNvPr id="27" name="양쪽 모서리가 둥근 사각형 61">
            <a:extLst>
              <a:ext uri="{FF2B5EF4-FFF2-40B4-BE49-F238E27FC236}">
                <a16:creationId xmlns:a16="http://schemas.microsoft.com/office/drawing/2014/main" id="{9C46B23F-D718-4187-A1B3-D06E9EDAC905}"/>
              </a:ext>
            </a:extLst>
          </p:cNvPr>
          <p:cNvSpPr/>
          <p:nvPr/>
        </p:nvSpPr>
        <p:spPr>
          <a:xfrm>
            <a:off x="4667587" y="1288092"/>
            <a:ext cx="4320549" cy="386279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국내 전력수요 전망</a:t>
            </a:r>
          </a:p>
        </p:txBody>
      </p:sp>
    </p:spTree>
    <p:extLst>
      <p:ext uri="{BB962C8B-B14F-4D97-AF65-F5344CB8AC3E}">
        <p14:creationId xmlns:p14="http://schemas.microsoft.com/office/powerpoint/2010/main" val="119478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탄소 중립 달성을 위한 투자 요구 증가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31398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직사각형 78">
            <a:extLst>
              <a:ext uri="{FF2B5EF4-FFF2-40B4-BE49-F238E27FC236}">
                <a16:creationId xmlns:a16="http://schemas.microsoft.com/office/drawing/2014/main" id="{A8E8DA57-68A5-4D03-A535-FBD893F869E8}"/>
              </a:ext>
            </a:extLst>
          </p:cNvPr>
          <p:cNvSpPr/>
          <p:nvPr/>
        </p:nvSpPr>
        <p:spPr>
          <a:xfrm>
            <a:off x="385007" y="1673002"/>
            <a:ext cx="4178860" cy="3870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380B1D-EFE7-4E41-AF6E-8D0EEBEDF14E}"/>
              </a:ext>
            </a:extLst>
          </p:cNvPr>
          <p:cNvSpPr/>
          <p:nvPr/>
        </p:nvSpPr>
        <p:spPr>
          <a:xfrm>
            <a:off x="420004" y="3893424"/>
            <a:ext cx="4091364" cy="1002891"/>
          </a:xfrm>
          <a:prstGeom prst="rect">
            <a:avLst/>
          </a:prstGeom>
          <a:solidFill>
            <a:srgbClr val="F2F7FC"/>
          </a:solidFill>
          <a:ln w="6350">
            <a:solidFill>
              <a:srgbClr val="A9B5C7"/>
            </a:solidFill>
          </a:ln>
          <a:effectLst>
            <a:outerShdw dist="25400" dir="5400000" algn="ctr" rotWithShape="0">
              <a:schemeClr val="accent1">
                <a:lumMod val="20000"/>
                <a:lumOff val="80000"/>
                <a:alpha val="8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>
              <a:lnSpc>
                <a:spcPct val="120000"/>
              </a:lnSpc>
            </a:pPr>
            <a:endParaRPr lang="ko-KR" altLang="en-US" sz="1400">
              <a:solidFill>
                <a:schemeClr val="bg2">
                  <a:lumMod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FDA32C2-5FEF-4967-888D-4E16470FF5FF}"/>
              </a:ext>
            </a:extLst>
          </p:cNvPr>
          <p:cNvSpPr/>
          <p:nvPr/>
        </p:nvSpPr>
        <p:spPr>
          <a:xfrm>
            <a:off x="4706316" y="1665294"/>
            <a:ext cx="4255777" cy="3870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D40E0B-89DE-45E0-9F03-B60EAA1EA94E}"/>
              </a:ext>
            </a:extLst>
          </p:cNvPr>
          <p:cNvSpPr txBox="1"/>
          <p:nvPr/>
        </p:nvSpPr>
        <p:spPr>
          <a:xfrm>
            <a:off x="944880" y="3549723"/>
            <a:ext cx="356708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22194" indent="-122194" algn="r" defTabSz="731990" latinLnBrk="0">
              <a:spcBef>
                <a:spcPts val="616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Net Zero by 2050 – A Roadmap for the Global Energy Sector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72E5D2B-961A-44A0-B66F-84DC463F13FE}"/>
              </a:ext>
            </a:extLst>
          </p:cNvPr>
          <p:cNvSpPr txBox="1"/>
          <p:nvPr/>
        </p:nvSpPr>
        <p:spPr>
          <a:xfrm>
            <a:off x="382244" y="3933581"/>
            <a:ext cx="4136069" cy="9608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IEA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탄소중립을 위해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 fontAlgn="base">
              <a:lnSpc>
                <a:spcPct val="120000"/>
              </a:lnSpc>
              <a:buSzPct val="50000"/>
            </a:pP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전력망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투자가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3,000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억 달러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수준에서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2030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년까지 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연간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6,000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달러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수준으로</a:t>
            </a:r>
            <a:endParaRPr lang="en-US" altLang="ko-KR" sz="1600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11FE66-B7EF-4903-A0E2-3AB7806743D1}"/>
              </a:ext>
            </a:extLst>
          </p:cNvPr>
          <p:cNvSpPr txBox="1"/>
          <p:nvPr/>
        </p:nvSpPr>
        <p:spPr>
          <a:xfrm>
            <a:off x="5856552" y="3529488"/>
            <a:ext cx="316349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22194" indent="-122194" algn="r" defTabSz="731990" latinLnBrk="0">
              <a:spcBef>
                <a:spcPts val="616"/>
              </a:spcBef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z="900" dirty="0"/>
              <a:t>출처</a:t>
            </a:r>
            <a:r>
              <a:rPr lang="en-US" altLang="ko-KR" sz="900" dirty="0"/>
              <a:t>: </a:t>
            </a:r>
            <a:r>
              <a:rPr lang="ko-KR" altLang="en-US" sz="900" dirty="0"/>
              <a:t>제 </a:t>
            </a:r>
            <a:r>
              <a:rPr lang="en-US" altLang="ko-KR" sz="900" dirty="0"/>
              <a:t>11</a:t>
            </a:r>
            <a:r>
              <a:rPr lang="ko-KR" altLang="en-US" sz="900" dirty="0"/>
              <a:t>차 장기 송</a:t>
            </a:r>
            <a:r>
              <a:rPr lang="en-US" altLang="ko-KR" sz="900" dirty="0"/>
              <a:t>·</a:t>
            </a:r>
            <a:r>
              <a:rPr lang="ko-KR" altLang="en-US" sz="900" dirty="0"/>
              <a:t>변전 설비계획</a:t>
            </a:r>
            <a:endParaRPr lang="en-US" altLang="ko-KR" sz="9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D0481EE-6EAF-4030-819C-92D8A9DA7CD3}"/>
              </a:ext>
            </a:extLst>
          </p:cNvPr>
          <p:cNvSpPr txBox="1"/>
          <p:nvPr/>
        </p:nvSpPr>
        <p:spPr>
          <a:xfrm>
            <a:off x="1290381" y="4972392"/>
            <a:ext cx="2249334" cy="4045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fontAlgn="base">
              <a:lnSpc>
                <a:spcPct val="120000"/>
              </a:lnSpc>
              <a:buSzPct val="50000"/>
            </a:pPr>
            <a:r>
              <a:rPr lang="en-US" altLang="ko-KR" b="1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200%</a:t>
            </a:r>
            <a:r>
              <a:rPr lang="en-US" altLang="ko-KR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 증가 예상</a:t>
            </a:r>
            <a:endParaRPr lang="en-US" altLang="ko-KR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83396F1-7E0F-4F80-90FB-B7B40DB5D6F5}"/>
              </a:ext>
            </a:extLst>
          </p:cNvPr>
          <p:cNvSpPr/>
          <p:nvPr/>
        </p:nvSpPr>
        <p:spPr>
          <a:xfrm>
            <a:off x="4776955" y="3893424"/>
            <a:ext cx="4091364" cy="1002891"/>
          </a:xfrm>
          <a:prstGeom prst="rect">
            <a:avLst/>
          </a:prstGeom>
          <a:solidFill>
            <a:srgbClr val="F2F7FC"/>
          </a:solidFill>
          <a:ln w="6350">
            <a:solidFill>
              <a:srgbClr val="A9B5C7"/>
            </a:solidFill>
          </a:ln>
          <a:effectLst>
            <a:outerShdw dist="25400" dir="5400000" algn="ctr" rotWithShape="0">
              <a:schemeClr val="accent1">
                <a:lumMod val="20000"/>
                <a:lumOff val="80000"/>
                <a:alpha val="8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>
              <a:lnSpc>
                <a:spcPct val="120000"/>
              </a:lnSpc>
            </a:pPr>
            <a:endParaRPr lang="ko-KR" altLang="en-US" sz="1400">
              <a:solidFill>
                <a:schemeClr val="bg2">
                  <a:lumMod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1A63417-9245-4D00-B88A-913F9F3CCA73}"/>
              </a:ext>
            </a:extLst>
          </p:cNvPr>
          <p:cNvSpPr txBox="1"/>
          <p:nvPr/>
        </p:nvSpPr>
        <p:spPr>
          <a:xfrm>
            <a:off x="5070743" y="3925021"/>
            <a:ext cx="3526928" cy="96084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‘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11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 장기 송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변전 설비계획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’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 fontAlgn="base">
              <a:lnSpc>
                <a:spcPct val="120000"/>
              </a:lnSpc>
              <a:buSzPct val="50000"/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송전선로를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2038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년까지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61,000 c-km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</a:p>
          <a:p>
            <a:pPr algn="ctr" fontAlgn="base">
              <a:lnSpc>
                <a:spcPct val="120000"/>
              </a:lnSpc>
              <a:buSzPct val="50000"/>
            </a:pP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2050</a:t>
            </a:r>
            <a:r>
              <a:rPr lang="ko-KR" altLang="en-US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까지 </a:t>
            </a:r>
            <a:r>
              <a:rPr lang="en-US" altLang="ko-KR" sz="1600" dirty="0">
                <a:solidFill>
                  <a:srgbClr val="365DA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81,000 c-km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수준으로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1ED7D9-C381-436A-B3F5-84AD90A1D7BF}"/>
              </a:ext>
            </a:extLst>
          </p:cNvPr>
          <p:cNvSpPr txBox="1"/>
          <p:nvPr/>
        </p:nvSpPr>
        <p:spPr>
          <a:xfrm>
            <a:off x="5847243" y="4972392"/>
            <a:ext cx="2108270" cy="4045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 fontAlgn="base">
              <a:lnSpc>
                <a:spcPct val="120000"/>
              </a:lnSpc>
              <a:buSzPct val="50000"/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최대</a:t>
            </a:r>
            <a:r>
              <a:rPr lang="ko-KR" altLang="en-US" b="1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b="1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2.3</a:t>
            </a:r>
            <a:r>
              <a:rPr lang="ko-KR" altLang="en-US" b="1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</a:t>
            </a:r>
            <a:r>
              <a:rPr lang="en-US" altLang="ko-KR" dirty="0">
                <a:solidFill>
                  <a:schemeClr val="accent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확충 목표</a:t>
            </a:r>
            <a:endParaRPr lang="en-US" altLang="ko-KR" dirty="0">
              <a:solidFill>
                <a:srgbClr val="365DA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6" name="양쪽 모서리가 둥근 사각형 32">
            <a:extLst>
              <a:ext uri="{FF2B5EF4-FFF2-40B4-BE49-F238E27FC236}">
                <a16:creationId xmlns:a16="http://schemas.microsoft.com/office/drawing/2014/main" id="{2144FB08-D6DB-424A-95A0-410B3C3F7D1E}"/>
              </a:ext>
            </a:extLst>
          </p:cNvPr>
          <p:cNvSpPr/>
          <p:nvPr/>
        </p:nvSpPr>
        <p:spPr>
          <a:xfrm>
            <a:off x="320907" y="1289123"/>
            <a:ext cx="4278559" cy="384217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지속적인 </a:t>
            </a:r>
            <a:r>
              <a:rPr lang="ko-KR" alt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전력망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 증가 </a:t>
            </a:r>
          </a:p>
        </p:txBody>
      </p:sp>
      <p:sp>
        <p:nvSpPr>
          <p:cNvPr id="27" name="양쪽 모서리가 둥근 사각형 61">
            <a:extLst>
              <a:ext uri="{FF2B5EF4-FFF2-40B4-BE49-F238E27FC236}">
                <a16:creationId xmlns:a16="http://schemas.microsoft.com/office/drawing/2014/main" id="{9C46B23F-D718-4187-A1B3-D06E9EDAC905}"/>
              </a:ext>
            </a:extLst>
          </p:cNvPr>
          <p:cNvSpPr/>
          <p:nvPr/>
        </p:nvSpPr>
        <p:spPr>
          <a:xfrm>
            <a:off x="4667587" y="1288092"/>
            <a:ext cx="4320549" cy="386279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국내 송전선로 적기 건설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251C099-8BA5-4E1D-93AE-6FF701FB7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04" y="1733027"/>
            <a:ext cx="4116231" cy="1796461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4CF6D9D-9911-4DBC-B7CD-8CF796FAC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030" y="1731059"/>
            <a:ext cx="4091364" cy="1820455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93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FE09B3DB-EEA4-4952-AB16-A7A8DA56BBA0}"/>
              </a:ext>
            </a:extLst>
          </p:cNvPr>
          <p:cNvSpPr/>
          <p:nvPr/>
        </p:nvSpPr>
        <p:spPr>
          <a:xfrm>
            <a:off x="-8754" y="1246087"/>
            <a:ext cx="9144000" cy="9031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CDC0689A-1C0F-4109-802E-7E65450E125F}"/>
              </a:ext>
            </a:extLst>
          </p:cNvPr>
          <p:cNvSpPr/>
          <p:nvPr/>
        </p:nvSpPr>
        <p:spPr>
          <a:xfrm>
            <a:off x="305771" y="2488987"/>
            <a:ext cx="8567643" cy="3159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484EACE2-7FEC-4C10-BCDF-C29F1C541D5D}"/>
              </a:ext>
            </a:extLst>
          </p:cNvPr>
          <p:cNvGrpSpPr/>
          <p:nvPr/>
        </p:nvGrpSpPr>
        <p:grpSpPr>
          <a:xfrm>
            <a:off x="3688011" y="2242183"/>
            <a:ext cx="5113108" cy="3219294"/>
            <a:chOff x="-824572" y="2339024"/>
            <a:chExt cx="5113108" cy="3219294"/>
          </a:xfrm>
        </p:grpSpPr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07736140-82BA-421E-8945-619CD5CE67BF}"/>
                </a:ext>
              </a:extLst>
            </p:cNvPr>
            <p:cNvGrpSpPr/>
            <p:nvPr/>
          </p:nvGrpSpPr>
          <p:grpSpPr>
            <a:xfrm>
              <a:off x="-824572" y="2339024"/>
              <a:ext cx="5113108" cy="3219294"/>
              <a:chOff x="2161706" y="2052902"/>
              <a:chExt cx="6848944" cy="4534247"/>
            </a:xfrm>
          </p:grpSpPr>
          <p:cxnSp>
            <p:nvCxnSpPr>
              <p:cNvPr id="172" name="직선 화살표 연결선 171">
                <a:extLst>
                  <a:ext uri="{FF2B5EF4-FFF2-40B4-BE49-F238E27FC236}">
                    <a16:creationId xmlns:a16="http://schemas.microsoft.com/office/drawing/2014/main" id="{208B5F2A-7412-4AA3-AD19-92BE55C656EE}"/>
                  </a:ext>
                </a:extLst>
              </p:cNvPr>
              <p:cNvCxnSpPr>
                <a:stCxn id="195" idx="3"/>
                <a:endCxn id="197" idx="1"/>
              </p:cNvCxnSpPr>
              <p:nvPr/>
            </p:nvCxnSpPr>
            <p:spPr>
              <a:xfrm>
                <a:off x="4594917" y="6355640"/>
                <a:ext cx="3791339" cy="16931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그룹 172">
                <a:extLst>
                  <a:ext uri="{FF2B5EF4-FFF2-40B4-BE49-F238E27FC236}">
                    <a16:creationId xmlns:a16="http://schemas.microsoft.com/office/drawing/2014/main" id="{D61A3187-E7A6-40A5-9F79-1CBC7DD21415}"/>
                  </a:ext>
                </a:extLst>
              </p:cNvPr>
              <p:cNvGrpSpPr/>
              <p:nvPr/>
            </p:nvGrpSpPr>
            <p:grpSpPr>
              <a:xfrm>
                <a:off x="4191000" y="2818413"/>
                <a:ext cx="4819650" cy="3310356"/>
                <a:chOff x="4572000" y="3094596"/>
                <a:chExt cx="4429125" cy="3034170"/>
              </a:xfrm>
            </p:grpSpPr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46C189F1-6142-44DC-82F9-54DC4BC4DD3A}"/>
                    </a:ext>
                  </a:extLst>
                </p:cNvPr>
                <p:cNvCxnSpPr/>
                <p:nvPr/>
              </p:nvCxnSpPr>
              <p:spPr>
                <a:xfrm>
                  <a:off x="4572000" y="3094596"/>
                  <a:ext cx="0" cy="30208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6D985410-2169-473E-BEAA-95A055043B17}"/>
                    </a:ext>
                  </a:extLst>
                </p:cNvPr>
                <p:cNvCxnSpPr/>
                <p:nvPr/>
              </p:nvCxnSpPr>
              <p:spPr>
                <a:xfrm flipH="1">
                  <a:off x="4572000" y="6128766"/>
                  <a:ext cx="44291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그룹 173">
                <a:extLst>
                  <a:ext uri="{FF2B5EF4-FFF2-40B4-BE49-F238E27FC236}">
                    <a16:creationId xmlns:a16="http://schemas.microsoft.com/office/drawing/2014/main" id="{856EBA6C-CDB9-4592-936B-07BA261CE082}"/>
                  </a:ext>
                </a:extLst>
              </p:cNvPr>
              <p:cNvGrpSpPr/>
              <p:nvPr/>
            </p:nvGrpSpPr>
            <p:grpSpPr>
              <a:xfrm>
                <a:off x="2161706" y="4221860"/>
                <a:ext cx="6470229" cy="1222856"/>
                <a:chOff x="2107406" y="3505286"/>
                <a:chExt cx="6253162" cy="2030917"/>
              </a:xfrm>
            </p:grpSpPr>
            <p:sp>
              <p:nvSpPr>
                <p:cNvPr id="204" name="원호 203">
                  <a:extLst>
                    <a:ext uri="{FF2B5EF4-FFF2-40B4-BE49-F238E27FC236}">
                      <a16:creationId xmlns:a16="http://schemas.microsoft.com/office/drawing/2014/main" id="{B9806EA0-0256-4FEA-9169-4187F5530F27}"/>
                    </a:ext>
                  </a:extLst>
                </p:cNvPr>
                <p:cNvSpPr/>
                <p:nvPr/>
              </p:nvSpPr>
              <p:spPr>
                <a:xfrm>
                  <a:off x="2107406" y="3505286"/>
                  <a:ext cx="4167187" cy="1935427"/>
                </a:xfrm>
                <a:prstGeom prst="arc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205" name="원호 204">
                  <a:extLst>
                    <a:ext uri="{FF2B5EF4-FFF2-40B4-BE49-F238E27FC236}">
                      <a16:creationId xmlns:a16="http://schemas.microsoft.com/office/drawing/2014/main" id="{7176393B-7F1B-4AA5-8A10-7A21A2978889}"/>
                    </a:ext>
                  </a:extLst>
                </p:cNvPr>
                <p:cNvSpPr/>
                <p:nvPr/>
              </p:nvSpPr>
              <p:spPr>
                <a:xfrm>
                  <a:off x="4193381" y="3793827"/>
                  <a:ext cx="4167187" cy="1742376"/>
                </a:xfrm>
                <a:prstGeom prst="arc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AF5B620B-C26D-40AC-BC18-638635EF2C91}"/>
                    </a:ext>
                  </a:extLst>
                </p:cNvPr>
                <p:cNvCxnSpPr>
                  <a:stCxn id="204" idx="2"/>
                  <a:endCxn id="205" idx="0"/>
                </p:cNvCxnSpPr>
                <p:nvPr/>
              </p:nvCxnSpPr>
              <p:spPr>
                <a:xfrm flipV="1">
                  <a:off x="6274593" y="3793826"/>
                  <a:ext cx="2382" cy="679173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그룹 174">
                <a:extLst>
                  <a:ext uri="{FF2B5EF4-FFF2-40B4-BE49-F238E27FC236}">
                    <a16:creationId xmlns:a16="http://schemas.microsoft.com/office/drawing/2014/main" id="{B723A6A2-E843-452E-8233-05A429106042}"/>
                  </a:ext>
                </a:extLst>
              </p:cNvPr>
              <p:cNvGrpSpPr/>
              <p:nvPr/>
            </p:nvGrpSpPr>
            <p:grpSpPr>
              <a:xfrm>
                <a:off x="2167128" y="2052902"/>
                <a:ext cx="6464868" cy="2030492"/>
                <a:chOff x="1890795" y="5274132"/>
                <a:chExt cx="6919992" cy="2688811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72062374-1923-448A-A14D-9236CDBDCB2C}"/>
                    </a:ext>
                  </a:extLst>
                </p:cNvPr>
                <p:cNvGrpSpPr/>
                <p:nvPr/>
              </p:nvGrpSpPr>
              <p:grpSpPr>
                <a:xfrm>
                  <a:off x="1890795" y="5274132"/>
                  <a:ext cx="6919992" cy="2688811"/>
                  <a:chOff x="1890795" y="-26797"/>
                  <a:chExt cx="6919992" cy="5951390"/>
                </a:xfrm>
              </p:grpSpPr>
              <p:sp>
                <p:nvSpPr>
                  <p:cNvPr id="202" name="원호 201">
                    <a:extLst>
                      <a:ext uri="{FF2B5EF4-FFF2-40B4-BE49-F238E27FC236}">
                        <a16:creationId xmlns:a16="http://schemas.microsoft.com/office/drawing/2014/main" id="{531A45ED-0B9E-43C8-AA33-83CF83DBA89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890795" y="638175"/>
                    <a:ext cx="4600410" cy="5286418"/>
                  </a:xfrm>
                  <a:prstGeom prst="arc">
                    <a:avLst>
                      <a:gd name="adj1" fmla="val 10780519"/>
                      <a:gd name="adj2" fmla="val 16210968"/>
                    </a:avLst>
                  </a:prstGeom>
                  <a:ln w="190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203" name="원호 202">
                    <a:extLst>
                      <a:ext uri="{FF2B5EF4-FFF2-40B4-BE49-F238E27FC236}">
                        <a16:creationId xmlns:a16="http://schemas.microsoft.com/office/drawing/2014/main" id="{813C3C9F-300C-46B7-BCBC-64FB0229B21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0378" y="-26797"/>
                    <a:ext cx="4600409" cy="5019352"/>
                  </a:xfrm>
                  <a:prstGeom prst="arc">
                    <a:avLst>
                      <a:gd name="adj1" fmla="val 10780519"/>
                      <a:gd name="adj2" fmla="val 16210968"/>
                    </a:avLst>
                  </a:prstGeom>
                  <a:ln w="190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D57B1DC7-1AC0-4910-83BF-E69BE57464F2}"/>
                    </a:ext>
                  </a:extLst>
                </p:cNvPr>
                <p:cNvCxnSpPr/>
                <p:nvPr/>
              </p:nvCxnSpPr>
              <p:spPr>
                <a:xfrm flipH="1" flipV="1">
                  <a:off x="6491068" y="6743017"/>
                  <a:ext cx="0" cy="791235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065F9A0B-73F6-477F-AC2F-BE97C8F0EAF5}"/>
                  </a:ext>
                </a:extLst>
              </p:cNvPr>
              <p:cNvSpPr/>
              <p:nvPr/>
            </p:nvSpPr>
            <p:spPr>
              <a:xfrm>
                <a:off x="4304826" y="4863392"/>
                <a:ext cx="144000" cy="1260000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E93E8E8E-AF69-42DB-8C00-639B4E416FD8}"/>
                  </a:ext>
                </a:extLst>
              </p:cNvPr>
              <p:cNvSpPr/>
              <p:nvPr/>
            </p:nvSpPr>
            <p:spPr>
              <a:xfrm>
                <a:off x="4777788" y="5946763"/>
                <a:ext cx="144000" cy="176629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5F95BFC5-836F-4749-9E46-2F75E55AFC17}"/>
                  </a:ext>
                </a:extLst>
              </p:cNvPr>
              <p:cNvSpPr/>
              <p:nvPr/>
            </p:nvSpPr>
            <p:spPr>
              <a:xfrm>
                <a:off x="5014269" y="5946763"/>
                <a:ext cx="144000" cy="176629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6A9A9CA1-6B28-4A65-9635-BEC4FFCCAD29}"/>
                  </a:ext>
                </a:extLst>
              </p:cNvPr>
              <p:cNvSpPr/>
              <p:nvPr/>
            </p:nvSpPr>
            <p:spPr>
              <a:xfrm>
                <a:off x="5723712" y="5852181"/>
                <a:ext cx="144000" cy="27121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F6AD9C19-38E7-416B-8CA7-A163B7780B05}"/>
                  </a:ext>
                </a:extLst>
              </p:cNvPr>
              <p:cNvSpPr/>
              <p:nvPr/>
            </p:nvSpPr>
            <p:spPr>
              <a:xfrm>
                <a:off x="4541307" y="5976201"/>
                <a:ext cx="144000" cy="14719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05F7EDDE-2294-4AC5-A625-F37CB7E986FE}"/>
                  </a:ext>
                </a:extLst>
              </p:cNvPr>
              <p:cNvSpPr/>
              <p:nvPr/>
            </p:nvSpPr>
            <p:spPr>
              <a:xfrm>
                <a:off x="5250750" y="5887887"/>
                <a:ext cx="144000" cy="235505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D636DF91-7066-40FA-8B0B-23D33F92DF68}"/>
                  </a:ext>
                </a:extLst>
              </p:cNvPr>
              <p:cNvSpPr/>
              <p:nvPr/>
            </p:nvSpPr>
            <p:spPr>
              <a:xfrm>
                <a:off x="5487231" y="5863481"/>
                <a:ext cx="144000" cy="25991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3" name="직사각형 182">
                <a:extLst>
                  <a:ext uri="{FF2B5EF4-FFF2-40B4-BE49-F238E27FC236}">
                    <a16:creationId xmlns:a16="http://schemas.microsoft.com/office/drawing/2014/main" id="{C481E4F8-49D4-4968-AF95-3DC968C11967}"/>
                  </a:ext>
                </a:extLst>
              </p:cNvPr>
              <p:cNvSpPr/>
              <p:nvPr/>
            </p:nvSpPr>
            <p:spPr>
              <a:xfrm>
                <a:off x="5960193" y="5840880"/>
                <a:ext cx="144000" cy="28251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71F7D44F-5173-4970-880C-8512747578F0}"/>
                  </a:ext>
                </a:extLst>
              </p:cNvPr>
              <p:cNvSpPr/>
              <p:nvPr/>
            </p:nvSpPr>
            <p:spPr>
              <a:xfrm>
                <a:off x="6196674" y="5829580"/>
                <a:ext cx="144000" cy="29381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5E7D1C5F-6482-445D-A9DB-05B3451B8630}"/>
                  </a:ext>
                </a:extLst>
              </p:cNvPr>
              <p:cNvSpPr/>
              <p:nvPr/>
            </p:nvSpPr>
            <p:spPr>
              <a:xfrm>
                <a:off x="6433155" y="5534630"/>
                <a:ext cx="144000" cy="58876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52FFFC9D-85E8-44EA-8846-23E90B5E1F1F}"/>
                  </a:ext>
                </a:extLst>
              </p:cNvPr>
              <p:cNvSpPr/>
              <p:nvPr/>
            </p:nvSpPr>
            <p:spPr>
              <a:xfrm>
                <a:off x="6906117" y="5946763"/>
                <a:ext cx="144000" cy="176629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C0D25013-0F45-4974-9207-6288CA20C49A}"/>
                  </a:ext>
                </a:extLst>
              </p:cNvPr>
              <p:cNvSpPr/>
              <p:nvPr/>
            </p:nvSpPr>
            <p:spPr>
              <a:xfrm>
                <a:off x="7142598" y="5946763"/>
                <a:ext cx="144000" cy="176629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C07DAB3-AC63-4A09-9B9F-A93828222286}"/>
                  </a:ext>
                </a:extLst>
              </p:cNvPr>
              <p:cNvSpPr/>
              <p:nvPr/>
            </p:nvSpPr>
            <p:spPr>
              <a:xfrm>
                <a:off x="7852041" y="5852181"/>
                <a:ext cx="144000" cy="27121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9" name="직사각형 188">
                <a:extLst>
                  <a:ext uri="{FF2B5EF4-FFF2-40B4-BE49-F238E27FC236}">
                    <a16:creationId xmlns:a16="http://schemas.microsoft.com/office/drawing/2014/main" id="{E748408D-5176-4F32-889D-B4AA87951C38}"/>
                  </a:ext>
                </a:extLst>
              </p:cNvPr>
              <p:cNvSpPr/>
              <p:nvPr/>
            </p:nvSpPr>
            <p:spPr>
              <a:xfrm>
                <a:off x="6669636" y="5976201"/>
                <a:ext cx="144000" cy="14719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F39736F5-8853-4DBE-A35A-D33C7B10E87B}"/>
                  </a:ext>
                </a:extLst>
              </p:cNvPr>
              <p:cNvSpPr/>
              <p:nvPr/>
            </p:nvSpPr>
            <p:spPr>
              <a:xfrm>
                <a:off x="7379079" y="5887887"/>
                <a:ext cx="144000" cy="235505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00ADD1C7-4F03-429C-AD86-27F8C382AC1F}"/>
                  </a:ext>
                </a:extLst>
              </p:cNvPr>
              <p:cNvSpPr/>
              <p:nvPr/>
            </p:nvSpPr>
            <p:spPr>
              <a:xfrm>
                <a:off x="7615560" y="5863481"/>
                <a:ext cx="144000" cy="25991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1DB5E6FD-9E8F-4C2E-8FD8-FFBA229CE254}"/>
                  </a:ext>
                </a:extLst>
              </p:cNvPr>
              <p:cNvSpPr/>
              <p:nvPr/>
            </p:nvSpPr>
            <p:spPr>
              <a:xfrm>
                <a:off x="8088522" y="5840880"/>
                <a:ext cx="144000" cy="28251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4FD8C76C-F7A9-4840-B2D7-967BF04BC869}"/>
                  </a:ext>
                </a:extLst>
              </p:cNvPr>
              <p:cNvSpPr/>
              <p:nvPr/>
            </p:nvSpPr>
            <p:spPr>
              <a:xfrm>
                <a:off x="8325003" y="5829580"/>
                <a:ext cx="144000" cy="29381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644A04CA-E2E2-44DE-A349-AEA917673F80}"/>
                  </a:ext>
                </a:extLst>
              </p:cNvPr>
              <p:cNvSpPr/>
              <p:nvPr/>
            </p:nvSpPr>
            <p:spPr>
              <a:xfrm>
                <a:off x="8561484" y="4863392"/>
                <a:ext cx="144000" cy="1260000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6213E7BD-9D94-40FF-A3B6-7D4292C904B5}"/>
                  </a:ext>
                </a:extLst>
              </p:cNvPr>
              <p:cNvSpPr/>
              <p:nvPr/>
            </p:nvSpPr>
            <p:spPr>
              <a:xfrm>
                <a:off x="4084317" y="6201751"/>
                <a:ext cx="578026" cy="3684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취득</a:t>
                </a:r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1D3E6FEA-16F7-4F14-983B-D10E7ECDFA0E}"/>
                  </a:ext>
                </a:extLst>
              </p:cNvPr>
              <p:cNvSpPr/>
              <p:nvPr/>
            </p:nvSpPr>
            <p:spPr>
              <a:xfrm>
                <a:off x="6146747" y="6201751"/>
                <a:ext cx="743362" cy="36846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100" dirty="0" err="1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중수리</a:t>
                </a:r>
                <a:endParaRPr lang="ko-KR" altLang="en-US" sz="1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3AA442CF-30E3-4783-A2A9-48427CEA1502}"/>
                  </a:ext>
                </a:extLst>
              </p:cNvPr>
              <p:cNvSpPr/>
              <p:nvPr/>
            </p:nvSpPr>
            <p:spPr>
              <a:xfrm>
                <a:off x="8374510" y="6218682"/>
                <a:ext cx="578026" cy="3684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교체</a:t>
                </a:r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DA0A0B79-B820-4731-AB17-02ACD7363131}"/>
                  </a:ext>
                </a:extLst>
              </p:cNvPr>
              <p:cNvSpPr/>
              <p:nvPr/>
            </p:nvSpPr>
            <p:spPr>
              <a:xfrm>
                <a:off x="4825873" y="6201751"/>
                <a:ext cx="1157771" cy="36846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점검</a:t>
                </a:r>
                <a:r>
                  <a:rPr lang="en-US" altLang="ko-KR" sz="1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  <a:r>
                  <a:rPr lang="ko-KR" altLang="en-US" sz="1100" dirty="0" err="1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경수리</a:t>
                </a:r>
                <a:endParaRPr lang="ko-KR" altLang="en-US" sz="1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5391A56B-D505-4EE5-80D5-28D521D3D972}"/>
                  </a:ext>
                </a:extLst>
              </p:cNvPr>
              <p:cNvSpPr/>
              <p:nvPr/>
            </p:nvSpPr>
            <p:spPr>
              <a:xfrm>
                <a:off x="7053211" y="6201751"/>
                <a:ext cx="1157771" cy="36846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점검</a:t>
                </a:r>
                <a:r>
                  <a:rPr lang="en-US" altLang="ko-KR" sz="1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  <a:r>
                  <a:rPr lang="ko-KR" altLang="en-US" sz="1100" dirty="0" err="1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경수리</a:t>
                </a:r>
                <a:endParaRPr lang="ko-KR" altLang="en-US" sz="110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A40FDB75-A5CB-4352-8213-5A248AC088B6}"/>
                </a:ext>
              </a:extLst>
            </p:cNvPr>
            <p:cNvSpPr/>
            <p:nvPr/>
          </p:nvSpPr>
          <p:spPr>
            <a:xfrm>
              <a:off x="-11856" y="3079391"/>
              <a:ext cx="63991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고장</a:t>
              </a:r>
              <a:endParaRPr lang="en-US" altLang="ko-KR" sz="1400" b="1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/>
              <a:r>
                <a:rPr lang="ko-KR" altLang="en-US" sz="14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리스크</a:t>
              </a:r>
              <a:endParaRPr lang="en-US" altLang="ko-KR" sz="1400" b="1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/>
              <a:r>
                <a:rPr lang="en-US" altLang="ko-KR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최소화</a:t>
              </a:r>
              <a:r>
                <a:rPr lang="en-US" altLang="ko-KR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B531C2CE-EA41-4E30-A835-0E269B0B4C30}"/>
                </a:ext>
              </a:extLst>
            </p:cNvPr>
            <p:cNvSpPr/>
            <p:nvPr/>
          </p:nvSpPr>
          <p:spPr>
            <a:xfrm>
              <a:off x="50663" y="3915017"/>
              <a:ext cx="514885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B05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성능</a:t>
              </a:r>
              <a:endParaRPr lang="en-US" altLang="ko-KR" sz="1400" b="1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B05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/>
              <a:r>
                <a:rPr lang="en-US" altLang="ko-KR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B05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B05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유지</a:t>
              </a:r>
              <a:r>
                <a:rPr lang="en-US" altLang="ko-KR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B05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E977FF81-5F25-4A7C-93EA-32098EECF62E}"/>
                </a:ext>
              </a:extLst>
            </p:cNvPr>
            <p:cNvSpPr/>
            <p:nvPr/>
          </p:nvSpPr>
          <p:spPr>
            <a:xfrm>
              <a:off x="-1499" y="4650727"/>
              <a:ext cx="639919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66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비용</a:t>
              </a:r>
              <a:endParaRPr lang="en-US" altLang="ko-KR" sz="1400" b="1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66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/>
              <a:r>
                <a:rPr lang="en-US" altLang="ko-KR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66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66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최소화</a:t>
              </a:r>
              <a:r>
                <a:rPr lang="en-US" altLang="ko-KR" sz="1200" b="1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0066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</p:txBody>
        </p:sp>
      </p:grp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BDFA7FD6-11AB-469C-BA3D-2710CD8A7404}"/>
              </a:ext>
            </a:extLst>
          </p:cNvPr>
          <p:cNvCxnSpPr/>
          <p:nvPr/>
        </p:nvCxnSpPr>
        <p:spPr>
          <a:xfrm>
            <a:off x="5202989" y="4191695"/>
            <a:ext cx="34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D89A539A-C081-4470-8011-679EE8923124}"/>
              </a:ext>
            </a:extLst>
          </p:cNvPr>
          <p:cNvSpPr txBox="1"/>
          <p:nvPr/>
        </p:nvSpPr>
        <p:spPr>
          <a:xfrm>
            <a:off x="5153969" y="3932855"/>
            <a:ext cx="13356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Threshold(Trigger)</a:t>
            </a:r>
            <a:endParaRPr lang="ko-KR" altLang="en-US" sz="1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95F8DFF-D1B7-41E0-AB8F-E9EC9A78CEA4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전력설비 자산관리 기술 도입 필요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9" name="양쪽 모서리가 둥근 사각형 61">
            <a:extLst>
              <a:ext uri="{FF2B5EF4-FFF2-40B4-BE49-F238E27FC236}">
                <a16:creationId xmlns:a16="http://schemas.microsoft.com/office/drawing/2014/main" id="{399139BA-2210-40E1-92DE-108886855DEC}"/>
              </a:ext>
            </a:extLst>
          </p:cNvPr>
          <p:cNvSpPr/>
          <p:nvPr/>
        </p:nvSpPr>
        <p:spPr>
          <a:xfrm>
            <a:off x="305771" y="2270090"/>
            <a:ext cx="8567642" cy="386279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 </a:t>
            </a:r>
            <a:r>
              <a:rPr lang="ko-KR" altLang="en-US" sz="16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자산관리 시스템 개념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1AB6DAF-AE7D-458F-97E5-A25AE2B19ED4}"/>
              </a:ext>
            </a:extLst>
          </p:cNvPr>
          <p:cNvCxnSpPr>
            <a:cxnSpLocks/>
          </p:cNvCxnSpPr>
          <p:nvPr/>
        </p:nvCxnSpPr>
        <p:spPr>
          <a:xfrm flipH="1">
            <a:off x="2295196" y="3104331"/>
            <a:ext cx="1" cy="1128669"/>
          </a:xfrm>
          <a:prstGeom prst="line">
            <a:avLst/>
          </a:prstGeom>
          <a:ln w="1016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3642848D-1663-42C7-90D3-5CFEAC157A0B}"/>
              </a:ext>
            </a:extLst>
          </p:cNvPr>
          <p:cNvCxnSpPr>
            <a:cxnSpLocks/>
          </p:cNvCxnSpPr>
          <p:nvPr/>
        </p:nvCxnSpPr>
        <p:spPr>
          <a:xfrm flipH="1">
            <a:off x="1183507" y="4327570"/>
            <a:ext cx="1010364" cy="769188"/>
          </a:xfrm>
          <a:prstGeom prst="line">
            <a:avLst/>
          </a:prstGeom>
          <a:ln w="101600">
            <a:solidFill>
              <a:srgbClr val="0066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41A019CF-DF23-454E-A675-405BD5319BE9}"/>
              </a:ext>
            </a:extLst>
          </p:cNvPr>
          <p:cNvCxnSpPr>
            <a:cxnSpLocks/>
          </p:cNvCxnSpPr>
          <p:nvPr/>
        </p:nvCxnSpPr>
        <p:spPr>
          <a:xfrm>
            <a:off x="2394149" y="4327570"/>
            <a:ext cx="1010364" cy="769188"/>
          </a:xfrm>
          <a:prstGeom prst="line">
            <a:avLst/>
          </a:prstGeom>
          <a:ln w="1016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BD191F3-AB79-47E5-8337-2CEC263E0F9A}"/>
              </a:ext>
            </a:extLst>
          </p:cNvPr>
          <p:cNvSpPr txBox="1"/>
          <p:nvPr/>
        </p:nvSpPr>
        <p:spPr>
          <a:xfrm>
            <a:off x="1642949" y="2710457"/>
            <a:ext cx="133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리스크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A3A8665-C309-4A02-A976-5E66C7F4DB5F}"/>
              </a:ext>
            </a:extLst>
          </p:cNvPr>
          <p:cNvSpPr txBox="1"/>
          <p:nvPr/>
        </p:nvSpPr>
        <p:spPr>
          <a:xfrm>
            <a:off x="278099" y="5161681"/>
            <a:ext cx="133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66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비용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5AFE3AD-EE7C-42EF-9F56-6A1E0D5E2D47}"/>
              </a:ext>
            </a:extLst>
          </p:cNvPr>
          <p:cNvSpPr txBox="1"/>
          <p:nvPr/>
        </p:nvSpPr>
        <p:spPr>
          <a:xfrm>
            <a:off x="2834803" y="5136307"/>
            <a:ext cx="133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B05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성능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6AABB324-5F75-4B45-A1FA-B56D94809089}"/>
              </a:ext>
            </a:extLst>
          </p:cNvPr>
          <p:cNvSpPr txBox="1"/>
          <p:nvPr/>
        </p:nvSpPr>
        <p:spPr>
          <a:xfrm>
            <a:off x="2610590" y="3403872"/>
            <a:ext cx="1723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sset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erformance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anagement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7A359CE-FD00-4B6C-9810-862B533E7BA1}"/>
              </a:ext>
            </a:extLst>
          </p:cNvPr>
          <p:cNvSpPr txBox="1"/>
          <p:nvPr/>
        </p:nvSpPr>
        <p:spPr>
          <a:xfrm>
            <a:off x="841292" y="3403872"/>
            <a:ext cx="1396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sset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nvestment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lanning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A725DB2-65CA-4D99-ADF6-7310675E9B17}"/>
              </a:ext>
            </a:extLst>
          </p:cNvPr>
          <p:cNvSpPr txBox="1"/>
          <p:nvPr/>
        </p:nvSpPr>
        <p:spPr>
          <a:xfrm>
            <a:off x="802690" y="1271736"/>
            <a:ext cx="3359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노후화 전력설비 교체시기 도래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전력수요의 가파른 증가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탄소중립에 대한 투자 수요 증가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487B46AA-AE81-4E33-98AF-F9C7B981A112}"/>
              </a:ext>
            </a:extLst>
          </p:cNvPr>
          <p:cNvSpPr/>
          <p:nvPr/>
        </p:nvSpPr>
        <p:spPr>
          <a:xfrm rot="5400000">
            <a:off x="4482828" y="1619264"/>
            <a:ext cx="266906" cy="230091"/>
          </a:xfrm>
          <a:prstGeom prst="triangle">
            <a:avLst/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290B6664-C4C3-4E5A-86BC-2B4B2A23AA1E}"/>
              </a:ext>
            </a:extLst>
          </p:cNvPr>
          <p:cNvSpPr txBox="1"/>
          <p:nvPr/>
        </p:nvSpPr>
        <p:spPr>
          <a:xfrm>
            <a:off x="4899494" y="1441157"/>
            <a:ext cx="3506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 재원 확보의 어려움으로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비용 효율적인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자산관리 기술 도입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3613703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572000" y="2318891"/>
            <a:ext cx="344805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전력설비 자산관리 시스템 개요 및 한계</a:t>
            </a:r>
          </a:p>
        </p:txBody>
      </p:sp>
    </p:spTree>
    <p:extLst>
      <p:ext uri="{BB962C8B-B14F-4D97-AF65-F5344CB8AC3E}">
        <p14:creationId xmlns:p14="http://schemas.microsoft.com/office/powerpoint/2010/main" val="86475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FE09B3DB-EEA4-4952-AB16-A7A8DA56BBA0}"/>
              </a:ext>
            </a:extLst>
          </p:cNvPr>
          <p:cNvSpPr/>
          <p:nvPr/>
        </p:nvSpPr>
        <p:spPr>
          <a:xfrm>
            <a:off x="-8754" y="1246086"/>
            <a:ext cx="9144000" cy="984753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전력설비 자산관리 시스템 개요 및 한계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95F8DFF-D1B7-41E0-AB8F-E9EC9A78CEA4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자산관리 등장 배경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97E026-0A42-4A30-821C-732052A8A5D4}"/>
              </a:ext>
            </a:extLst>
          </p:cNvPr>
          <p:cNvSpPr txBox="1"/>
          <p:nvPr/>
        </p:nvSpPr>
        <p:spPr>
          <a:xfrm>
            <a:off x="346909" y="1312869"/>
            <a:ext cx="8432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노후화산업화를 먼저 시작한 선진국에서는 산업 설비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화학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철강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제조 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및 사회 인프라 시설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도로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항만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철도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통신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상하수도 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노후화로 인한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급격한 유지관리 비용 상승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예산 </a:t>
            </a:r>
            <a:b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부족을 경험하면서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투자의 적정성을 판단할 수 있는 자산관리 개념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등장</a:t>
            </a:r>
          </a:p>
        </p:txBody>
      </p:sp>
      <p:sp>
        <p:nvSpPr>
          <p:cNvPr id="71" name="오각형 124">
            <a:extLst>
              <a:ext uri="{FF2B5EF4-FFF2-40B4-BE49-F238E27FC236}">
                <a16:creationId xmlns:a16="http://schemas.microsoft.com/office/drawing/2014/main" id="{1A172B03-AF95-4D68-A522-BEB2B91B160B}"/>
              </a:ext>
            </a:extLst>
          </p:cNvPr>
          <p:cNvSpPr/>
          <p:nvPr/>
        </p:nvSpPr>
        <p:spPr>
          <a:xfrm flipH="1">
            <a:off x="7907950" y="2732912"/>
            <a:ext cx="927710" cy="385733"/>
          </a:xfrm>
          <a:prstGeom prst="homePlate">
            <a:avLst>
              <a:gd name="adj" fmla="val 32523"/>
            </a:avLst>
          </a:prstGeom>
          <a:solidFill>
            <a:srgbClr val="E0EB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0"/>
              </a:spcBef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최초의 표준 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1D663B5-F511-4A25-9BA3-114A302BDBF2}"/>
              </a:ext>
            </a:extLst>
          </p:cNvPr>
          <p:cNvCxnSpPr>
            <a:cxnSpLocks/>
          </p:cNvCxnSpPr>
          <p:nvPr/>
        </p:nvCxnSpPr>
        <p:spPr>
          <a:xfrm>
            <a:off x="420698" y="3193318"/>
            <a:ext cx="839945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93982F0-0A9E-46ED-9BB9-6FB476DE4B53}"/>
              </a:ext>
            </a:extLst>
          </p:cNvPr>
          <p:cNvSpPr/>
          <p:nvPr/>
        </p:nvSpPr>
        <p:spPr>
          <a:xfrm>
            <a:off x="290831" y="2323027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자산관리 국제표준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DC837A-93AE-478A-8E4C-F3283672BE42}"/>
              </a:ext>
            </a:extLst>
          </p:cNvPr>
          <p:cNvSpPr txBox="1"/>
          <p:nvPr/>
        </p:nvSpPr>
        <p:spPr>
          <a:xfrm>
            <a:off x="346909" y="2764302"/>
            <a:ext cx="84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PAS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55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전력회사의 자산관리 과정을 명확히 하고 체계적으로 수행하기 위한 영국 규정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736968-AC6C-4A2A-8220-25CBD385DC45}"/>
              </a:ext>
            </a:extLst>
          </p:cNvPr>
          <p:cNvSpPr txBox="1"/>
          <p:nvPr/>
        </p:nvSpPr>
        <p:spPr>
          <a:xfrm>
            <a:off x="346909" y="3293359"/>
            <a:ext cx="84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ISO 55000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국제 규정으로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기업 종류에 구분 없이 자산관리를 수행하기 위한 지침서</a:t>
            </a:r>
          </a:p>
        </p:txBody>
      </p:sp>
      <p:sp>
        <p:nvSpPr>
          <p:cNvPr id="79" name="오각형 124">
            <a:extLst>
              <a:ext uri="{FF2B5EF4-FFF2-40B4-BE49-F238E27FC236}">
                <a16:creationId xmlns:a16="http://schemas.microsoft.com/office/drawing/2014/main" id="{22A5A109-B13E-4F5C-8EC8-2DA858BD2A41}"/>
              </a:ext>
            </a:extLst>
          </p:cNvPr>
          <p:cNvSpPr/>
          <p:nvPr/>
        </p:nvSpPr>
        <p:spPr>
          <a:xfrm flipH="1">
            <a:off x="7696863" y="3260760"/>
            <a:ext cx="1138797" cy="385733"/>
          </a:xfrm>
          <a:prstGeom prst="homePlate">
            <a:avLst>
              <a:gd name="adj" fmla="val 32523"/>
            </a:avLst>
          </a:prstGeom>
          <a:solidFill>
            <a:srgbClr val="E0EB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0"/>
              </a:spcBef>
            </a:pPr>
            <a:r>
              <a:rPr lang="en-US" altLang="ko-KR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PAS 55 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 국제 표준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E44CA71-1363-48B7-B182-1E5D7E67E2B1}"/>
              </a:ext>
            </a:extLst>
          </p:cNvPr>
          <p:cNvSpPr/>
          <p:nvPr/>
        </p:nvSpPr>
        <p:spPr>
          <a:xfrm>
            <a:off x="-8754" y="4275087"/>
            <a:ext cx="9144000" cy="724055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0371D16-4E46-4297-AA8C-C6BEACE4836B}"/>
              </a:ext>
            </a:extLst>
          </p:cNvPr>
          <p:cNvSpPr/>
          <p:nvPr/>
        </p:nvSpPr>
        <p:spPr>
          <a:xfrm>
            <a:off x="290831" y="3802009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자산관리 정의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(ISO 55000)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C4BD60-F15E-4B70-90A9-FD2742326BBF}"/>
              </a:ext>
            </a:extLst>
          </p:cNvPr>
          <p:cNvSpPr txBox="1"/>
          <p:nvPr/>
        </p:nvSpPr>
        <p:spPr>
          <a:xfrm>
            <a:off x="346909" y="4341870"/>
            <a:ext cx="8432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조직이 보유한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자산으로부터 더 많은 가치를 창출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하기 위하여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재무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및 기타 자산관련 활동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들을 편성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관리하는 것</a:t>
            </a:r>
          </a:p>
        </p:txBody>
      </p:sp>
    </p:spTree>
    <p:extLst>
      <p:ext uri="{BB962C8B-B14F-4D97-AF65-F5344CB8AC3E}">
        <p14:creationId xmlns:p14="http://schemas.microsoft.com/office/powerpoint/2010/main" val="166906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FE09B3DB-EEA4-4952-AB16-A7A8DA56BBA0}"/>
              </a:ext>
            </a:extLst>
          </p:cNvPr>
          <p:cNvSpPr/>
          <p:nvPr/>
        </p:nvSpPr>
        <p:spPr>
          <a:xfrm>
            <a:off x="-8754" y="1246087"/>
            <a:ext cx="9144000" cy="4780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전력설비 자산관리 시스템 개요 및 한계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95F8DFF-D1B7-41E0-AB8F-E9EC9A78CEA4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전력설비 자산관리 기법의 발전방향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97E026-0A42-4A30-821C-732052A8A5D4}"/>
              </a:ext>
            </a:extLst>
          </p:cNvPr>
          <p:cNvSpPr txBox="1"/>
          <p:nvPr/>
        </p:nvSpPr>
        <p:spPr>
          <a:xfrm>
            <a:off x="346909" y="1312869"/>
            <a:ext cx="8663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전력설비의 자산관리는 디지털화 추세와 요구사항 증가로 인해 </a:t>
            </a:r>
            <a:r>
              <a:rPr lang="ko-KR" altLang="en-US" sz="1600" b="1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</a:t>
            </a:r>
            <a:r>
              <a:rPr lang="en-US" altLang="ko-KR" sz="1600" b="1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600" b="1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평가 방식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변화 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B3C274-1DA1-4852-80F3-785D5F8A0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2" y="1870401"/>
            <a:ext cx="9001766" cy="36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3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전력설비 자산관리 시스템 개요 및 한계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82EA152-7625-4A11-8A5E-DF292A6AD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718206"/>
            <a:ext cx="8039100" cy="388198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5558CF-2696-458F-8123-22216273D343}"/>
              </a:ext>
            </a:extLst>
          </p:cNvPr>
          <p:cNvSpPr/>
          <p:nvPr/>
        </p:nvSpPr>
        <p:spPr>
          <a:xfrm>
            <a:off x="-8754" y="1246086"/>
            <a:ext cx="9144000" cy="478075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32F264-7B6D-4C27-B13F-93AEED74C4CC}"/>
              </a:ext>
            </a:extLst>
          </p:cNvPr>
          <p:cNvSpPr txBox="1"/>
          <p:nvPr/>
        </p:nvSpPr>
        <p:spPr>
          <a:xfrm>
            <a:off x="346909" y="1312869"/>
            <a:ext cx="84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북미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유럽 전력회사를 중심으로 리스크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자산관리를 도입 중이며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전 세계로 확대 추세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5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RBM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도입 해외 전력회사 사례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16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전력설비 자산관리 시스템 개요 및 한계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전력설비 자산관리 시스템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프로세스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0BF45CE7-BE61-4CED-8920-192E8477ED4A}"/>
              </a:ext>
            </a:extLst>
          </p:cNvPr>
          <p:cNvGrpSpPr/>
          <p:nvPr/>
        </p:nvGrpSpPr>
        <p:grpSpPr>
          <a:xfrm>
            <a:off x="137862" y="2862690"/>
            <a:ext cx="2666116" cy="2763818"/>
            <a:chOff x="4099701" y="1115814"/>
            <a:chExt cx="2532260" cy="2625057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2739117-81DB-4E5E-A12B-6BDCD83848C3}"/>
                </a:ext>
              </a:extLst>
            </p:cNvPr>
            <p:cNvSpPr/>
            <p:nvPr/>
          </p:nvSpPr>
          <p:spPr>
            <a:xfrm>
              <a:off x="4556125" y="133334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933E0D3-04AB-4FBC-BB34-AF6C2AB7DECA}"/>
                </a:ext>
              </a:extLst>
            </p:cNvPr>
            <p:cNvSpPr/>
            <p:nvPr/>
          </p:nvSpPr>
          <p:spPr>
            <a:xfrm>
              <a:off x="4956175" y="133334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11A9BF76-DCD0-48F2-8857-AA87D315E637}"/>
                </a:ext>
              </a:extLst>
            </p:cNvPr>
            <p:cNvSpPr/>
            <p:nvPr/>
          </p:nvSpPr>
          <p:spPr>
            <a:xfrm>
              <a:off x="5356225" y="1333348"/>
              <a:ext cx="400050" cy="40005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115D343B-CAB9-4FE7-85C5-9470BD9C18A9}"/>
                </a:ext>
              </a:extLst>
            </p:cNvPr>
            <p:cNvSpPr/>
            <p:nvPr/>
          </p:nvSpPr>
          <p:spPr>
            <a:xfrm>
              <a:off x="5756275" y="1333348"/>
              <a:ext cx="400050" cy="40005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ADD68F0-FD9A-4560-B167-55BCF40A856D}"/>
                </a:ext>
              </a:extLst>
            </p:cNvPr>
            <p:cNvSpPr/>
            <p:nvPr/>
          </p:nvSpPr>
          <p:spPr>
            <a:xfrm>
              <a:off x="6156325" y="1333348"/>
              <a:ext cx="400050" cy="40005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0F25046-35C1-42F6-AEB1-209F329103BA}"/>
                </a:ext>
              </a:extLst>
            </p:cNvPr>
            <p:cNvSpPr/>
            <p:nvPr/>
          </p:nvSpPr>
          <p:spPr>
            <a:xfrm>
              <a:off x="4556125" y="173339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0D1079E-6274-4B10-8E94-D88BEE8317EB}"/>
                </a:ext>
              </a:extLst>
            </p:cNvPr>
            <p:cNvSpPr/>
            <p:nvPr/>
          </p:nvSpPr>
          <p:spPr>
            <a:xfrm>
              <a:off x="4956175" y="173339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99E35A61-5963-4FBB-A066-5DA4F4A9CE38}"/>
                </a:ext>
              </a:extLst>
            </p:cNvPr>
            <p:cNvSpPr/>
            <p:nvPr/>
          </p:nvSpPr>
          <p:spPr>
            <a:xfrm>
              <a:off x="5356225" y="173339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68DF64FB-7477-4C86-AE8D-A60D421B829B}"/>
                </a:ext>
              </a:extLst>
            </p:cNvPr>
            <p:cNvSpPr/>
            <p:nvPr/>
          </p:nvSpPr>
          <p:spPr>
            <a:xfrm>
              <a:off x="5756275" y="1733398"/>
              <a:ext cx="400050" cy="40005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81C7B7E-7AF4-4D90-A51E-BD806D4F1D41}"/>
                </a:ext>
              </a:extLst>
            </p:cNvPr>
            <p:cNvSpPr/>
            <p:nvPr/>
          </p:nvSpPr>
          <p:spPr>
            <a:xfrm>
              <a:off x="6156325" y="1733398"/>
              <a:ext cx="400050" cy="40005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C5353B0-E797-4554-8F74-B4093F8177FD}"/>
                </a:ext>
              </a:extLst>
            </p:cNvPr>
            <p:cNvSpPr/>
            <p:nvPr/>
          </p:nvSpPr>
          <p:spPr>
            <a:xfrm>
              <a:off x="4556125" y="2133448"/>
              <a:ext cx="400050" cy="400050"/>
            </a:xfrm>
            <a:prstGeom prst="rect">
              <a:avLst/>
            </a:prstGeom>
            <a:solidFill>
              <a:srgbClr val="93D1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99ACFB0-D9AA-4B87-AF7F-70B550BB9AC1}"/>
                </a:ext>
              </a:extLst>
            </p:cNvPr>
            <p:cNvSpPr/>
            <p:nvPr/>
          </p:nvSpPr>
          <p:spPr>
            <a:xfrm>
              <a:off x="4956175" y="213344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1FABB03-AB1A-4BCE-B9E1-7A8992C2525A}"/>
                </a:ext>
              </a:extLst>
            </p:cNvPr>
            <p:cNvSpPr/>
            <p:nvPr/>
          </p:nvSpPr>
          <p:spPr>
            <a:xfrm>
              <a:off x="5356225" y="213344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8BDAFFED-FCA4-40B6-84C7-4E52D186BE5F}"/>
                </a:ext>
              </a:extLst>
            </p:cNvPr>
            <p:cNvSpPr/>
            <p:nvPr/>
          </p:nvSpPr>
          <p:spPr>
            <a:xfrm>
              <a:off x="5756275" y="213344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C63F9DD-90A4-4BB4-A617-0CAAC8B30BB8}"/>
                </a:ext>
              </a:extLst>
            </p:cNvPr>
            <p:cNvSpPr/>
            <p:nvPr/>
          </p:nvSpPr>
          <p:spPr>
            <a:xfrm>
              <a:off x="6156325" y="2133448"/>
              <a:ext cx="400050" cy="40005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30C5C76-8165-457A-826E-79F2F4C0053B}"/>
                </a:ext>
              </a:extLst>
            </p:cNvPr>
            <p:cNvSpPr/>
            <p:nvPr/>
          </p:nvSpPr>
          <p:spPr>
            <a:xfrm>
              <a:off x="4556125" y="2533498"/>
              <a:ext cx="400050" cy="400050"/>
            </a:xfrm>
            <a:prstGeom prst="rect">
              <a:avLst/>
            </a:prstGeom>
            <a:solidFill>
              <a:srgbClr val="93D1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FCA6EE92-B523-4707-8FD1-E05F40F6C679}"/>
                </a:ext>
              </a:extLst>
            </p:cNvPr>
            <p:cNvSpPr/>
            <p:nvPr/>
          </p:nvSpPr>
          <p:spPr>
            <a:xfrm>
              <a:off x="4956175" y="253349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5C2B6F8D-94A9-4E1D-B8D7-B977F52E690E}"/>
                </a:ext>
              </a:extLst>
            </p:cNvPr>
            <p:cNvSpPr/>
            <p:nvPr/>
          </p:nvSpPr>
          <p:spPr>
            <a:xfrm>
              <a:off x="5356225" y="253349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BC81E62-BEF9-4CE2-905F-075D82821B76}"/>
                </a:ext>
              </a:extLst>
            </p:cNvPr>
            <p:cNvSpPr/>
            <p:nvPr/>
          </p:nvSpPr>
          <p:spPr>
            <a:xfrm>
              <a:off x="5756275" y="253349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84AED98-C5F1-4790-AEAA-809CC249C05A}"/>
                </a:ext>
              </a:extLst>
            </p:cNvPr>
            <p:cNvSpPr/>
            <p:nvPr/>
          </p:nvSpPr>
          <p:spPr>
            <a:xfrm>
              <a:off x="6156325" y="2533498"/>
              <a:ext cx="400050" cy="400050"/>
            </a:xfrm>
            <a:prstGeom prst="rect">
              <a:avLst/>
            </a:prstGeom>
            <a:solidFill>
              <a:srgbClr val="FFC1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99A1B25-8D8E-49FB-8DF2-00326ABEE583}"/>
                </a:ext>
              </a:extLst>
            </p:cNvPr>
            <p:cNvSpPr/>
            <p:nvPr/>
          </p:nvSpPr>
          <p:spPr>
            <a:xfrm>
              <a:off x="4556125" y="2933548"/>
              <a:ext cx="400050" cy="400050"/>
            </a:xfrm>
            <a:prstGeom prst="rect">
              <a:avLst/>
            </a:prstGeom>
            <a:solidFill>
              <a:srgbClr val="93D1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A755386-7F75-4759-8415-F14F0F696CE4}"/>
                </a:ext>
              </a:extLst>
            </p:cNvPr>
            <p:cNvSpPr/>
            <p:nvPr/>
          </p:nvSpPr>
          <p:spPr>
            <a:xfrm>
              <a:off x="4956175" y="2933548"/>
              <a:ext cx="400050" cy="400050"/>
            </a:xfrm>
            <a:prstGeom prst="rect">
              <a:avLst/>
            </a:prstGeom>
            <a:solidFill>
              <a:srgbClr val="93D1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441D9BF-242B-4343-8A18-09F0A59D0589}"/>
                </a:ext>
              </a:extLst>
            </p:cNvPr>
            <p:cNvSpPr/>
            <p:nvPr/>
          </p:nvSpPr>
          <p:spPr>
            <a:xfrm>
              <a:off x="5356225" y="2933548"/>
              <a:ext cx="400050" cy="400050"/>
            </a:xfrm>
            <a:prstGeom prst="rect">
              <a:avLst/>
            </a:prstGeom>
            <a:solidFill>
              <a:srgbClr val="93D1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47B3B06-CDF5-4BAF-86C3-CD70DE7CAE56}"/>
                </a:ext>
              </a:extLst>
            </p:cNvPr>
            <p:cNvSpPr/>
            <p:nvPr/>
          </p:nvSpPr>
          <p:spPr>
            <a:xfrm>
              <a:off x="5756275" y="293354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E60D12E4-D249-4984-9466-5B8A2E762E47}"/>
                </a:ext>
              </a:extLst>
            </p:cNvPr>
            <p:cNvSpPr/>
            <p:nvPr/>
          </p:nvSpPr>
          <p:spPr>
            <a:xfrm>
              <a:off x="6156325" y="2933548"/>
              <a:ext cx="400050" cy="400050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D8EDEF28-A4C0-4E51-BA55-A50D7F91DFEF}"/>
                </a:ext>
              </a:extLst>
            </p:cNvPr>
            <p:cNvSpPr/>
            <p:nvPr/>
          </p:nvSpPr>
          <p:spPr>
            <a:xfrm rot="16200000">
              <a:off x="3200515" y="2278965"/>
              <a:ext cx="2005929" cy="20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ko-KR" altLang="en-US" sz="1200" b="1" dirty="0">
                  <a:solidFill>
                    <a:srgbClr val="0D014D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Pretendard" panose="02000503000000020004" pitchFamily="50" charset="-127"/>
                </a:rPr>
                <a:t>고장확률</a:t>
              </a:r>
              <a:endParaRPr lang="en-US" altLang="ko-KR" sz="1200" b="1" dirty="0">
                <a:solidFill>
                  <a:srgbClr val="0D014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retendard" panose="02000503000000020004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E5F821A-9DD5-400B-9970-97DBDEFCCE52}"/>
                </a:ext>
              </a:extLst>
            </p:cNvPr>
            <p:cNvSpPr/>
            <p:nvPr/>
          </p:nvSpPr>
          <p:spPr>
            <a:xfrm>
              <a:off x="4545589" y="3533313"/>
              <a:ext cx="2005929" cy="20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lang="ko-KR" altLang="en-US" sz="1200" b="1" dirty="0">
                  <a:solidFill>
                    <a:srgbClr val="0D014D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Pretendard" panose="02000503000000020004" pitchFamily="50" charset="-127"/>
                </a:rPr>
                <a:t>고장영향</a:t>
              </a:r>
              <a:endParaRPr lang="en-US" altLang="ko-KR" sz="1200" b="1" dirty="0">
                <a:solidFill>
                  <a:srgbClr val="0D014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F8733741-02CD-4E93-88AD-B99C6B64FBD1}"/>
                </a:ext>
              </a:extLst>
            </p:cNvPr>
            <p:cNvCxnSpPr>
              <a:cxnSpLocks/>
            </p:cNvCxnSpPr>
            <p:nvPr/>
          </p:nvCxnSpPr>
          <p:spPr>
            <a:xfrm>
              <a:off x="4569460" y="3405185"/>
              <a:ext cx="1986915" cy="0"/>
            </a:xfrm>
            <a:prstGeom prst="straightConnector1">
              <a:avLst/>
            </a:prstGeom>
            <a:ln w="19050">
              <a:gradFill flip="none" rotWithShape="1">
                <a:gsLst>
                  <a:gs pos="0">
                    <a:srgbClr val="93D150"/>
                  </a:gs>
                  <a:gs pos="54000">
                    <a:srgbClr val="FFC100"/>
                  </a:gs>
                  <a:gs pos="100000">
                    <a:srgbClr val="FF0000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FFC2F18-2946-469A-8D0B-B09E957AEFCD}"/>
                </a:ext>
              </a:extLst>
            </p:cNvPr>
            <p:cNvSpPr/>
            <p:nvPr/>
          </p:nvSpPr>
          <p:spPr>
            <a:xfrm rot="16200000">
              <a:off x="3859268" y="2789289"/>
              <a:ext cx="1062338" cy="20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r>
                <a:rPr lang="ko-KR" altLang="en-US" sz="600" b="1" dirty="0">
                  <a:solidFill>
                    <a:srgbClr val="0D014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Pretendard" panose="02000503000000020004" pitchFamily="50" charset="-127"/>
                </a:rPr>
                <a:t>고장발생 가능성 낮음</a:t>
              </a:r>
              <a:endParaRPr lang="en-US" altLang="ko-KR" sz="600" b="1" dirty="0">
                <a:solidFill>
                  <a:srgbClr val="0D01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" panose="02000503000000020004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882BD66-1B3B-45E3-9D9B-3D79ABC67B17}"/>
                </a:ext>
              </a:extLst>
            </p:cNvPr>
            <p:cNvSpPr/>
            <p:nvPr/>
          </p:nvSpPr>
          <p:spPr>
            <a:xfrm rot="16200000">
              <a:off x="3859268" y="1543204"/>
              <a:ext cx="1062338" cy="20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r>
                <a:rPr lang="ko-KR" altLang="en-US" sz="600" b="1" dirty="0">
                  <a:solidFill>
                    <a:srgbClr val="0D014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Pretendard" panose="02000503000000020004" pitchFamily="50" charset="-127"/>
                </a:rPr>
                <a:t>고장발생 가능성 높음</a:t>
              </a:r>
              <a:endParaRPr lang="en-US" altLang="ko-KR" sz="600" b="1" dirty="0">
                <a:solidFill>
                  <a:srgbClr val="0D01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" panose="02000503000000020004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05C63ED2-234B-4CE8-95C4-5BE4510AACA0}"/>
                </a:ext>
              </a:extLst>
            </p:cNvPr>
            <p:cNvSpPr/>
            <p:nvPr/>
          </p:nvSpPr>
          <p:spPr>
            <a:xfrm>
              <a:off x="4469136" y="3383909"/>
              <a:ext cx="800635" cy="20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r>
                <a:rPr lang="ko-KR" altLang="en-US" sz="600" b="1">
                  <a:solidFill>
                    <a:srgbClr val="0D014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Pretendard" panose="02000503000000020004" pitchFamily="50" charset="-127"/>
                </a:rPr>
                <a:t>고장 시 파급 낮음</a:t>
              </a:r>
              <a:endParaRPr lang="en-US" altLang="ko-KR" sz="600" b="1" dirty="0">
                <a:solidFill>
                  <a:srgbClr val="0D01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" panose="02000503000000020004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11C5362-0BC2-4E0A-A584-451CFCC66CD5}"/>
                </a:ext>
              </a:extLst>
            </p:cNvPr>
            <p:cNvSpPr/>
            <p:nvPr/>
          </p:nvSpPr>
          <p:spPr>
            <a:xfrm>
              <a:off x="5807446" y="3383909"/>
              <a:ext cx="800635" cy="20755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r>
                <a:rPr lang="ko-KR" altLang="en-US" sz="600" b="1" dirty="0">
                  <a:solidFill>
                    <a:srgbClr val="0D014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Pretendard" panose="02000503000000020004" pitchFamily="50" charset="-127"/>
                </a:rPr>
                <a:t>고장 시 파급 높음</a:t>
              </a:r>
              <a:endParaRPr lang="en-US" altLang="ko-KR" sz="600" b="1" dirty="0">
                <a:solidFill>
                  <a:srgbClr val="0D01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104" name="직선 화살표 연결선 103">
              <a:extLst>
                <a:ext uri="{FF2B5EF4-FFF2-40B4-BE49-F238E27FC236}">
                  <a16:creationId xmlns:a16="http://schemas.microsoft.com/office/drawing/2014/main" id="{D7F296DF-7824-467B-A426-A31F59F768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504195" y="2352532"/>
              <a:ext cx="1986915" cy="0"/>
            </a:xfrm>
            <a:prstGeom prst="straightConnector1">
              <a:avLst/>
            </a:prstGeom>
            <a:ln w="19050">
              <a:gradFill flip="none" rotWithShape="1">
                <a:gsLst>
                  <a:gs pos="0">
                    <a:srgbClr val="93D150"/>
                  </a:gs>
                  <a:gs pos="54000">
                    <a:srgbClr val="FFC100"/>
                  </a:gs>
                  <a:gs pos="100000">
                    <a:srgbClr val="FF0000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14A67FF1-212C-4249-B61E-03393C6C0449}"/>
                </a:ext>
              </a:extLst>
            </p:cNvPr>
            <p:cNvSpPr/>
            <p:nvPr/>
          </p:nvSpPr>
          <p:spPr>
            <a:xfrm rot="2152574">
              <a:off x="5515598" y="1420018"/>
              <a:ext cx="1116363" cy="677562"/>
            </a:xfrm>
            <a:prstGeom prst="ellipse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8F22D68-CDD0-4341-A094-27108CA8DCAD}"/>
                </a:ext>
              </a:extLst>
            </p:cNvPr>
            <p:cNvSpPr txBox="1"/>
            <p:nvPr/>
          </p:nvSpPr>
          <p:spPr>
            <a:xfrm>
              <a:off x="5662371" y="1506423"/>
              <a:ext cx="777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高리스크 </a:t>
              </a:r>
              <a:endParaRPr lang="en-US" altLang="ko-KR" sz="1200" b="1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</a:p>
          </p:txBody>
        </p:sp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FB785A4-1C37-4DC1-A6FE-FADDA038ED1A}"/>
              </a:ext>
            </a:extLst>
          </p:cNvPr>
          <p:cNvSpPr/>
          <p:nvPr/>
        </p:nvSpPr>
        <p:spPr>
          <a:xfrm>
            <a:off x="-8754" y="1246086"/>
            <a:ext cx="9144000" cy="96024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EC2300-2E88-4840-B730-5D46034879DB}"/>
              </a:ext>
            </a:extLst>
          </p:cNvPr>
          <p:cNvSpPr txBox="1"/>
          <p:nvPr/>
        </p:nvSpPr>
        <p:spPr>
          <a:xfrm>
            <a:off x="346909" y="1312869"/>
            <a:ext cx="8432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전력설비의 리스크는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고장확률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PoF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와 고장영향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CoF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곱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나타낼 수 있으며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리스크가 높은 설비일수록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전력계통 신뢰도 전반에 영향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줄 수 있음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RBM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은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高리스크 설비를 우선적으로 식별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하여 투자 의사결정에 반영</a:t>
            </a:r>
          </a:p>
        </p:txBody>
      </p:sp>
      <p:sp>
        <p:nvSpPr>
          <p:cNvPr id="128" name="이등변 삼각형 127">
            <a:extLst>
              <a:ext uri="{FF2B5EF4-FFF2-40B4-BE49-F238E27FC236}">
                <a16:creationId xmlns:a16="http://schemas.microsoft.com/office/drawing/2014/main" id="{E5CBBC8F-9736-455A-8D8D-29EE8757A017}"/>
              </a:ext>
            </a:extLst>
          </p:cNvPr>
          <p:cNvSpPr/>
          <p:nvPr/>
        </p:nvSpPr>
        <p:spPr>
          <a:xfrm rot="5400000">
            <a:off x="2888620" y="4120157"/>
            <a:ext cx="289263" cy="249365"/>
          </a:xfrm>
          <a:prstGeom prst="triangle">
            <a:avLst/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이등변 삼각형 128">
            <a:extLst>
              <a:ext uri="{FF2B5EF4-FFF2-40B4-BE49-F238E27FC236}">
                <a16:creationId xmlns:a16="http://schemas.microsoft.com/office/drawing/2014/main" id="{30C12208-62DD-45B5-95A5-CE99A1810EB3}"/>
              </a:ext>
            </a:extLst>
          </p:cNvPr>
          <p:cNvSpPr/>
          <p:nvPr/>
        </p:nvSpPr>
        <p:spPr>
          <a:xfrm rot="5400000">
            <a:off x="5997462" y="4122618"/>
            <a:ext cx="289263" cy="249365"/>
          </a:xfrm>
          <a:prstGeom prst="triangle">
            <a:avLst/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B414B0-01CB-4857-B1C1-216D35FEC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570" y="3049218"/>
            <a:ext cx="2259035" cy="239640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60518FEA-DED1-4E23-A563-2288D8C4390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3147" y="2871886"/>
            <a:ext cx="2004426" cy="138315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1299904-C5D9-46AE-8B36-5A488AB4F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085" y="4102669"/>
            <a:ext cx="2069153" cy="77997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BCDF86D-0D1F-44C5-9822-C6CD7EA00C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086" y="4838738"/>
            <a:ext cx="2019928" cy="77997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3EF24A5-AA81-4653-BFBF-AF52ECFF2AEA}"/>
              </a:ext>
            </a:extLst>
          </p:cNvPr>
          <p:cNvSpPr txBox="1"/>
          <p:nvPr/>
        </p:nvSpPr>
        <p:spPr>
          <a:xfrm>
            <a:off x="6778236" y="4336650"/>
            <a:ext cx="1575902" cy="27699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투자물량 및 필요예산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C6383E-C48A-4EBF-B6E7-30ABC9291AD1}"/>
              </a:ext>
            </a:extLst>
          </p:cNvPr>
          <p:cNvSpPr txBox="1"/>
          <p:nvPr/>
        </p:nvSpPr>
        <p:spPr>
          <a:xfrm>
            <a:off x="6890139" y="5072719"/>
            <a:ext cx="1575902" cy="27699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투자효과</a:t>
            </a:r>
            <a:r>
              <a:rPr lang="en-US" altLang="ko-KR" sz="8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8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전기품질 및 경제성</a:t>
            </a:r>
            <a:r>
              <a:rPr lang="en-US" altLang="ko-KR" sz="8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8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E043E1-A01A-4104-ABCC-15393C280876}"/>
              </a:ext>
            </a:extLst>
          </p:cNvPr>
          <p:cNvSpPr txBox="1"/>
          <p:nvPr/>
        </p:nvSpPr>
        <p:spPr>
          <a:xfrm>
            <a:off x="525881" y="2670638"/>
            <a:ext cx="2233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1.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평가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416A14-F71A-4CCD-B552-D980FEFAF430}"/>
              </a:ext>
            </a:extLst>
          </p:cNvPr>
          <p:cNvSpPr txBox="1"/>
          <p:nvPr/>
        </p:nvSpPr>
        <p:spPr>
          <a:xfrm>
            <a:off x="3539514" y="2670638"/>
            <a:ext cx="2233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2.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 평가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78BF3E-0338-4231-81C6-671610127EE1}"/>
              </a:ext>
            </a:extLst>
          </p:cNvPr>
          <p:cNvSpPr txBox="1"/>
          <p:nvPr/>
        </p:nvSpPr>
        <p:spPr>
          <a:xfrm>
            <a:off x="6320058" y="2670638"/>
            <a:ext cx="2537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3.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 투자 계획 수립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3C1A51-8D53-4A74-8923-ACF379610548}"/>
              </a:ext>
            </a:extLst>
          </p:cNvPr>
          <p:cNvSpPr txBox="1"/>
          <p:nvPr/>
        </p:nvSpPr>
        <p:spPr>
          <a:xfrm>
            <a:off x="525881" y="2246123"/>
            <a:ext cx="2537100" cy="4421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APM</a:t>
            </a:r>
          </a:p>
          <a:p>
            <a:pPr algn="ctr">
              <a:lnSpc>
                <a:spcPct val="80000"/>
              </a:lnSpc>
            </a:pP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(Asset Performance Management)</a:t>
            </a:r>
            <a:endParaRPr lang="ko-KR" altLang="en-US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216D9C-B034-4598-9B45-DADE5C0C26AC}"/>
              </a:ext>
            </a:extLst>
          </p:cNvPr>
          <p:cNvSpPr txBox="1"/>
          <p:nvPr/>
        </p:nvSpPr>
        <p:spPr>
          <a:xfrm>
            <a:off x="4846063" y="2246123"/>
            <a:ext cx="2694314" cy="4421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AIP</a:t>
            </a:r>
          </a:p>
          <a:p>
            <a:pPr algn="ctr">
              <a:lnSpc>
                <a:spcPct val="80000"/>
              </a:lnSpc>
            </a:pP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(Asset Investment Planning)</a:t>
            </a:r>
            <a:endParaRPr lang="ko-KR" altLang="en-US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0539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AB3BD9D-F03E-4062-BADA-0CE462FBD3EC}"/>
              </a:ext>
            </a:extLst>
          </p:cNvPr>
          <p:cNvSpPr/>
          <p:nvPr/>
        </p:nvSpPr>
        <p:spPr>
          <a:xfrm>
            <a:off x="195420" y="1488797"/>
            <a:ext cx="2810178" cy="1865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444538-5B58-4608-A193-7DFD63497BB2}"/>
              </a:ext>
            </a:extLst>
          </p:cNvPr>
          <p:cNvSpPr/>
          <p:nvPr/>
        </p:nvSpPr>
        <p:spPr>
          <a:xfrm>
            <a:off x="3142500" y="1488797"/>
            <a:ext cx="2810178" cy="1865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EF6C56-84C3-46A5-B97E-59849D1443EA}"/>
              </a:ext>
            </a:extLst>
          </p:cNvPr>
          <p:cNvSpPr/>
          <p:nvPr/>
        </p:nvSpPr>
        <p:spPr>
          <a:xfrm>
            <a:off x="6089298" y="1488797"/>
            <a:ext cx="2810178" cy="1865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전력설비 자산관리 시스템 개요 및 한계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기존 자산관리 시스템의 문제점 및 연구 필요성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BF5E07-AFAD-4461-ADB8-79AB8CA67D1F}"/>
              </a:ext>
            </a:extLst>
          </p:cNvPr>
          <p:cNvSpPr txBox="1"/>
          <p:nvPr/>
        </p:nvSpPr>
        <p:spPr>
          <a:xfrm>
            <a:off x="195138" y="1901463"/>
            <a:ext cx="2807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평가 중심의 자산관리 시스템은 高위험도 설비를 식별할 수 있으나 교체 이후의 </a:t>
            </a:r>
            <a:r>
              <a:rPr lang="ko-KR" altLang="en-US" sz="14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투자효과 및 경제성을 반영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하지 못함</a:t>
            </a:r>
          </a:p>
        </p:txBody>
      </p:sp>
      <p:sp>
        <p:nvSpPr>
          <p:cNvPr id="7" name="양쪽 모서리가 둥근 사각형 32">
            <a:extLst>
              <a:ext uri="{FF2B5EF4-FFF2-40B4-BE49-F238E27FC236}">
                <a16:creationId xmlns:a16="http://schemas.microsoft.com/office/drawing/2014/main" id="{F07BC6DD-22EA-4964-BC62-DA67A94CDA0A}"/>
              </a:ext>
            </a:extLst>
          </p:cNvPr>
          <p:cNvSpPr/>
          <p:nvPr/>
        </p:nvSpPr>
        <p:spPr>
          <a:xfrm>
            <a:off x="198030" y="137706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중심 우선순위 한계</a:t>
            </a:r>
          </a:p>
        </p:txBody>
      </p:sp>
      <p:sp>
        <p:nvSpPr>
          <p:cNvPr id="13" name="양쪽 모서리가 둥근 사각형 32">
            <a:extLst>
              <a:ext uri="{FF2B5EF4-FFF2-40B4-BE49-F238E27FC236}">
                <a16:creationId xmlns:a16="http://schemas.microsoft.com/office/drawing/2014/main" id="{5C6A23C5-21EE-474F-99BA-A1B5A2ECC714}"/>
              </a:ext>
            </a:extLst>
          </p:cNvPr>
          <p:cNvSpPr/>
          <p:nvPr/>
        </p:nvSpPr>
        <p:spPr>
          <a:xfrm>
            <a:off x="3145110" y="137706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단일 기준 최적화의 한계</a:t>
            </a:r>
          </a:p>
        </p:txBody>
      </p:sp>
      <p:sp>
        <p:nvSpPr>
          <p:cNvPr id="15" name="양쪽 모서리가 둥근 사각형 32">
            <a:extLst>
              <a:ext uri="{FF2B5EF4-FFF2-40B4-BE49-F238E27FC236}">
                <a16:creationId xmlns:a16="http://schemas.microsoft.com/office/drawing/2014/main" id="{3ADBB8A3-C9CB-484A-9E59-DBC1634A786C}"/>
              </a:ext>
            </a:extLst>
          </p:cNvPr>
          <p:cNvSpPr/>
          <p:nvPr/>
        </p:nvSpPr>
        <p:spPr>
          <a:xfrm>
            <a:off x="6091908" y="137706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목적 및 현장 판단반영 한계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44A769-8E0F-4FEF-825E-4FF6A21B942E}"/>
              </a:ext>
            </a:extLst>
          </p:cNvPr>
          <p:cNvSpPr/>
          <p:nvPr/>
        </p:nvSpPr>
        <p:spPr>
          <a:xfrm>
            <a:off x="195420" y="3921066"/>
            <a:ext cx="8704056" cy="1296880"/>
          </a:xfrm>
          <a:prstGeom prst="rect">
            <a:avLst/>
          </a:prstGeom>
          <a:solidFill>
            <a:schemeClr val="bg1"/>
          </a:solidFill>
          <a:ln w="381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06D555EE-9BC5-47D0-B77E-ADA2EEADD3A9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2422417" y="2532217"/>
            <a:ext cx="566939" cy="2210754"/>
          </a:xfrm>
          <a:prstGeom prst="bentConnector3">
            <a:avLst>
              <a:gd name="adj1" fmla="val 50000"/>
            </a:avLst>
          </a:prstGeom>
          <a:ln w="38100">
            <a:solidFill>
              <a:srgbClr val="0C00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F1775DB8-B3B7-4488-907C-73D3A74C6200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6049035" y="2475711"/>
            <a:ext cx="566939" cy="2323767"/>
          </a:xfrm>
          <a:prstGeom prst="bentConnector3">
            <a:avLst>
              <a:gd name="adj1" fmla="val 50000"/>
            </a:avLst>
          </a:prstGeom>
          <a:ln w="38100">
            <a:solidFill>
              <a:srgbClr val="0C00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BE98FEF-F56F-48F1-9B90-BD6A6C84193B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4547448" y="3354125"/>
            <a:ext cx="141" cy="566941"/>
          </a:xfrm>
          <a:prstGeom prst="straightConnector1">
            <a:avLst/>
          </a:prstGeom>
          <a:ln w="38100">
            <a:solidFill>
              <a:srgbClr val="0C00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304804-1E24-4A79-BBDA-49C8D9BB1C8C}"/>
              </a:ext>
            </a:extLst>
          </p:cNvPr>
          <p:cNvSpPr txBox="1"/>
          <p:nvPr/>
        </p:nvSpPr>
        <p:spPr>
          <a:xfrm>
            <a:off x="3134420" y="1901463"/>
            <a:ext cx="27044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자산 투자 최적화 기술은 투자가치 기반의 효율적 계획 수립은 가능하나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</a:t>
            </a:r>
            <a:r>
              <a:rPr lang="ko-KR" altLang="en-US" sz="14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단일 기준에 치우쳐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져 있음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248E5-3722-4C51-825D-AE444C90B4DE}"/>
              </a:ext>
            </a:extLst>
          </p:cNvPr>
          <p:cNvSpPr txBox="1"/>
          <p:nvPr/>
        </p:nvSpPr>
        <p:spPr>
          <a:xfrm>
            <a:off x="6090142" y="1901463"/>
            <a:ext cx="28078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자산관리 시스템은 설비 운영자의 </a:t>
            </a:r>
            <a:r>
              <a:rPr lang="ko-KR" altLang="en-US" sz="14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r>
              <a:rPr lang="en-US" altLang="ko-KR" sz="14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(KPI)</a:t>
            </a:r>
            <a:r>
              <a:rPr lang="ko-KR" altLang="en-US" sz="14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현장 운영 판단에 따라 최적 투자계획을 유연하게 조정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체계가 부족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(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투자계획 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–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운영간 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GAP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발생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D7FA72-3B19-4A3B-9E9F-CB27D68E8371}"/>
              </a:ext>
            </a:extLst>
          </p:cNvPr>
          <p:cNvSpPr txBox="1"/>
          <p:nvPr/>
        </p:nvSpPr>
        <p:spPr>
          <a:xfrm>
            <a:off x="495300" y="4087572"/>
            <a:ext cx="8290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목적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(KPI)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현장 의견을 반영한 </a:t>
            </a:r>
            <a:r>
              <a:rPr lang="ko-KR" altLang="en-US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의사결정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체계 필요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300CB5-00C9-4174-B6B7-CC14113A9F22}"/>
              </a:ext>
            </a:extLst>
          </p:cNvPr>
          <p:cNvSpPr txBox="1"/>
          <p:nvPr/>
        </p:nvSpPr>
        <p:spPr>
          <a:xfrm>
            <a:off x="495300" y="4701602"/>
            <a:ext cx="82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 </a:t>
            </a:r>
            <a:r>
              <a:rPr lang="ko-KR" altLang="en-US" b="1" dirty="0">
                <a:solidFill>
                  <a:schemeClr val="accent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</a:t>
            </a:r>
            <a:r>
              <a:rPr lang="ko-KR" altLang="en-US" b="1" dirty="0" err="1">
                <a:solidFill>
                  <a:schemeClr val="accent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b="1" dirty="0">
                <a:solidFill>
                  <a:schemeClr val="accent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자산 투자 최적화</a:t>
            </a:r>
            <a:r>
              <a:rPr lang="en-US" altLang="ko-KR" b="1" dirty="0">
                <a:solidFill>
                  <a:schemeClr val="accent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(AIP) </a:t>
            </a:r>
            <a:r>
              <a:rPr lang="ko-KR" altLang="en-US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프레임워크 제안 </a:t>
            </a:r>
          </a:p>
        </p:txBody>
      </p:sp>
      <p:sp>
        <p:nvSpPr>
          <p:cNvPr id="38" name="화살표: 갈매기형 수장 37">
            <a:extLst>
              <a:ext uri="{FF2B5EF4-FFF2-40B4-BE49-F238E27FC236}">
                <a16:creationId xmlns:a16="http://schemas.microsoft.com/office/drawing/2014/main" id="{C2AB03CA-DD9F-43B3-A73B-1E70241C1F84}"/>
              </a:ext>
            </a:extLst>
          </p:cNvPr>
          <p:cNvSpPr/>
          <p:nvPr/>
        </p:nvSpPr>
        <p:spPr>
          <a:xfrm rot="5400000">
            <a:off x="4580573" y="4415613"/>
            <a:ext cx="119871" cy="264659"/>
          </a:xfrm>
          <a:prstGeom prst="chevron">
            <a:avLst/>
          </a:prstGeom>
          <a:solidFill>
            <a:srgbClr val="214A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71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124324" y="2318891"/>
            <a:ext cx="4838701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Fuzzy-AHP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기반 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자산 투자 최적화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768579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Fuzzy-AHP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기반 자산 투자 최적화 프레임워크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제안된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Fuzzy-AHP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기반 자산 투자 최적화 프레임워크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7A8805-D72E-49BD-8BCA-6ED9A7B0AF79}"/>
              </a:ext>
            </a:extLst>
          </p:cNvPr>
          <p:cNvSpPr/>
          <p:nvPr/>
        </p:nvSpPr>
        <p:spPr>
          <a:xfrm>
            <a:off x="266978" y="2225725"/>
            <a:ext cx="1633385" cy="3027691"/>
          </a:xfrm>
          <a:prstGeom prst="rect">
            <a:avLst/>
          </a:prstGeom>
          <a:solidFill>
            <a:srgbClr val="C2E2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6666443-CDB9-4961-9BE8-A8F26F072E3C}"/>
              </a:ext>
            </a:extLst>
          </p:cNvPr>
          <p:cNvSpPr/>
          <p:nvPr/>
        </p:nvSpPr>
        <p:spPr>
          <a:xfrm>
            <a:off x="2017023" y="2225725"/>
            <a:ext cx="1633385" cy="3027691"/>
          </a:xfrm>
          <a:prstGeom prst="rect">
            <a:avLst/>
          </a:prstGeom>
          <a:solidFill>
            <a:srgbClr val="C2E2FB"/>
          </a:solidFill>
          <a:ln w="31750">
            <a:solidFill>
              <a:srgbClr val="0D014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490BD77-73FB-4AC9-AFA6-05BC2D44EE38}"/>
              </a:ext>
            </a:extLst>
          </p:cNvPr>
          <p:cNvSpPr/>
          <p:nvPr/>
        </p:nvSpPr>
        <p:spPr>
          <a:xfrm>
            <a:off x="3767068" y="2225725"/>
            <a:ext cx="1633385" cy="3027691"/>
          </a:xfrm>
          <a:prstGeom prst="rect">
            <a:avLst/>
          </a:prstGeom>
          <a:solidFill>
            <a:srgbClr val="C2E2FB"/>
          </a:solidFill>
          <a:ln w="31750">
            <a:solidFill>
              <a:srgbClr val="0D014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8C285A96-1C87-4B19-A267-9E8620742278}"/>
              </a:ext>
            </a:extLst>
          </p:cNvPr>
          <p:cNvSpPr/>
          <p:nvPr/>
        </p:nvSpPr>
        <p:spPr>
          <a:xfrm>
            <a:off x="5517113" y="2225725"/>
            <a:ext cx="1633385" cy="3027691"/>
          </a:xfrm>
          <a:prstGeom prst="rect">
            <a:avLst/>
          </a:prstGeom>
          <a:solidFill>
            <a:srgbClr val="C2E2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66CD78C6-F0ED-41B7-AAB1-96942D569FF4}"/>
              </a:ext>
            </a:extLst>
          </p:cNvPr>
          <p:cNvSpPr/>
          <p:nvPr/>
        </p:nvSpPr>
        <p:spPr>
          <a:xfrm>
            <a:off x="7267158" y="2225725"/>
            <a:ext cx="1633385" cy="3027691"/>
          </a:xfrm>
          <a:prstGeom prst="rect">
            <a:avLst/>
          </a:prstGeom>
          <a:solidFill>
            <a:srgbClr val="C2E2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83ABC69-618E-45AE-A07D-DB5B8B0A5403}"/>
              </a:ext>
            </a:extLst>
          </p:cNvPr>
          <p:cNvSpPr txBox="1"/>
          <p:nvPr/>
        </p:nvSpPr>
        <p:spPr>
          <a:xfrm>
            <a:off x="367424" y="2225726"/>
            <a:ext cx="1432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1.</a:t>
            </a:r>
          </a:p>
          <a:p>
            <a:pPr algn="ctr"/>
            <a:r>
              <a:rPr lang="ko-KR" altLang="en-US" sz="14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설비별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투자지표 산출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5C180A5-72D3-4270-9BB2-B70C6D842907}"/>
              </a:ext>
            </a:extLst>
          </p:cNvPr>
          <p:cNvSpPr txBox="1"/>
          <p:nvPr/>
        </p:nvSpPr>
        <p:spPr>
          <a:xfrm>
            <a:off x="1912997" y="2239323"/>
            <a:ext cx="1809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2.</a:t>
            </a:r>
          </a:p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 산정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99AF162-722A-4903-85DC-982188710E7A}"/>
              </a:ext>
            </a:extLst>
          </p:cNvPr>
          <p:cNvSpPr txBox="1"/>
          <p:nvPr/>
        </p:nvSpPr>
        <p:spPr>
          <a:xfrm>
            <a:off x="3678944" y="2239323"/>
            <a:ext cx="1809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3.</a:t>
            </a:r>
          </a:p>
          <a:p>
            <a:pPr algn="ctr"/>
            <a:r>
              <a:rPr lang="ko-KR" altLang="en-US" sz="14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</a:t>
            </a:r>
            <a:r>
              <a:rPr lang="en-US" altLang="ko-KR" sz="11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(Priority Index)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산정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01005D8-7BC2-4F03-84FF-D9386F6624AF}"/>
              </a:ext>
            </a:extLst>
          </p:cNvPr>
          <p:cNvSpPr txBox="1"/>
          <p:nvPr/>
        </p:nvSpPr>
        <p:spPr>
          <a:xfrm>
            <a:off x="5428989" y="2221186"/>
            <a:ext cx="1809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4.</a:t>
            </a:r>
          </a:p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제약조건 기반 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 최적화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A4DE44B-5E46-4BCC-9AC0-E44BDFF1386F}"/>
              </a:ext>
            </a:extLst>
          </p:cNvPr>
          <p:cNvSpPr txBox="1"/>
          <p:nvPr/>
        </p:nvSpPr>
        <p:spPr>
          <a:xfrm>
            <a:off x="7179036" y="2221185"/>
            <a:ext cx="1809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Step 5.</a:t>
            </a:r>
          </a:p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투자효과 분석 및 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 투자계획 도출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D6EC6B7-4B5B-461D-838F-BC9F03A07B90}"/>
              </a:ext>
            </a:extLst>
          </p:cNvPr>
          <p:cNvGrpSpPr/>
          <p:nvPr/>
        </p:nvGrpSpPr>
        <p:grpSpPr>
          <a:xfrm>
            <a:off x="406349" y="2989021"/>
            <a:ext cx="1354643" cy="44450"/>
            <a:chOff x="406348" y="2124721"/>
            <a:chExt cx="1354643" cy="444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1AAF457-68A8-4CAF-843C-E77F62404D74}"/>
                </a:ext>
              </a:extLst>
            </p:cNvPr>
            <p:cNvCxnSpPr/>
            <p:nvPr/>
          </p:nvCxnSpPr>
          <p:spPr>
            <a:xfrm>
              <a:off x="406348" y="212472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4E39052B-E5E5-4DB3-9EE9-7F1E90E3447C}"/>
                </a:ext>
              </a:extLst>
            </p:cNvPr>
            <p:cNvCxnSpPr/>
            <p:nvPr/>
          </p:nvCxnSpPr>
          <p:spPr>
            <a:xfrm>
              <a:off x="406348" y="216917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6DB5ADA1-E1CF-44E4-B66D-2097657F845F}"/>
              </a:ext>
            </a:extLst>
          </p:cNvPr>
          <p:cNvGrpSpPr/>
          <p:nvPr/>
        </p:nvGrpSpPr>
        <p:grpSpPr>
          <a:xfrm>
            <a:off x="2156393" y="2989021"/>
            <a:ext cx="1354643" cy="44450"/>
            <a:chOff x="406348" y="2124721"/>
            <a:chExt cx="1354643" cy="44450"/>
          </a:xfrm>
        </p:grpSpPr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DA726B16-371A-420D-B222-DBD5C38B63EE}"/>
                </a:ext>
              </a:extLst>
            </p:cNvPr>
            <p:cNvCxnSpPr/>
            <p:nvPr/>
          </p:nvCxnSpPr>
          <p:spPr>
            <a:xfrm>
              <a:off x="406348" y="212472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7F5C0EFF-C081-48E0-98B8-EF974C673B2B}"/>
                </a:ext>
              </a:extLst>
            </p:cNvPr>
            <p:cNvCxnSpPr/>
            <p:nvPr/>
          </p:nvCxnSpPr>
          <p:spPr>
            <a:xfrm>
              <a:off x="406348" y="216917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C4C17B48-5856-4252-BD3D-6407A3488E0C}"/>
              </a:ext>
            </a:extLst>
          </p:cNvPr>
          <p:cNvGrpSpPr/>
          <p:nvPr/>
        </p:nvGrpSpPr>
        <p:grpSpPr>
          <a:xfrm>
            <a:off x="3906437" y="2989021"/>
            <a:ext cx="1354643" cy="44450"/>
            <a:chOff x="406348" y="2124721"/>
            <a:chExt cx="1354643" cy="44450"/>
          </a:xfrm>
        </p:grpSpPr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2D1B7403-0654-4F79-BCE7-2171DBBB0EBC}"/>
                </a:ext>
              </a:extLst>
            </p:cNvPr>
            <p:cNvCxnSpPr/>
            <p:nvPr/>
          </p:nvCxnSpPr>
          <p:spPr>
            <a:xfrm>
              <a:off x="406348" y="212472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261F7CE9-8A95-4C49-9E86-B735C4B0D69A}"/>
                </a:ext>
              </a:extLst>
            </p:cNvPr>
            <p:cNvCxnSpPr/>
            <p:nvPr/>
          </p:nvCxnSpPr>
          <p:spPr>
            <a:xfrm>
              <a:off x="406348" y="216917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B1E6B9DA-04EA-4D05-8E83-7BD8511317B2}"/>
              </a:ext>
            </a:extLst>
          </p:cNvPr>
          <p:cNvGrpSpPr/>
          <p:nvPr/>
        </p:nvGrpSpPr>
        <p:grpSpPr>
          <a:xfrm>
            <a:off x="5656482" y="2989021"/>
            <a:ext cx="1354643" cy="44450"/>
            <a:chOff x="406348" y="2124721"/>
            <a:chExt cx="1354643" cy="44450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2AFA376B-DE73-4647-8793-EAFEBF0F9F48}"/>
                </a:ext>
              </a:extLst>
            </p:cNvPr>
            <p:cNvCxnSpPr/>
            <p:nvPr/>
          </p:nvCxnSpPr>
          <p:spPr>
            <a:xfrm>
              <a:off x="406348" y="212472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1EBF236E-69E2-430B-874F-4A31C098D045}"/>
                </a:ext>
              </a:extLst>
            </p:cNvPr>
            <p:cNvCxnSpPr/>
            <p:nvPr/>
          </p:nvCxnSpPr>
          <p:spPr>
            <a:xfrm>
              <a:off x="406348" y="216917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7A5D418-2691-4FC3-A40C-4E5063D95101}"/>
              </a:ext>
            </a:extLst>
          </p:cNvPr>
          <p:cNvGrpSpPr/>
          <p:nvPr/>
        </p:nvGrpSpPr>
        <p:grpSpPr>
          <a:xfrm>
            <a:off x="7406528" y="2989021"/>
            <a:ext cx="1354643" cy="44450"/>
            <a:chOff x="406348" y="2124721"/>
            <a:chExt cx="1354643" cy="44450"/>
          </a:xfrm>
        </p:grpSpPr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F9EB459C-C4D5-4555-8E02-277CCD6FCA01}"/>
                </a:ext>
              </a:extLst>
            </p:cNvPr>
            <p:cNvCxnSpPr/>
            <p:nvPr/>
          </p:nvCxnSpPr>
          <p:spPr>
            <a:xfrm>
              <a:off x="406348" y="212472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6B1A58-905C-44E0-BD2B-6BBD403A9E07}"/>
                </a:ext>
              </a:extLst>
            </p:cNvPr>
            <p:cNvCxnSpPr/>
            <p:nvPr/>
          </p:nvCxnSpPr>
          <p:spPr>
            <a:xfrm>
              <a:off x="406348" y="2169171"/>
              <a:ext cx="1354643" cy="0"/>
            </a:xfrm>
            <a:prstGeom prst="line">
              <a:avLst/>
            </a:prstGeom>
            <a:ln w="9525">
              <a:solidFill>
                <a:srgbClr val="0D01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981764D0-31C0-4BCA-8DDF-4C2D171D8046}"/>
              </a:ext>
            </a:extLst>
          </p:cNvPr>
          <p:cNvSpPr txBox="1"/>
          <p:nvPr/>
        </p:nvSpPr>
        <p:spPr>
          <a:xfrm>
            <a:off x="448594" y="3129498"/>
            <a:ext cx="12701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리스크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저감량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성능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호당 정전시간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고장률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경제성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투자효율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560843D-E474-4786-8EA6-E3941315F406}"/>
              </a:ext>
            </a:extLst>
          </p:cNvPr>
          <p:cNvSpPr/>
          <p:nvPr/>
        </p:nvSpPr>
        <p:spPr>
          <a:xfrm>
            <a:off x="1785453" y="2475779"/>
            <a:ext cx="344868" cy="297300"/>
          </a:xfrm>
          <a:prstGeom prst="rightArrow">
            <a:avLst/>
          </a:prstGeom>
          <a:solidFill>
            <a:srgbClr val="E0EBF6"/>
          </a:solidFill>
          <a:ln w="25400">
            <a:solidFill>
              <a:srgbClr val="0D0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화살표: 오른쪽 167">
            <a:extLst>
              <a:ext uri="{FF2B5EF4-FFF2-40B4-BE49-F238E27FC236}">
                <a16:creationId xmlns:a16="http://schemas.microsoft.com/office/drawing/2014/main" id="{64C602CE-235E-40A0-8D55-2B638D68C6EB}"/>
              </a:ext>
            </a:extLst>
          </p:cNvPr>
          <p:cNvSpPr/>
          <p:nvPr/>
        </p:nvSpPr>
        <p:spPr>
          <a:xfrm>
            <a:off x="3570118" y="2475779"/>
            <a:ext cx="344868" cy="297300"/>
          </a:xfrm>
          <a:prstGeom prst="rightArrow">
            <a:avLst/>
          </a:prstGeom>
          <a:solidFill>
            <a:srgbClr val="E0EBF6"/>
          </a:solidFill>
          <a:ln w="25400">
            <a:solidFill>
              <a:srgbClr val="0D0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화살표: 오른쪽 168">
            <a:extLst>
              <a:ext uri="{FF2B5EF4-FFF2-40B4-BE49-F238E27FC236}">
                <a16:creationId xmlns:a16="http://schemas.microsoft.com/office/drawing/2014/main" id="{871B061E-88CD-464F-9E62-9A00FD280CB9}"/>
              </a:ext>
            </a:extLst>
          </p:cNvPr>
          <p:cNvSpPr/>
          <p:nvPr/>
        </p:nvSpPr>
        <p:spPr>
          <a:xfrm>
            <a:off x="5311338" y="2475779"/>
            <a:ext cx="344868" cy="297300"/>
          </a:xfrm>
          <a:prstGeom prst="rightArrow">
            <a:avLst/>
          </a:prstGeom>
          <a:solidFill>
            <a:srgbClr val="E0EBF6"/>
          </a:solidFill>
          <a:ln w="25400">
            <a:solidFill>
              <a:srgbClr val="0D0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화살표: 오른쪽 169">
            <a:extLst>
              <a:ext uri="{FF2B5EF4-FFF2-40B4-BE49-F238E27FC236}">
                <a16:creationId xmlns:a16="http://schemas.microsoft.com/office/drawing/2014/main" id="{20278CE4-2084-4ADD-A993-48AD23BBCD28}"/>
              </a:ext>
            </a:extLst>
          </p:cNvPr>
          <p:cNvSpPr/>
          <p:nvPr/>
        </p:nvSpPr>
        <p:spPr>
          <a:xfrm>
            <a:off x="7041672" y="2475779"/>
            <a:ext cx="344868" cy="297300"/>
          </a:xfrm>
          <a:prstGeom prst="rightArrow">
            <a:avLst/>
          </a:prstGeom>
          <a:solidFill>
            <a:srgbClr val="E0EBF6"/>
          </a:solidFill>
          <a:ln w="25400">
            <a:solidFill>
              <a:srgbClr val="0D0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01A1A09-9496-440D-83C3-FF9F053A0649}"/>
              </a:ext>
            </a:extLst>
          </p:cNvPr>
          <p:cNvSpPr txBox="1"/>
          <p:nvPr/>
        </p:nvSpPr>
        <p:spPr>
          <a:xfrm>
            <a:off x="1968803" y="3167598"/>
            <a:ext cx="171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시나리오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352E792-BB0A-4BF4-BA68-4AA6A470F694}"/>
              </a:ext>
            </a:extLst>
          </p:cNvPr>
          <p:cNvSpPr txBox="1"/>
          <p:nvPr/>
        </p:nvSpPr>
        <p:spPr>
          <a:xfrm>
            <a:off x="1968803" y="3661273"/>
            <a:ext cx="171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 쌍대비교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78C69A0-AA18-44ED-B534-A1C691279145}"/>
              </a:ext>
            </a:extLst>
          </p:cNvPr>
          <p:cNvSpPr txBox="1"/>
          <p:nvPr/>
        </p:nvSpPr>
        <p:spPr>
          <a:xfrm>
            <a:off x="1938461" y="4118972"/>
            <a:ext cx="181096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TFN</a:t>
            </a:r>
          </a:p>
          <a:p>
            <a:pPr algn="ctr"/>
            <a:r>
              <a:rPr lang="en-US" altLang="ko-KR" sz="105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05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Triangualr</a:t>
            </a:r>
            <a:r>
              <a:rPr lang="en-US" altLang="ko-KR" sz="105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Fuzzy Number)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0727CBE-64E0-4896-AE6B-EE562CDEBBF3}"/>
              </a:ext>
            </a:extLst>
          </p:cNvPr>
          <p:cNvSpPr txBox="1"/>
          <p:nvPr/>
        </p:nvSpPr>
        <p:spPr>
          <a:xfrm>
            <a:off x="1913061" y="4745658"/>
            <a:ext cx="1810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기준별</a:t>
            </a:r>
            <a:r>
              <a:rPr lang="ko-KR" altLang="en-US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가중치 산출</a:t>
            </a:r>
            <a:endParaRPr lang="en-US" altLang="ko-KR" sz="12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3D6A9BC-2DDF-4791-9E9D-8E9C95ED7CC0}"/>
              </a:ext>
            </a:extLst>
          </p:cNvPr>
          <p:cNvCxnSpPr>
            <a:cxnSpLocks/>
            <a:stCxn id="171" idx="2"/>
            <a:endCxn id="172" idx="0"/>
          </p:cNvCxnSpPr>
          <p:nvPr/>
        </p:nvCxnSpPr>
        <p:spPr>
          <a:xfrm>
            <a:off x="2828224" y="3475375"/>
            <a:ext cx="0" cy="185898"/>
          </a:xfrm>
          <a:prstGeom prst="straightConnector1">
            <a:avLst/>
          </a:prstGeom>
          <a:ln w="12700">
            <a:solidFill>
              <a:srgbClr val="291F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96D850A9-AFD4-4688-B9E3-6DC8748DE29B}"/>
              </a:ext>
            </a:extLst>
          </p:cNvPr>
          <p:cNvCxnSpPr>
            <a:cxnSpLocks/>
          </p:cNvCxnSpPr>
          <p:nvPr/>
        </p:nvCxnSpPr>
        <p:spPr>
          <a:xfrm>
            <a:off x="2828224" y="3963812"/>
            <a:ext cx="0" cy="185898"/>
          </a:xfrm>
          <a:prstGeom prst="straightConnector1">
            <a:avLst/>
          </a:prstGeom>
          <a:ln w="12700">
            <a:solidFill>
              <a:srgbClr val="291F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24B9AB73-B837-4030-A035-A739665CF2FE}"/>
              </a:ext>
            </a:extLst>
          </p:cNvPr>
          <p:cNvCxnSpPr>
            <a:cxnSpLocks/>
          </p:cNvCxnSpPr>
          <p:nvPr/>
        </p:nvCxnSpPr>
        <p:spPr>
          <a:xfrm>
            <a:off x="2828224" y="4565248"/>
            <a:ext cx="0" cy="185898"/>
          </a:xfrm>
          <a:prstGeom prst="straightConnector1">
            <a:avLst/>
          </a:prstGeom>
          <a:ln w="12700">
            <a:solidFill>
              <a:srgbClr val="291F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BC46DA8C-185D-4EB0-B468-8F45D00AF047}"/>
              </a:ext>
            </a:extLst>
          </p:cNvPr>
          <p:cNvSpPr txBox="1"/>
          <p:nvPr/>
        </p:nvSpPr>
        <p:spPr>
          <a:xfrm>
            <a:off x="3712579" y="3183651"/>
            <a:ext cx="171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투자지표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22965BE-3DBE-4F28-A38D-E6E7F8B4475B}"/>
              </a:ext>
            </a:extLst>
          </p:cNvPr>
          <p:cNvSpPr txBox="1"/>
          <p:nvPr/>
        </p:nvSpPr>
        <p:spPr>
          <a:xfrm>
            <a:off x="3794706" y="3759665"/>
            <a:ext cx="1633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3E9C2AD-AB5C-437F-9E6E-08FB90454798}"/>
              </a:ext>
            </a:extLst>
          </p:cNvPr>
          <p:cNvSpPr txBox="1"/>
          <p:nvPr/>
        </p:nvSpPr>
        <p:spPr>
          <a:xfrm>
            <a:off x="3749426" y="3487189"/>
            <a:ext cx="1633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</a:t>
            </a: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9A3282DA-808E-4800-AE9B-1EF18951AC3C}"/>
              </a:ext>
            </a:extLst>
          </p:cNvPr>
          <p:cNvCxnSpPr>
            <a:cxnSpLocks/>
          </p:cNvCxnSpPr>
          <p:nvPr/>
        </p:nvCxnSpPr>
        <p:spPr>
          <a:xfrm>
            <a:off x="4571058" y="4105260"/>
            <a:ext cx="0" cy="185898"/>
          </a:xfrm>
          <a:prstGeom prst="straightConnector1">
            <a:avLst/>
          </a:prstGeom>
          <a:ln w="12700">
            <a:solidFill>
              <a:srgbClr val="291F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66841C1D-38AD-442B-A72B-1F4CB73C947C}"/>
              </a:ext>
            </a:extLst>
          </p:cNvPr>
          <p:cNvSpPr txBox="1"/>
          <p:nvPr/>
        </p:nvSpPr>
        <p:spPr>
          <a:xfrm>
            <a:off x="3787524" y="4394053"/>
            <a:ext cx="1633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Priority Index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FEBA62C-9551-4BBB-996C-5407C41DC4EA}"/>
              </a:ext>
            </a:extLst>
          </p:cNvPr>
          <p:cNvSpPr txBox="1"/>
          <p:nvPr/>
        </p:nvSpPr>
        <p:spPr>
          <a:xfrm>
            <a:off x="3777296" y="4687928"/>
            <a:ext cx="163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</a:t>
            </a:r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 우선순위</a:t>
            </a:r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59E1F1C-58AC-4C7D-AFDE-75632C9217DB}"/>
              </a:ext>
            </a:extLst>
          </p:cNvPr>
          <p:cNvSpPr txBox="1"/>
          <p:nvPr/>
        </p:nvSpPr>
        <p:spPr>
          <a:xfrm>
            <a:off x="5698727" y="3129498"/>
            <a:ext cx="1270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연간 예산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F95BAB7-F8BD-4C69-ACF7-69D244EBF022}"/>
              </a:ext>
            </a:extLst>
          </p:cNvPr>
          <p:cNvSpPr txBox="1"/>
          <p:nvPr/>
        </p:nvSpPr>
        <p:spPr>
          <a:xfrm>
            <a:off x="5698727" y="3482582"/>
            <a:ext cx="1270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연간 </a:t>
            </a:r>
            <a:r>
              <a:rPr lang="ko-KR" altLang="en-US" sz="14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시공력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E07E8A5-5650-4441-940B-F67A82A52DC8}"/>
              </a:ext>
            </a:extLst>
          </p:cNvPr>
          <p:cNvSpPr txBox="1"/>
          <p:nvPr/>
        </p:nvSpPr>
        <p:spPr>
          <a:xfrm>
            <a:off x="5698727" y="3835666"/>
            <a:ext cx="1270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KPI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목표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1EAE221-40EB-44B3-B9A8-7FC3808938C2}"/>
              </a:ext>
            </a:extLst>
          </p:cNvPr>
          <p:cNvSpPr txBox="1"/>
          <p:nvPr/>
        </p:nvSpPr>
        <p:spPr>
          <a:xfrm>
            <a:off x="5517113" y="4719286"/>
            <a:ext cx="1633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Top-Down / Bottom-Up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EAA0414-DD65-40AD-9815-2F0BC2416275}"/>
              </a:ext>
            </a:extLst>
          </p:cNvPr>
          <p:cNvSpPr txBox="1"/>
          <p:nvPr/>
        </p:nvSpPr>
        <p:spPr>
          <a:xfrm>
            <a:off x="5698727" y="4202496"/>
            <a:ext cx="1270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투자가치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 PI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06153F2-1497-491A-A784-150EEE481F16}"/>
              </a:ext>
            </a:extLst>
          </p:cNvPr>
          <p:cNvSpPr txBox="1"/>
          <p:nvPr/>
        </p:nvSpPr>
        <p:spPr>
          <a:xfrm>
            <a:off x="7448773" y="3129498"/>
            <a:ext cx="1270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교체 우선순위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3FBC894-689D-41B8-83E3-2B087E20F696}"/>
              </a:ext>
            </a:extLst>
          </p:cNvPr>
          <p:cNvSpPr txBox="1"/>
          <p:nvPr/>
        </p:nvSpPr>
        <p:spPr>
          <a:xfrm>
            <a:off x="7448773" y="3476905"/>
            <a:ext cx="1428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연도별 투자계획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4D874A2-F67A-4637-B595-D940EC4253DD}"/>
              </a:ext>
            </a:extLst>
          </p:cNvPr>
          <p:cNvSpPr txBox="1"/>
          <p:nvPr/>
        </p:nvSpPr>
        <p:spPr>
          <a:xfrm>
            <a:off x="7448773" y="3824312"/>
            <a:ext cx="14282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투자효과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B4AB09C-780E-4921-8EB9-59ED13572432}"/>
              </a:ext>
            </a:extLst>
          </p:cNvPr>
          <p:cNvSpPr txBox="1"/>
          <p:nvPr/>
        </p:nvSpPr>
        <p:spPr>
          <a:xfrm>
            <a:off x="7448773" y="4356384"/>
            <a:ext cx="1428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KPI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708328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432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투자지표와 운영 목표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(KPI)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통합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하여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Priority Index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산정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제약조건 기반 최적화를 통해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교체 우선순위 및 연도별 최적 투자계획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도출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92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Fuzzy-AHP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기반 자산 투자 최적화 프레임워크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Step 1 :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투자지표 산출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708328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432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설비별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투자지표는 기존 설비와 교체에 따른 효과를 가정하여 리스크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관점으로 정량화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연구에서는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</a:t>
            </a:r>
            <a:r>
              <a:rPr lang="ko-KR" altLang="en-US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저감량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SAIDI/</a:t>
            </a:r>
            <a:r>
              <a:rPr lang="ko-KR" altLang="en-US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고장률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투자가치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투자지표로 정의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5C8AB16-DE5C-4F3D-85DA-C164E3380D34}"/>
              </a:ext>
            </a:extLst>
          </p:cNvPr>
          <p:cNvSpPr/>
          <p:nvPr/>
        </p:nvSpPr>
        <p:spPr>
          <a:xfrm>
            <a:off x="195420" y="2132927"/>
            <a:ext cx="2810178" cy="3361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0FA4DD1-D1BC-4F32-B264-E1C105E024C8}"/>
              </a:ext>
            </a:extLst>
          </p:cNvPr>
          <p:cNvSpPr/>
          <p:nvPr/>
        </p:nvSpPr>
        <p:spPr>
          <a:xfrm>
            <a:off x="3142500" y="2132927"/>
            <a:ext cx="2810178" cy="3361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D21AFEB-5191-4518-9CF3-9F793C913AF6}"/>
              </a:ext>
            </a:extLst>
          </p:cNvPr>
          <p:cNvSpPr/>
          <p:nvPr/>
        </p:nvSpPr>
        <p:spPr>
          <a:xfrm>
            <a:off x="6089298" y="2132927"/>
            <a:ext cx="2810178" cy="3361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FB2CCF-5CBD-41C3-8A77-38A28C99EBA8}"/>
              </a:ext>
            </a:extLst>
          </p:cNvPr>
          <p:cNvSpPr txBox="1"/>
          <p:nvPr/>
        </p:nvSpPr>
        <p:spPr>
          <a:xfrm>
            <a:off x="195138" y="2409598"/>
            <a:ext cx="2807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</a:t>
            </a:r>
            <a:r>
              <a:rPr lang="ko-KR" altLang="en-US" sz="14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저감량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2" name="양쪽 모서리가 둥근 사각형 32">
            <a:extLst>
              <a:ext uri="{FF2B5EF4-FFF2-40B4-BE49-F238E27FC236}">
                <a16:creationId xmlns:a16="http://schemas.microsoft.com/office/drawing/2014/main" id="{E2B9AB9D-0987-4914-A953-564ED1232E44}"/>
              </a:ext>
            </a:extLst>
          </p:cNvPr>
          <p:cNvSpPr/>
          <p:nvPr/>
        </p:nvSpPr>
        <p:spPr>
          <a:xfrm>
            <a:off x="198030" y="202119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지표</a:t>
            </a:r>
          </a:p>
        </p:txBody>
      </p:sp>
      <p:sp>
        <p:nvSpPr>
          <p:cNvPr id="63" name="양쪽 모서리가 둥근 사각형 32">
            <a:extLst>
              <a:ext uri="{FF2B5EF4-FFF2-40B4-BE49-F238E27FC236}">
                <a16:creationId xmlns:a16="http://schemas.microsoft.com/office/drawing/2014/main" id="{96ED9981-754E-4F9F-937B-11E2E0BC8EEE}"/>
              </a:ext>
            </a:extLst>
          </p:cNvPr>
          <p:cNvSpPr/>
          <p:nvPr/>
        </p:nvSpPr>
        <p:spPr>
          <a:xfrm>
            <a:off x="3145110" y="202119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 지표</a:t>
            </a:r>
          </a:p>
        </p:txBody>
      </p:sp>
      <p:sp>
        <p:nvSpPr>
          <p:cNvPr id="64" name="양쪽 모서리가 둥근 사각형 32">
            <a:extLst>
              <a:ext uri="{FF2B5EF4-FFF2-40B4-BE49-F238E27FC236}">
                <a16:creationId xmlns:a16="http://schemas.microsoft.com/office/drawing/2014/main" id="{30EAD6D0-70EA-441A-BEEB-F5F31DA1524E}"/>
              </a:ext>
            </a:extLst>
          </p:cNvPr>
          <p:cNvSpPr/>
          <p:nvPr/>
        </p:nvSpPr>
        <p:spPr>
          <a:xfrm>
            <a:off x="6091908" y="202119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지표</a:t>
            </a:r>
          </a:p>
        </p:txBody>
      </p:sp>
      <p:pic>
        <p:nvPicPr>
          <p:cNvPr id="67" name="Picture 1">
            <a:extLst>
              <a:ext uri="{FF2B5EF4-FFF2-40B4-BE49-F238E27FC236}">
                <a16:creationId xmlns:a16="http://schemas.microsoft.com/office/drawing/2014/main" id="{67A49413-26E1-4274-96B5-4D9CFE8D0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502" y="3287036"/>
            <a:ext cx="2535770" cy="21767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2BF51835-7B7C-4ECD-BF81-7F2E3F794D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2790"/>
          <a:stretch/>
        </p:blipFill>
        <p:spPr>
          <a:xfrm>
            <a:off x="214357" y="3590458"/>
            <a:ext cx="2769412" cy="168071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B34B497A-A994-4FB5-9D73-BD816FDB9AD1}"/>
              </a:ext>
            </a:extLst>
          </p:cNvPr>
          <p:cNvSpPr txBox="1"/>
          <p:nvPr/>
        </p:nvSpPr>
        <p:spPr>
          <a:xfrm>
            <a:off x="3144828" y="2409598"/>
            <a:ext cx="2807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및 </a:t>
            </a:r>
            <a:r>
              <a:rPr lang="ko-KR" altLang="en-US" sz="14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고장률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6CD3D3-14A3-480F-866B-86752674B91A}"/>
              </a:ext>
            </a:extLst>
          </p:cNvPr>
          <p:cNvSpPr txBox="1"/>
          <p:nvPr/>
        </p:nvSpPr>
        <p:spPr>
          <a:xfrm>
            <a:off x="6089016" y="2409598"/>
            <a:ext cx="2807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E1BE42-023E-406B-B17E-1C1E6176EE02}"/>
              </a:ext>
            </a:extLst>
          </p:cNvPr>
          <p:cNvSpPr txBox="1"/>
          <p:nvPr/>
        </p:nvSpPr>
        <p:spPr>
          <a:xfrm>
            <a:off x="346909" y="2703611"/>
            <a:ext cx="265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설비와 교체 후 신규 설비의 리스크 차이를 의미하며</a:t>
            </a: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교체를 통해 얻을 수 있는 리스크 비용 저감 효과</a:t>
            </a:r>
            <a:endParaRPr lang="en-US" altLang="ko-KR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1650394-A26A-4F60-91DC-26C01A242726}"/>
                  </a:ext>
                </a:extLst>
              </p:cNvPr>
              <p:cNvSpPr txBox="1"/>
              <p:nvPr/>
            </p:nvSpPr>
            <p:spPr>
              <a:xfrm>
                <a:off x="3243439" y="3518190"/>
                <a:ext cx="2598329" cy="5835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200" b="1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•  </a:t>
                </a:r>
                <a:r>
                  <a:rPr lang="ko-KR" altLang="en-US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호당 평균 정전시간</a:t>
                </a:r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(SAIDI)</a:t>
                </a:r>
              </a:p>
              <a:p>
                <a:endParaRPr lang="en-US" altLang="ko-KR" sz="4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전체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고객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정전시간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전체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고객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수</m:t>
                        </m:r>
                      </m:den>
                    </m:f>
                  </m:oMath>
                </a14:m>
                <a:endParaRPr lang="ko-KR" altLang="en-US" sz="12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1650394-A26A-4F60-91DC-26C01A242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39" y="3518190"/>
                <a:ext cx="2598329" cy="583558"/>
              </a:xfrm>
              <a:prstGeom prst="rect">
                <a:avLst/>
              </a:prstGeom>
              <a:blipFill>
                <a:blip r:embed="rId7"/>
                <a:stretch>
                  <a:fillRect l="-3521" t="-8333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0EB7E6C-893B-4246-B866-11ED3B5A2025}"/>
                  </a:ext>
                </a:extLst>
              </p:cNvPr>
              <p:cNvSpPr txBox="1"/>
              <p:nvPr/>
            </p:nvSpPr>
            <p:spPr>
              <a:xfrm>
                <a:off x="3243439" y="4719226"/>
                <a:ext cx="259832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200" b="1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•  </a:t>
                </a:r>
                <a:r>
                  <a:rPr lang="ko-KR" altLang="en-US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연간 예상 고장 대수</a:t>
                </a:r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 </a:t>
                </a:r>
                <a:endParaRPr lang="en-US" altLang="ko-KR" sz="120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설비별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연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간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고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장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확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률</m:t>
                        </m:r>
                      </m:e>
                    </m:nary>
                  </m:oMath>
                </a14:m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(Hazard Rate) </a:t>
                </a:r>
                <a:endParaRPr lang="ko-KR" altLang="en-US" sz="12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0EB7E6C-893B-4246-B866-11ED3B5A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39" y="4719226"/>
                <a:ext cx="2598329" cy="369332"/>
              </a:xfrm>
              <a:prstGeom prst="rect">
                <a:avLst/>
              </a:prstGeom>
              <a:blipFill>
                <a:blip r:embed="rId8"/>
                <a:stretch>
                  <a:fillRect l="-3521" t="-36066" r="-3756" b="-129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5CBAE08-AEE8-4541-A272-ED78EC2E55EF}"/>
                  </a:ext>
                </a:extLst>
              </p:cNvPr>
              <p:cNvSpPr txBox="1"/>
              <p:nvPr/>
            </p:nvSpPr>
            <p:spPr>
              <a:xfrm>
                <a:off x="3272835" y="4170711"/>
                <a:ext cx="2598329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200" b="0" i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KoPub돋움체 Medium" panose="00000600000000000000" pitchFamily="2" charset="-127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KoPub돋움체 Medium" panose="00000600000000000000" pitchFamily="2" charset="-127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장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확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률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정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전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시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간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연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결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객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수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전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체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객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2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5CBAE08-AEE8-4541-A272-ED78EC2E5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835" y="4170711"/>
                <a:ext cx="2598329" cy="462627"/>
              </a:xfrm>
              <a:prstGeom prst="rect">
                <a:avLst/>
              </a:prstGeom>
              <a:blipFill>
                <a:blip r:embed="rId9"/>
                <a:stretch>
                  <a:fillRect l="-18310" t="-143421" b="-20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1F056BB6-B2BF-44C3-A6F8-8D7A17B97029}"/>
              </a:ext>
            </a:extLst>
          </p:cNvPr>
          <p:cNvSpPr txBox="1"/>
          <p:nvPr/>
        </p:nvSpPr>
        <p:spPr>
          <a:xfrm>
            <a:off x="3266303" y="2703611"/>
            <a:ext cx="279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고장으로 인해 발생하는 정전 관점의 신뢰도 지표로</a:t>
            </a: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교체가 신뢰도 개선에 미치는 효과를 정량화</a:t>
            </a:r>
            <a:endParaRPr lang="en-US" altLang="ko-KR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638523-86A9-481F-A2D6-316939B272BC}"/>
              </a:ext>
            </a:extLst>
          </p:cNvPr>
          <p:cNvSpPr txBox="1"/>
          <p:nvPr/>
        </p:nvSpPr>
        <p:spPr>
          <a:xfrm>
            <a:off x="6241676" y="2703611"/>
            <a:ext cx="279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교체로 얻을 수 있는 리스크 저감 효과에서 투자비용을 차감한 값으로</a:t>
            </a: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투자로 인한 순편익을 의미</a:t>
            </a:r>
            <a:endParaRPr lang="en-US" altLang="ko-KR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7559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Fuzzy-AHP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기반 자산 투자 최적화 프레임워크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Step 2 : Fuzzy-AHP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를 활용한 운영 목표 정량화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4780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4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 설문 결과를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삼각 퍼지수로 변환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 가중 기하평균 및 </a:t>
            </a:r>
            <a:r>
              <a:rPr lang="en-US" altLang="ko-KR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CoG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비퍼지화를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통해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 정량화</a:t>
            </a:r>
            <a:endParaRPr lang="en-US" altLang="ko-KR" sz="1600" dirty="0">
              <a:solidFill>
                <a:srgbClr val="053F8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91A4BE-CD10-4183-8FC1-7FBD44470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09" y="1847755"/>
            <a:ext cx="737378" cy="863942"/>
          </a:xfrm>
          <a:prstGeom prst="rect">
            <a:avLst/>
          </a:prstGeom>
        </p:spPr>
      </p:pic>
      <p:sp>
        <p:nvSpPr>
          <p:cNvPr id="356" name="Text 122">
            <a:extLst>
              <a:ext uri="{FF2B5EF4-FFF2-40B4-BE49-F238E27FC236}">
                <a16:creationId xmlns:a16="http://schemas.microsoft.com/office/drawing/2014/main" id="{4A0C5A46-955B-4795-AC8B-B09431A42CF7}"/>
              </a:ext>
            </a:extLst>
          </p:cNvPr>
          <p:cNvSpPr/>
          <p:nvPr/>
        </p:nvSpPr>
        <p:spPr>
          <a:xfrm>
            <a:off x="1207298" y="1865484"/>
            <a:ext cx="1816947" cy="1059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전문가</a:t>
            </a:r>
            <a:r>
              <a:rPr 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설문조사</a:t>
            </a:r>
            <a:endParaRPr lang="en-US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(Expert </a:t>
            </a:r>
            <a:r>
              <a:rPr lang="en-US" sz="10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Survery</a:t>
            </a: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)</a:t>
            </a: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 전문가 쌍대비교 설문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 리스크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간 상대적 중요도 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CDB426-7970-4FCD-ACAD-59460EF7E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831" y="3153904"/>
            <a:ext cx="853514" cy="780356"/>
          </a:xfrm>
          <a:prstGeom prst="rect">
            <a:avLst/>
          </a:prstGeom>
        </p:spPr>
      </p:pic>
      <p:pic>
        <p:nvPicPr>
          <p:cNvPr id="357" name="Image 37" descr="preencoded.png">
            <a:extLst>
              <a:ext uri="{FF2B5EF4-FFF2-40B4-BE49-F238E27FC236}">
                <a16:creationId xmlns:a16="http://schemas.microsoft.com/office/drawing/2014/main" id="{52E3BB70-6CDA-4725-A638-0C2142885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304" y="2801062"/>
            <a:ext cx="132588" cy="276642"/>
          </a:xfrm>
          <a:prstGeom prst="rect">
            <a:avLst/>
          </a:prstGeom>
        </p:spPr>
      </p:pic>
      <p:sp>
        <p:nvSpPr>
          <p:cNvPr id="358" name="Text 122">
            <a:extLst>
              <a:ext uri="{FF2B5EF4-FFF2-40B4-BE49-F238E27FC236}">
                <a16:creationId xmlns:a16="http://schemas.microsoft.com/office/drawing/2014/main" id="{09FA0F3B-AA49-4781-94D5-AFCE98FA098F}"/>
              </a:ext>
            </a:extLst>
          </p:cNvPr>
          <p:cNvSpPr/>
          <p:nvPr/>
        </p:nvSpPr>
        <p:spPr>
          <a:xfrm>
            <a:off x="1207299" y="3111039"/>
            <a:ext cx="1816947" cy="84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언어적 판단</a:t>
            </a:r>
            <a:endParaRPr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(Linguistic Judgement)</a:t>
            </a: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설문응답 ▶ 언어 척도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0975" indent="-180975" algn="ctr">
              <a:lnSpc>
                <a:spcPct val="116000"/>
              </a:lnSpc>
              <a:buNone/>
            </a:pP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중요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약간 중요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매우 중요 등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59" name="Text 122">
            <a:extLst>
              <a:ext uri="{FF2B5EF4-FFF2-40B4-BE49-F238E27FC236}">
                <a16:creationId xmlns:a16="http://schemas.microsoft.com/office/drawing/2014/main" id="{3D0AD41E-C831-4D4C-A6E1-7A7B571BB621}"/>
              </a:ext>
            </a:extLst>
          </p:cNvPr>
          <p:cNvSpPr/>
          <p:nvPr/>
        </p:nvSpPr>
        <p:spPr>
          <a:xfrm>
            <a:off x="4746958" y="1923435"/>
            <a:ext cx="1816947" cy="631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삼각 </a:t>
            </a:r>
            <a:r>
              <a:rPr lang="ko-KR" altLang="en-US" sz="14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퍼지수</a:t>
            </a:r>
            <a:r>
              <a:rPr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변환</a:t>
            </a:r>
            <a:endParaRPr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(Triangular Fuzzy Number, TFN)</a:t>
            </a: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 언어 척도를 퍼지수로 변환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8BCD48-37CF-4276-A08A-EF999255F5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3429" y="1765594"/>
            <a:ext cx="1002065" cy="1035468"/>
          </a:xfrm>
          <a:prstGeom prst="rect">
            <a:avLst/>
          </a:prstGeom>
        </p:spPr>
      </p:pic>
      <p:sp>
        <p:nvSpPr>
          <p:cNvPr id="377" name="Text 122">
            <a:extLst>
              <a:ext uri="{FF2B5EF4-FFF2-40B4-BE49-F238E27FC236}">
                <a16:creationId xmlns:a16="http://schemas.microsoft.com/office/drawing/2014/main" id="{96C1EB08-656F-4DEB-974B-F7C915EEA51F}"/>
              </a:ext>
            </a:extLst>
          </p:cNvPr>
          <p:cNvSpPr/>
          <p:nvPr/>
        </p:nvSpPr>
        <p:spPr>
          <a:xfrm>
            <a:off x="1207299" y="4256479"/>
            <a:ext cx="1703541" cy="8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쌍대비교행렬</a:t>
            </a:r>
            <a:endParaRPr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(Pairwise Comparison Matrix)</a:t>
            </a: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설문응답 기준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간 쌍대비교 행렬 구성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378" name="그림 377">
            <a:extLst>
              <a:ext uri="{FF2B5EF4-FFF2-40B4-BE49-F238E27FC236}">
                <a16:creationId xmlns:a16="http://schemas.microsoft.com/office/drawing/2014/main" id="{5385ED1C-1AE0-4025-B303-38B4CF592E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899" y="4346736"/>
            <a:ext cx="894344" cy="894344"/>
          </a:xfrm>
          <a:prstGeom prst="rect">
            <a:avLst/>
          </a:prstGeom>
        </p:spPr>
      </p:pic>
      <p:pic>
        <p:nvPicPr>
          <p:cNvPr id="379" name="Image 37" descr="preencoded.png">
            <a:extLst>
              <a:ext uri="{FF2B5EF4-FFF2-40B4-BE49-F238E27FC236}">
                <a16:creationId xmlns:a16="http://schemas.microsoft.com/office/drawing/2014/main" id="{9B0DB5CB-3BEC-4862-91D4-000E730C9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304" y="3964740"/>
            <a:ext cx="132588" cy="276642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EC8EFF59-1E41-433F-A6EE-2BDF14D463B3}"/>
              </a:ext>
            </a:extLst>
          </p:cNvPr>
          <p:cNvCxnSpPr>
            <a:cxnSpLocks/>
            <a:stCxn id="377" idx="3"/>
            <a:endCxn id="7" idx="1"/>
          </p:cNvCxnSpPr>
          <p:nvPr/>
        </p:nvCxnSpPr>
        <p:spPr>
          <a:xfrm flipV="1">
            <a:off x="2910840" y="2283328"/>
            <a:ext cx="692589" cy="2413689"/>
          </a:xfrm>
          <a:prstGeom prst="bentConnector3">
            <a:avLst>
              <a:gd name="adj1" fmla="val 31296"/>
            </a:avLst>
          </a:prstGeom>
          <a:ln w="28575">
            <a:solidFill>
              <a:srgbClr val="09214C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Text 122">
            <a:extLst>
              <a:ext uri="{FF2B5EF4-FFF2-40B4-BE49-F238E27FC236}">
                <a16:creationId xmlns:a16="http://schemas.microsoft.com/office/drawing/2014/main" id="{C771375C-E6DE-4CBA-8CE9-38498696DBF0}"/>
              </a:ext>
            </a:extLst>
          </p:cNvPr>
          <p:cNvSpPr/>
          <p:nvPr/>
        </p:nvSpPr>
        <p:spPr>
          <a:xfrm>
            <a:off x="3779099" y="3203767"/>
            <a:ext cx="2236610" cy="4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전문가 의견 집계</a:t>
            </a:r>
            <a:endParaRPr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(Weighted</a:t>
            </a:r>
            <a:r>
              <a:rPr lang="ko-KR" alt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Geometric</a:t>
            </a:r>
            <a:r>
              <a:rPr lang="ko-KR" alt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Mean)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85A03A-EB5E-4E20-A45A-AB435A4C5F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624" y="3944977"/>
            <a:ext cx="1359526" cy="1371719"/>
          </a:xfrm>
          <a:prstGeom prst="rect">
            <a:avLst/>
          </a:prstGeom>
        </p:spPr>
      </p:pic>
      <p:sp>
        <p:nvSpPr>
          <p:cNvPr id="381" name="Text 122">
            <a:extLst>
              <a:ext uri="{FF2B5EF4-FFF2-40B4-BE49-F238E27FC236}">
                <a16:creationId xmlns:a16="http://schemas.microsoft.com/office/drawing/2014/main" id="{3A9FC8E6-52E4-402D-94C7-E40E3B9B787A}"/>
              </a:ext>
            </a:extLst>
          </p:cNvPr>
          <p:cNvSpPr/>
          <p:nvPr/>
        </p:nvSpPr>
        <p:spPr>
          <a:xfrm>
            <a:off x="4738188" y="4269172"/>
            <a:ext cx="1988377" cy="84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비퍼지화</a:t>
            </a:r>
            <a:endParaRPr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(Defuzzification)</a:t>
            </a: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 </a:t>
            </a:r>
            <a:r>
              <a:rPr lang="en-US" altLang="ko-KR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CoG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(Center of Gravity)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  <a:p>
            <a:pPr marL="180975" indent="-180975">
              <a:lnSpc>
                <a:spcPct val="116000"/>
              </a:lnSpc>
              <a:buNone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 value </a:t>
            </a:r>
            <a:r>
              <a:rPr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▶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Crisp weight</a:t>
            </a:r>
          </a:p>
        </p:txBody>
      </p:sp>
      <p:pic>
        <p:nvPicPr>
          <p:cNvPr id="382" name="Image 37" descr="preencoded.png">
            <a:extLst>
              <a:ext uri="{FF2B5EF4-FFF2-40B4-BE49-F238E27FC236}">
                <a16:creationId xmlns:a16="http://schemas.microsoft.com/office/drawing/2014/main" id="{4B292C05-674F-4376-BD1D-854A06165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110" y="2801062"/>
            <a:ext cx="132588" cy="276642"/>
          </a:xfrm>
          <a:prstGeom prst="rect">
            <a:avLst/>
          </a:prstGeom>
        </p:spPr>
      </p:pic>
      <p:pic>
        <p:nvPicPr>
          <p:cNvPr id="383" name="Image 37" descr="preencoded.png">
            <a:extLst>
              <a:ext uri="{FF2B5EF4-FFF2-40B4-BE49-F238E27FC236}">
                <a16:creationId xmlns:a16="http://schemas.microsoft.com/office/drawing/2014/main" id="{8BD56B35-B377-43E1-8D2B-5933245E0A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110" y="3863703"/>
            <a:ext cx="132588" cy="276642"/>
          </a:xfrm>
          <a:prstGeom prst="rect">
            <a:avLst/>
          </a:prstGeom>
        </p:spPr>
      </p:pic>
      <p:sp>
        <p:nvSpPr>
          <p:cNvPr id="385" name="Text 122">
            <a:extLst>
              <a:ext uri="{FF2B5EF4-FFF2-40B4-BE49-F238E27FC236}">
                <a16:creationId xmlns:a16="http://schemas.microsoft.com/office/drawing/2014/main" id="{0240D297-3A24-4BD0-8B1B-D50A129ECAFB}"/>
              </a:ext>
            </a:extLst>
          </p:cNvPr>
          <p:cNvSpPr/>
          <p:nvPr/>
        </p:nvSpPr>
        <p:spPr>
          <a:xfrm>
            <a:off x="7028227" y="1843551"/>
            <a:ext cx="1816947" cy="41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다기준</a:t>
            </a:r>
            <a:r>
              <a:rPr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가중치 정규화</a:t>
            </a:r>
            <a:endParaRPr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(Normalized Weights)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4288FAA-4545-47E7-9933-742A810EB5F6}"/>
              </a:ext>
            </a:extLst>
          </p:cNvPr>
          <p:cNvCxnSpPr/>
          <p:nvPr/>
        </p:nvCxnSpPr>
        <p:spPr>
          <a:xfrm>
            <a:off x="7167048" y="2413726"/>
            <a:ext cx="145585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BB4ABBAC-DB3D-437E-BE39-70265D1448A5}"/>
              </a:ext>
            </a:extLst>
          </p:cNvPr>
          <p:cNvCxnSpPr/>
          <p:nvPr/>
        </p:nvCxnSpPr>
        <p:spPr>
          <a:xfrm>
            <a:off x="7167048" y="2585917"/>
            <a:ext cx="145585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136E85D1-1AB2-4662-BC2C-7FAB1B250058}"/>
              </a:ext>
            </a:extLst>
          </p:cNvPr>
          <p:cNvCxnSpPr/>
          <p:nvPr/>
        </p:nvCxnSpPr>
        <p:spPr>
          <a:xfrm>
            <a:off x="7167048" y="2758108"/>
            <a:ext cx="145585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617DD5D2-C3E5-476A-B922-AC671BFBC9B9}"/>
              </a:ext>
            </a:extLst>
          </p:cNvPr>
          <p:cNvCxnSpPr/>
          <p:nvPr/>
        </p:nvCxnSpPr>
        <p:spPr>
          <a:xfrm>
            <a:off x="7167048" y="2930298"/>
            <a:ext cx="145585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D65D8D-AAEF-48EC-8009-B022D5668F1A}"/>
              </a:ext>
            </a:extLst>
          </p:cNvPr>
          <p:cNvSpPr/>
          <p:nvPr/>
        </p:nvSpPr>
        <p:spPr>
          <a:xfrm>
            <a:off x="7306478" y="2454713"/>
            <a:ext cx="297180" cy="479049"/>
          </a:xfrm>
          <a:prstGeom prst="rect">
            <a:avLst/>
          </a:prstGeom>
          <a:solidFill>
            <a:srgbClr val="04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AF30C561-6872-4928-8F71-EE7CE708C4CC}"/>
              </a:ext>
            </a:extLst>
          </p:cNvPr>
          <p:cNvSpPr/>
          <p:nvPr/>
        </p:nvSpPr>
        <p:spPr>
          <a:xfrm>
            <a:off x="7788110" y="2563262"/>
            <a:ext cx="297180" cy="370499"/>
          </a:xfrm>
          <a:prstGeom prst="rect">
            <a:avLst/>
          </a:prstGeom>
          <a:solidFill>
            <a:srgbClr val="4B7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05891BAF-B0FD-4498-B152-BE09F8976633}"/>
              </a:ext>
            </a:extLst>
          </p:cNvPr>
          <p:cNvSpPr/>
          <p:nvPr/>
        </p:nvSpPr>
        <p:spPr>
          <a:xfrm>
            <a:off x="8268138" y="2660218"/>
            <a:ext cx="297180" cy="273543"/>
          </a:xfrm>
          <a:prstGeom prst="rect">
            <a:avLst/>
          </a:prstGeom>
          <a:solidFill>
            <a:srgbClr val="A5C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1" name="Text 122">
            <a:extLst>
              <a:ext uri="{FF2B5EF4-FFF2-40B4-BE49-F238E27FC236}">
                <a16:creationId xmlns:a16="http://schemas.microsoft.com/office/drawing/2014/main" id="{F8321A80-FDB4-40DD-986D-687701268F59}"/>
              </a:ext>
            </a:extLst>
          </p:cNvPr>
          <p:cNvSpPr/>
          <p:nvPr/>
        </p:nvSpPr>
        <p:spPr>
          <a:xfrm>
            <a:off x="7261574" y="2277093"/>
            <a:ext cx="367936" cy="13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altLang="ko-KR" sz="8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0.42</a:t>
            </a:r>
            <a:endParaRPr lang="en-US" sz="8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392" name="Text 122">
            <a:extLst>
              <a:ext uri="{FF2B5EF4-FFF2-40B4-BE49-F238E27FC236}">
                <a16:creationId xmlns:a16="http://schemas.microsoft.com/office/drawing/2014/main" id="{16397CBD-5240-47EC-B49C-C15FA13F48BE}"/>
              </a:ext>
            </a:extLst>
          </p:cNvPr>
          <p:cNvSpPr/>
          <p:nvPr/>
        </p:nvSpPr>
        <p:spPr>
          <a:xfrm>
            <a:off x="7743206" y="2419555"/>
            <a:ext cx="367936" cy="13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altLang="ko-KR" sz="8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0.33</a:t>
            </a:r>
            <a:endParaRPr lang="en-US" sz="8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393" name="Text 122">
            <a:extLst>
              <a:ext uri="{FF2B5EF4-FFF2-40B4-BE49-F238E27FC236}">
                <a16:creationId xmlns:a16="http://schemas.microsoft.com/office/drawing/2014/main" id="{CA81F82D-27FE-4426-960C-BFC9C9D0CD62}"/>
              </a:ext>
            </a:extLst>
          </p:cNvPr>
          <p:cNvSpPr/>
          <p:nvPr/>
        </p:nvSpPr>
        <p:spPr>
          <a:xfrm>
            <a:off x="8221197" y="2462419"/>
            <a:ext cx="367936" cy="13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altLang="ko-KR" sz="8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0.25</a:t>
            </a:r>
            <a:endParaRPr lang="en-US" sz="8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394" name="Text 122">
            <a:extLst>
              <a:ext uri="{FF2B5EF4-FFF2-40B4-BE49-F238E27FC236}">
                <a16:creationId xmlns:a16="http://schemas.microsoft.com/office/drawing/2014/main" id="{57BE1180-AC18-40FC-A84E-F6ABA9FA965D}"/>
              </a:ext>
            </a:extLst>
          </p:cNvPr>
          <p:cNvSpPr/>
          <p:nvPr/>
        </p:nvSpPr>
        <p:spPr>
          <a:xfrm>
            <a:off x="7261574" y="2938809"/>
            <a:ext cx="367936" cy="13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8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리스크</a:t>
            </a:r>
            <a:endParaRPr lang="en-US" sz="8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395" name="Text 122">
            <a:extLst>
              <a:ext uri="{FF2B5EF4-FFF2-40B4-BE49-F238E27FC236}">
                <a16:creationId xmlns:a16="http://schemas.microsoft.com/office/drawing/2014/main" id="{71D33471-57B9-45E2-9D0D-9977B39715B1}"/>
              </a:ext>
            </a:extLst>
          </p:cNvPr>
          <p:cNvSpPr/>
          <p:nvPr/>
        </p:nvSpPr>
        <p:spPr>
          <a:xfrm>
            <a:off x="7751930" y="2938809"/>
            <a:ext cx="367936" cy="13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800" b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성능</a:t>
            </a:r>
            <a:endParaRPr lang="en-US" sz="8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396" name="Text 122">
            <a:extLst>
              <a:ext uri="{FF2B5EF4-FFF2-40B4-BE49-F238E27FC236}">
                <a16:creationId xmlns:a16="http://schemas.microsoft.com/office/drawing/2014/main" id="{4B71F2E5-9FE0-4474-A741-5233FDACB794}"/>
              </a:ext>
            </a:extLst>
          </p:cNvPr>
          <p:cNvSpPr/>
          <p:nvPr/>
        </p:nvSpPr>
        <p:spPr>
          <a:xfrm>
            <a:off x="8242286" y="2938809"/>
            <a:ext cx="367936" cy="13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8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경제성</a:t>
            </a:r>
            <a:endParaRPr lang="en-US" sz="8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pic>
        <p:nvPicPr>
          <p:cNvPr id="477" name="그림 476">
            <a:extLst>
              <a:ext uri="{FF2B5EF4-FFF2-40B4-BE49-F238E27FC236}">
                <a16:creationId xmlns:a16="http://schemas.microsoft.com/office/drawing/2014/main" id="{06D80CAE-4F4E-4A7B-8734-203BAE72D3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6566" y="3585764"/>
            <a:ext cx="1028478" cy="949364"/>
          </a:xfrm>
          <a:prstGeom prst="rect">
            <a:avLst/>
          </a:prstGeom>
        </p:spPr>
      </p:pic>
      <p:pic>
        <p:nvPicPr>
          <p:cNvPr id="478" name="그림 477">
            <a:extLst>
              <a:ext uri="{FF2B5EF4-FFF2-40B4-BE49-F238E27FC236}">
                <a16:creationId xmlns:a16="http://schemas.microsoft.com/office/drawing/2014/main" id="{1ED92497-F4E3-4FD7-BC0B-4020C19333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2988" y="3585764"/>
            <a:ext cx="1024314" cy="949364"/>
          </a:xfrm>
          <a:prstGeom prst="rect">
            <a:avLst/>
          </a:prstGeom>
        </p:spPr>
      </p:pic>
      <p:pic>
        <p:nvPicPr>
          <p:cNvPr id="479" name="그림 478">
            <a:extLst>
              <a:ext uri="{FF2B5EF4-FFF2-40B4-BE49-F238E27FC236}">
                <a16:creationId xmlns:a16="http://schemas.microsoft.com/office/drawing/2014/main" id="{3727F894-BF20-499C-8F35-C55E8D8F1B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2081" y="4522807"/>
            <a:ext cx="1143237" cy="1059585"/>
          </a:xfrm>
          <a:prstGeom prst="rect">
            <a:avLst/>
          </a:prstGeom>
        </p:spPr>
      </p:pic>
      <p:sp>
        <p:nvSpPr>
          <p:cNvPr id="480" name="Text 122">
            <a:extLst>
              <a:ext uri="{FF2B5EF4-FFF2-40B4-BE49-F238E27FC236}">
                <a16:creationId xmlns:a16="http://schemas.microsoft.com/office/drawing/2014/main" id="{2F8AF498-E8FC-4E52-BF5F-CDC423318909}"/>
              </a:ext>
            </a:extLst>
          </p:cNvPr>
          <p:cNvSpPr/>
          <p:nvPr/>
        </p:nvSpPr>
        <p:spPr>
          <a:xfrm>
            <a:off x="7076571" y="3316668"/>
            <a:ext cx="1816947" cy="23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시나리오별 가중치 차이</a:t>
            </a:r>
            <a:endParaRPr lang="en-US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cxnSp>
        <p:nvCxnSpPr>
          <p:cNvPr id="481" name="연결선: 꺾임 480">
            <a:extLst>
              <a:ext uri="{FF2B5EF4-FFF2-40B4-BE49-F238E27FC236}">
                <a16:creationId xmlns:a16="http://schemas.microsoft.com/office/drawing/2014/main" id="{C8C1F126-32FE-42B8-8D47-81D651456B18}"/>
              </a:ext>
            </a:extLst>
          </p:cNvPr>
          <p:cNvCxnSpPr>
            <a:cxnSpLocks/>
            <a:stCxn id="381" idx="3"/>
            <a:endCxn id="385" idx="1"/>
          </p:cNvCxnSpPr>
          <p:nvPr/>
        </p:nvCxnSpPr>
        <p:spPr>
          <a:xfrm flipV="1">
            <a:off x="6726565" y="2052936"/>
            <a:ext cx="301662" cy="2638916"/>
          </a:xfrm>
          <a:prstGeom prst="bentConnector3">
            <a:avLst>
              <a:gd name="adj1" fmla="val 27897"/>
            </a:avLst>
          </a:prstGeom>
          <a:ln w="28575">
            <a:solidFill>
              <a:srgbClr val="09214C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7" name="Image 37" descr="preencoded.png">
            <a:extLst>
              <a:ext uri="{FF2B5EF4-FFF2-40B4-BE49-F238E27FC236}">
                <a16:creationId xmlns:a16="http://schemas.microsoft.com/office/drawing/2014/main" id="{8A15D93A-F12E-40A9-A110-AD325E11A1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829326" y="3319778"/>
            <a:ext cx="173864" cy="22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41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Fuzzy-AHP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기반 자산 투자 최적화 프레임워크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Step 3 : </a:t>
            </a: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다기준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통합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PI(Priority Index)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산정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5"/>
            <a:ext cx="9144000" cy="69264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432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설비별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투자지표를 기반으로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시나리오별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가중치를 반영하여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산정</a:t>
            </a:r>
            <a:endParaRPr lang="en-US" altLang="ko-KR" sz="1600" dirty="0">
              <a:solidFill>
                <a:srgbClr val="053F8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기존의 리스크 또는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단일 지표 ▶ </a:t>
            </a:r>
            <a:r>
              <a:rPr lang="ko-KR" altLang="en-US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관점의 투자 우선순위 지표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정량화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FC4178E-5FC2-4F2C-80FC-144925879169}"/>
              </a:ext>
            </a:extLst>
          </p:cNvPr>
          <p:cNvGrpSpPr/>
          <p:nvPr/>
        </p:nvGrpSpPr>
        <p:grpSpPr>
          <a:xfrm>
            <a:off x="471894" y="2486850"/>
            <a:ext cx="2040839" cy="1940370"/>
            <a:chOff x="882620" y="2981360"/>
            <a:chExt cx="1005898" cy="1515813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F918480-758D-4CEC-AF19-B145DD9952D6}"/>
                </a:ext>
              </a:extLst>
            </p:cNvPr>
            <p:cNvSpPr/>
            <p:nvPr/>
          </p:nvSpPr>
          <p:spPr>
            <a:xfrm>
              <a:off x="1135786" y="2981360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R</a:t>
              </a:r>
              <a:r>
                <a:rPr lang="en-US" altLang="ko-KR" sz="1400" b="1" baseline="30000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*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705F9FD-84E4-4824-9BDA-E68A160D423A}"/>
                </a:ext>
              </a:extLst>
            </p:cNvPr>
            <p:cNvSpPr/>
            <p:nvPr/>
          </p:nvSpPr>
          <p:spPr>
            <a:xfrm>
              <a:off x="1388952" y="2981360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S</a:t>
              </a:r>
              <a:r>
                <a:rPr lang="en-US" altLang="ko-KR" sz="1400" b="1" baseline="30000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*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2A940A8-9858-4602-B50F-9F400173AF58}"/>
                </a:ext>
              </a:extLst>
            </p:cNvPr>
            <p:cNvSpPr/>
            <p:nvPr/>
          </p:nvSpPr>
          <p:spPr>
            <a:xfrm>
              <a:off x="1635352" y="2981360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E</a:t>
              </a:r>
              <a:r>
                <a:rPr lang="en-US" altLang="ko-KR" sz="1400" b="1" baseline="30000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*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7A1DD11-369E-4D33-AAB1-65733301A965}"/>
                </a:ext>
              </a:extLst>
            </p:cNvPr>
            <p:cNvSpPr/>
            <p:nvPr/>
          </p:nvSpPr>
          <p:spPr>
            <a:xfrm>
              <a:off x="1135786" y="3231343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181A3A9-3506-4968-9712-E60C4A6FAEAA}"/>
                </a:ext>
              </a:extLst>
            </p:cNvPr>
            <p:cNvSpPr/>
            <p:nvPr/>
          </p:nvSpPr>
          <p:spPr>
            <a:xfrm>
              <a:off x="1388952" y="3231343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E9DB11E-4E39-4936-81F4-560B7B56036F}"/>
                </a:ext>
              </a:extLst>
            </p:cNvPr>
            <p:cNvSpPr/>
            <p:nvPr/>
          </p:nvSpPr>
          <p:spPr>
            <a:xfrm>
              <a:off x="1635352" y="3231343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10800DB-C056-4888-9BB8-CA66D332C0F9}"/>
                </a:ext>
              </a:extLst>
            </p:cNvPr>
            <p:cNvSpPr/>
            <p:nvPr/>
          </p:nvSpPr>
          <p:spPr>
            <a:xfrm>
              <a:off x="1135786" y="3484509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F4BB2C7-C1F2-4366-9805-953C954CE1CF}"/>
                </a:ext>
              </a:extLst>
            </p:cNvPr>
            <p:cNvSpPr/>
            <p:nvPr/>
          </p:nvSpPr>
          <p:spPr>
            <a:xfrm>
              <a:off x="1388952" y="3484509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06C8B07-F644-46EC-B97F-F9F33CDC6B87}"/>
                </a:ext>
              </a:extLst>
            </p:cNvPr>
            <p:cNvSpPr/>
            <p:nvPr/>
          </p:nvSpPr>
          <p:spPr>
            <a:xfrm>
              <a:off x="1635352" y="3484509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D1F8DB3-7B0B-4239-8317-70BA26195AC0}"/>
                </a:ext>
              </a:extLst>
            </p:cNvPr>
            <p:cNvSpPr/>
            <p:nvPr/>
          </p:nvSpPr>
          <p:spPr>
            <a:xfrm>
              <a:off x="1135786" y="3737675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448CA01-BAE8-463D-BE60-63E356B3D3A1}"/>
                </a:ext>
              </a:extLst>
            </p:cNvPr>
            <p:cNvSpPr/>
            <p:nvPr/>
          </p:nvSpPr>
          <p:spPr>
            <a:xfrm>
              <a:off x="1388952" y="3737675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ACA481F-A0DE-4E78-8774-AF5765C78A14}"/>
                </a:ext>
              </a:extLst>
            </p:cNvPr>
            <p:cNvSpPr/>
            <p:nvPr/>
          </p:nvSpPr>
          <p:spPr>
            <a:xfrm>
              <a:off x="1635352" y="3737675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853C7A5-DDBF-487F-8F06-456C85E2D305}"/>
                </a:ext>
              </a:extLst>
            </p:cNvPr>
            <p:cNvSpPr/>
            <p:nvPr/>
          </p:nvSpPr>
          <p:spPr>
            <a:xfrm>
              <a:off x="882620" y="3231343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29EBB6B-75F5-4358-9191-2168290830E8}"/>
                </a:ext>
              </a:extLst>
            </p:cNvPr>
            <p:cNvSpPr/>
            <p:nvPr/>
          </p:nvSpPr>
          <p:spPr>
            <a:xfrm>
              <a:off x="882620" y="3484509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FBC774E-31A4-42A3-88A9-7F6A42035CDF}"/>
                </a:ext>
              </a:extLst>
            </p:cNvPr>
            <p:cNvSpPr/>
            <p:nvPr/>
          </p:nvSpPr>
          <p:spPr>
            <a:xfrm>
              <a:off x="882620" y="3737675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3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5C2F954-8892-4910-B38C-F5FD442482E2}"/>
                </a:ext>
              </a:extLst>
            </p:cNvPr>
            <p:cNvSpPr/>
            <p:nvPr/>
          </p:nvSpPr>
          <p:spPr>
            <a:xfrm>
              <a:off x="1135786" y="3990841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…</a:t>
              </a:r>
              <a:endParaRPr lang="ko-KR" altLang="en-US" sz="1400" b="1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9639FE35-30EB-40ED-AEF5-AC48F55509BB}"/>
                </a:ext>
              </a:extLst>
            </p:cNvPr>
            <p:cNvSpPr/>
            <p:nvPr/>
          </p:nvSpPr>
          <p:spPr>
            <a:xfrm>
              <a:off x="1388952" y="3990841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…</a:t>
              </a:r>
              <a:endParaRPr lang="ko-KR" altLang="en-US" sz="1400" b="1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93F31F7-7EA7-4631-813F-FD031B8C28D5}"/>
                </a:ext>
              </a:extLst>
            </p:cNvPr>
            <p:cNvSpPr/>
            <p:nvPr/>
          </p:nvSpPr>
          <p:spPr>
            <a:xfrm>
              <a:off x="1635352" y="3990841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…</a:t>
              </a:r>
              <a:endParaRPr lang="ko-KR" altLang="en-US" sz="1400" b="1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6D142B6-AB68-4384-9CA1-8BF5105891B3}"/>
                </a:ext>
              </a:extLst>
            </p:cNvPr>
            <p:cNvSpPr/>
            <p:nvPr/>
          </p:nvSpPr>
          <p:spPr>
            <a:xfrm>
              <a:off x="882620" y="3990841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…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5427134-12E5-4B03-926F-9C0B470F3394}"/>
                </a:ext>
              </a:extLst>
            </p:cNvPr>
            <p:cNvSpPr/>
            <p:nvPr/>
          </p:nvSpPr>
          <p:spPr>
            <a:xfrm>
              <a:off x="1135786" y="4244007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D16C1140-9E5B-4B82-A264-F061E032376A}"/>
                </a:ext>
              </a:extLst>
            </p:cNvPr>
            <p:cNvSpPr/>
            <p:nvPr/>
          </p:nvSpPr>
          <p:spPr>
            <a:xfrm>
              <a:off x="1388952" y="4244007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26C66F03-0805-4A2B-ACAD-399AB42AC827}"/>
                </a:ext>
              </a:extLst>
            </p:cNvPr>
            <p:cNvSpPr/>
            <p:nvPr/>
          </p:nvSpPr>
          <p:spPr>
            <a:xfrm>
              <a:off x="1635352" y="4244007"/>
              <a:ext cx="253166" cy="2531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9A5D887E-3FD1-4AD8-B32D-553E92B6D615}"/>
                </a:ext>
              </a:extLst>
            </p:cNvPr>
            <p:cNvSpPr/>
            <p:nvPr/>
          </p:nvSpPr>
          <p:spPr>
            <a:xfrm>
              <a:off x="882620" y="4244007"/>
              <a:ext cx="253166" cy="253166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n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DAD56C8B-0136-4CC0-9C5F-53228C5A3743}"/>
              </a:ext>
            </a:extLst>
          </p:cNvPr>
          <p:cNvSpPr/>
          <p:nvPr/>
        </p:nvSpPr>
        <p:spPr>
          <a:xfrm>
            <a:off x="290831" y="2395401"/>
            <a:ext cx="164029" cy="2132853"/>
          </a:xfrm>
          <a:prstGeom prst="leftBracket">
            <a:avLst/>
          </a:prstGeom>
          <a:ln w="31750">
            <a:solidFill>
              <a:srgbClr val="0C0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왼쪽 대괄호 76">
            <a:extLst>
              <a:ext uri="{FF2B5EF4-FFF2-40B4-BE49-F238E27FC236}">
                <a16:creationId xmlns:a16="http://schemas.microsoft.com/office/drawing/2014/main" id="{5DFB78BE-02E1-403A-841B-7F6D307FE0F6}"/>
              </a:ext>
            </a:extLst>
          </p:cNvPr>
          <p:cNvSpPr/>
          <p:nvPr/>
        </p:nvSpPr>
        <p:spPr>
          <a:xfrm flipH="1">
            <a:off x="2626489" y="2430977"/>
            <a:ext cx="164029" cy="2132853"/>
          </a:xfrm>
          <a:prstGeom prst="leftBracket">
            <a:avLst/>
          </a:prstGeom>
          <a:ln w="31750">
            <a:solidFill>
              <a:srgbClr val="0C0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 122">
            <a:extLst>
              <a:ext uri="{FF2B5EF4-FFF2-40B4-BE49-F238E27FC236}">
                <a16:creationId xmlns:a16="http://schemas.microsoft.com/office/drawing/2014/main" id="{F65CD95A-74E7-4024-8A31-7B1EBD872945}"/>
              </a:ext>
            </a:extLst>
          </p:cNvPr>
          <p:cNvSpPr/>
          <p:nvPr/>
        </p:nvSpPr>
        <p:spPr>
          <a:xfrm>
            <a:off x="471894" y="2163327"/>
            <a:ext cx="2236610" cy="270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투자지표 매트릭스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79" name="Text 122">
            <a:extLst>
              <a:ext uri="{FF2B5EF4-FFF2-40B4-BE49-F238E27FC236}">
                <a16:creationId xmlns:a16="http://schemas.microsoft.com/office/drawing/2014/main" id="{E13C6D9E-CF88-4046-9326-C29742F0797B}"/>
              </a:ext>
            </a:extLst>
          </p:cNvPr>
          <p:cNvSpPr/>
          <p:nvPr/>
        </p:nvSpPr>
        <p:spPr>
          <a:xfrm>
            <a:off x="422370" y="4519424"/>
            <a:ext cx="2236610" cy="16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R</a:t>
            </a:r>
            <a:r>
              <a:rPr lang="en-US" altLang="ko-KR" sz="1000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*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, S</a:t>
            </a:r>
            <a:r>
              <a:rPr lang="en-US" altLang="ko-KR" sz="1000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*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,</a:t>
            </a:r>
            <a:r>
              <a:rPr lang="en-US" altLang="ko-KR" sz="1000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E</a:t>
            </a:r>
            <a:r>
              <a:rPr lang="en-US" altLang="ko-KR" sz="1000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*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: </a:t>
            </a:r>
            <a:r>
              <a:rPr lang="ko-KR" alt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리스크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·</a:t>
            </a:r>
            <a:r>
              <a:rPr lang="ko-KR" alt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성능</a:t>
            </a:r>
            <a:r>
              <a:rPr lang="en-US" altLang="ko-KR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·</a:t>
            </a:r>
            <a:r>
              <a:rPr lang="ko-KR" altLang="en-US" sz="10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경제성 투자지표</a:t>
            </a:r>
            <a:endParaRPr lang="en-US" altLang="ko-KR" sz="1000" b="1" baseline="300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8930F083-1EC3-46E6-A160-EABE6C795436}"/>
              </a:ext>
            </a:extLst>
          </p:cNvPr>
          <p:cNvSpPr/>
          <p:nvPr/>
        </p:nvSpPr>
        <p:spPr>
          <a:xfrm>
            <a:off x="3019343" y="3203886"/>
            <a:ext cx="478074" cy="478074"/>
          </a:xfrm>
          <a:prstGeom prst="mathMultiply">
            <a:avLst>
              <a:gd name="adj1" fmla="val 15204"/>
            </a:avLst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왼쪽 대괄호 80">
            <a:extLst>
              <a:ext uri="{FF2B5EF4-FFF2-40B4-BE49-F238E27FC236}">
                <a16:creationId xmlns:a16="http://schemas.microsoft.com/office/drawing/2014/main" id="{B074D87C-FE84-4678-8B44-A896AF8E951C}"/>
              </a:ext>
            </a:extLst>
          </p:cNvPr>
          <p:cNvSpPr/>
          <p:nvPr/>
        </p:nvSpPr>
        <p:spPr>
          <a:xfrm>
            <a:off x="3653773" y="2954837"/>
            <a:ext cx="164029" cy="1084382"/>
          </a:xfrm>
          <a:prstGeom prst="leftBracket">
            <a:avLst/>
          </a:prstGeom>
          <a:ln w="31750">
            <a:solidFill>
              <a:srgbClr val="0C0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왼쪽 대괄호 81">
            <a:extLst>
              <a:ext uri="{FF2B5EF4-FFF2-40B4-BE49-F238E27FC236}">
                <a16:creationId xmlns:a16="http://schemas.microsoft.com/office/drawing/2014/main" id="{B1331982-01A7-44B5-861B-4AE60927C98F}"/>
              </a:ext>
            </a:extLst>
          </p:cNvPr>
          <p:cNvSpPr/>
          <p:nvPr/>
        </p:nvSpPr>
        <p:spPr>
          <a:xfrm flipH="1">
            <a:off x="5671437" y="2990413"/>
            <a:ext cx="164029" cy="1084382"/>
          </a:xfrm>
          <a:prstGeom prst="leftBracket">
            <a:avLst/>
          </a:prstGeom>
          <a:ln w="31750">
            <a:solidFill>
              <a:srgbClr val="0C0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15EE6DA-0D8D-4491-96F3-FC06CF5DB379}"/>
              </a:ext>
            </a:extLst>
          </p:cNvPr>
          <p:cNvGrpSpPr/>
          <p:nvPr/>
        </p:nvGrpSpPr>
        <p:grpSpPr>
          <a:xfrm>
            <a:off x="3974158" y="3286231"/>
            <a:ext cx="1527197" cy="622830"/>
            <a:chOff x="4093924" y="2892967"/>
            <a:chExt cx="1527197" cy="1020826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C4FE853-12F4-48E9-AB8F-28EC1EA71BF0}"/>
                </a:ext>
              </a:extLst>
            </p:cNvPr>
            <p:cNvSpPr/>
            <p:nvPr/>
          </p:nvSpPr>
          <p:spPr>
            <a:xfrm>
              <a:off x="4093924" y="2892967"/>
              <a:ext cx="513642" cy="513642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 err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w</a:t>
              </a:r>
              <a:r>
                <a:rPr lang="en-US" altLang="ko-KR" sz="1400" b="1" baseline="-25000" dirty="0" err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R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C3632D8-9871-4021-BC95-134858EA7CF6}"/>
                </a:ext>
              </a:extLst>
            </p:cNvPr>
            <p:cNvSpPr/>
            <p:nvPr/>
          </p:nvSpPr>
          <p:spPr>
            <a:xfrm>
              <a:off x="4607565" y="2892967"/>
              <a:ext cx="513642" cy="513642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 err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w</a:t>
              </a:r>
              <a:r>
                <a:rPr lang="en-US" altLang="ko-KR" sz="1400" b="1" baseline="-25000" dirty="0" err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S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770E486-16AE-402A-93AF-2DC40FD34342}"/>
                </a:ext>
              </a:extLst>
            </p:cNvPr>
            <p:cNvSpPr/>
            <p:nvPr/>
          </p:nvSpPr>
          <p:spPr>
            <a:xfrm>
              <a:off x="5107479" y="2892967"/>
              <a:ext cx="513642" cy="513642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 err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w</a:t>
              </a:r>
              <a:r>
                <a:rPr lang="en-US" altLang="ko-KR" sz="1400" b="1" baseline="-25000" dirty="0" err="1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E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77A14CC-1139-476B-9CA5-21B5DC12A76F}"/>
                </a:ext>
              </a:extLst>
            </p:cNvPr>
            <p:cNvSpPr/>
            <p:nvPr/>
          </p:nvSpPr>
          <p:spPr>
            <a:xfrm>
              <a:off x="4093924" y="3400151"/>
              <a:ext cx="513642" cy="5136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7D2F3FC-5EBF-45AC-ADB0-515BA093EEE5}"/>
                </a:ext>
              </a:extLst>
            </p:cNvPr>
            <p:cNvSpPr/>
            <p:nvPr/>
          </p:nvSpPr>
          <p:spPr>
            <a:xfrm>
              <a:off x="4607565" y="3400151"/>
              <a:ext cx="513642" cy="5136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E290FE30-1AA7-4C6E-9C2F-1237CC7DE2D1}"/>
                </a:ext>
              </a:extLst>
            </p:cNvPr>
            <p:cNvSpPr/>
            <p:nvPr/>
          </p:nvSpPr>
          <p:spPr>
            <a:xfrm>
              <a:off x="5107479" y="3400151"/>
              <a:ext cx="513642" cy="5136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</p:grpSp>
      <p:sp>
        <p:nvSpPr>
          <p:cNvPr id="89" name="Text 122">
            <a:extLst>
              <a:ext uri="{FF2B5EF4-FFF2-40B4-BE49-F238E27FC236}">
                <a16:creationId xmlns:a16="http://schemas.microsoft.com/office/drawing/2014/main" id="{A212A95D-3EF3-4DAA-A514-A09AD43568C3}"/>
              </a:ext>
            </a:extLst>
          </p:cNvPr>
          <p:cNvSpPr/>
          <p:nvPr/>
        </p:nvSpPr>
        <p:spPr>
          <a:xfrm>
            <a:off x="3626315" y="2624607"/>
            <a:ext cx="2236610" cy="555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시나리오별 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  <a:p>
            <a:pPr marL="0" indent="0" algn="ctr">
              <a:lnSpc>
                <a:spcPct val="116000"/>
              </a:lnSpc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Fuzzy-AHP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가중치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91" name="같음 기호 90">
            <a:extLst>
              <a:ext uri="{FF2B5EF4-FFF2-40B4-BE49-F238E27FC236}">
                <a16:creationId xmlns:a16="http://schemas.microsoft.com/office/drawing/2014/main" id="{26E8A946-DC69-4A0D-A61A-AFF432E5E820}"/>
              </a:ext>
            </a:extLst>
          </p:cNvPr>
          <p:cNvSpPr/>
          <p:nvPr/>
        </p:nvSpPr>
        <p:spPr>
          <a:xfrm>
            <a:off x="5946041" y="3203886"/>
            <a:ext cx="478074" cy="478074"/>
          </a:xfrm>
          <a:prstGeom prst="mathEqual">
            <a:avLst>
              <a:gd name="adj1" fmla="val 23520"/>
              <a:gd name="adj2" fmla="val 14948"/>
            </a:avLst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60FBF50-2481-451A-A880-32482F363B41}"/>
              </a:ext>
            </a:extLst>
          </p:cNvPr>
          <p:cNvGrpSpPr/>
          <p:nvPr/>
        </p:nvGrpSpPr>
        <p:grpSpPr>
          <a:xfrm>
            <a:off x="6819860" y="2491642"/>
            <a:ext cx="1339618" cy="1940370"/>
            <a:chOff x="6856946" y="2174430"/>
            <a:chExt cx="1339618" cy="1940370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29CD6B0A-4CF5-4D8C-9A1A-800B6A2CB041}"/>
                </a:ext>
              </a:extLst>
            </p:cNvPr>
            <p:cNvSpPr/>
            <p:nvPr/>
          </p:nvSpPr>
          <p:spPr>
            <a:xfrm>
              <a:off x="7370588" y="2174430"/>
              <a:ext cx="825976" cy="324074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PI</a:t>
              </a:r>
              <a:endParaRPr lang="ko-KR" altLang="en-US" sz="1400" b="1" baseline="30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166487F0-65D7-413B-B184-35E4AA40FCF4}"/>
                </a:ext>
              </a:extLst>
            </p:cNvPr>
            <p:cNvSpPr/>
            <p:nvPr/>
          </p:nvSpPr>
          <p:spPr>
            <a:xfrm>
              <a:off x="7370588" y="2494430"/>
              <a:ext cx="825976" cy="3240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0A3290F5-3B20-4B20-AA3D-6D4DE7F27758}"/>
                </a:ext>
              </a:extLst>
            </p:cNvPr>
            <p:cNvSpPr/>
            <p:nvPr/>
          </p:nvSpPr>
          <p:spPr>
            <a:xfrm>
              <a:off x="7370588" y="2818504"/>
              <a:ext cx="825976" cy="3240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90697FAD-B2E0-4B55-8209-DBE82D572007}"/>
                </a:ext>
              </a:extLst>
            </p:cNvPr>
            <p:cNvSpPr/>
            <p:nvPr/>
          </p:nvSpPr>
          <p:spPr>
            <a:xfrm>
              <a:off x="7370588" y="3142578"/>
              <a:ext cx="825976" cy="3240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F3F8574B-BF2D-4451-B7C4-DFD97169044E}"/>
                </a:ext>
              </a:extLst>
            </p:cNvPr>
            <p:cNvSpPr/>
            <p:nvPr/>
          </p:nvSpPr>
          <p:spPr>
            <a:xfrm>
              <a:off x="6856946" y="2494430"/>
              <a:ext cx="513642" cy="324074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76F77637-1F9C-4844-87D9-4A48682BEA1C}"/>
                </a:ext>
              </a:extLst>
            </p:cNvPr>
            <p:cNvSpPr/>
            <p:nvPr/>
          </p:nvSpPr>
          <p:spPr>
            <a:xfrm>
              <a:off x="6856946" y="2818504"/>
              <a:ext cx="513642" cy="324074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66F19158-3574-4208-A64D-B4AC21B08BC0}"/>
                </a:ext>
              </a:extLst>
            </p:cNvPr>
            <p:cNvSpPr/>
            <p:nvPr/>
          </p:nvSpPr>
          <p:spPr>
            <a:xfrm>
              <a:off x="6856946" y="3142578"/>
              <a:ext cx="513642" cy="324074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3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6A96C175-A9E4-4233-9434-BC7AFBA5E50B}"/>
                </a:ext>
              </a:extLst>
            </p:cNvPr>
            <p:cNvSpPr/>
            <p:nvPr/>
          </p:nvSpPr>
          <p:spPr>
            <a:xfrm>
              <a:off x="7370588" y="3466652"/>
              <a:ext cx="825976" cy="3240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…</a:t>
              </a:r>
              <a:endParaRPr lang="ko-KR" altLang="en-US" sz="1400" b="1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5940065B-55D5-47E0-A8BE-93E82D624F81}"/>
                </a:ext>
              </a:extLst>
            </p:cNvPr>
            <p:cNvSpPr/>
            <p:nvPr/>
          </p:nvSpPr>
          <p:spPr>
            <a:xfrm>
              <a:off x="6856946" y="3466652"/>
              <a:ext cx="513642" cy="324074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…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882163B4-7E55-430F-8335-044CFDF4F47F}"/>
                </a:ext>
              </a:extLst>
            </p:cNvPr>
            <p:cNvSpPr/>
            <p:nvPr/>
          </p:nvSpPr>
          <p:spPr>
            <a:xfrm>
              <a:off x="7370588" y="3790726"/>
              <a:ext cx="825976" cy="3240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D2CD1C26-1B2F-49F4-97B1-D9F891C794F7}"/>
                </a:ext>
              </a:extLst>
            </p:cNvPr>
            <p:cNvSpPr/>
            <p:nvPr/>
          </p:nvSpPr>
          <p:spPr>
            <a:xfrm>
              <a:off x="6856946" y="3790726"/>
              <a:ext cx="513642" cy="324074"/>
            </a:xfrm>
            <a:prstGeom prst="rect">
              <a:avLst/>
            </a:prstGeom>
            <a:solidFill>
              <a:srgbClr val="E0EB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설비</a:t>
              </a:r>
              <a:r>
                <a:rPr lang="en-US" altLang="ko-KR" sz="1400" b="1" dirty="0">
                  <a:solidFill>
                    <a:schemeClr val="tx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n</a:t>
              </a:r>
              <a:endParaRPr lang="ko-KR" altLang="en-US" sz="14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0" name="왼쪽 대괄호 139">
            <a:extLst>
              <a:ext uri="{FF2B5EF4-FFF2-40B4-BE49-F238E27FC236}">
                <a16:creationId xmlns:a16="http://schemas.microsoft.com/office/drawing/2014/main" id="{39A1CFD2-611A-4BC2-809A-99A36E7E1B69}"/>
              </a:ext>
            </a:extLst>
          </p:cNvPr>
          <p:cNvSpPr/>
          <p:nvPr/>
        </p:nvSpPr>
        <p:spPr>
          <a:xfrm>
            <a:off x="6469380" y="2395401"/>
            <a:ext cx="164029" cy="2132853"/>
          </a:xfrm>
          <a:prstGeom prst="leftBracket">
            <a:avLst/>
          </a:prstGeom>
          <a:ln w="31750">
            <a:solidFill>
              <a:srgbClr val="0C0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왼쪽 대괄호 140">
            <a:extLst>
              <a:ext uri="{FF2B5EF4-FFF2-40B4-BE49-F238E27FC236}">
                <a16:creationId xmlns:a16="http://schemas.microsoft.com/office/drawing/2014/main" id="{6588BE16-D131-47B1-9773-584BC37AFC59}"/>
              </a:ext>
            </a:extLst>
          </p:cNvPr>
          <p:cNvSpPr/>
          <p:nvPr/>
        </p:nvSpPr>
        <p:spPr>
          <a:xfrm flipH="1">
            <a:off x="8384948" y="2430977"/>
            <a:ext cx="164029" cy="2132853"/>
          </a:xfrm>
          <a:prstGeom prst="leftBracket">
            <a:avLst/>
          </a:prstGeom>
          <a:ln w="31750">
            <a:solidFill>
              <a:srgbClr val="0C0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 122">
            <a:extLst>
              <a:ext uri="{FF2B5EF4-FFF2-40B4-BE49-F238E27FC236}">
                <a16:creationId xmlns:a16="http://schemas.microsoft.com/office/drawing/2014/main" id="{613AF3A6-05D3-4ECC-9A9E-8572AA90A1A9}"/>
              </a:ext>
            </a:extLst>
          </p:cNvPr>
          <p:cNvSpPr/>
          <p:nvPr/>
        </p:nvSpPr>
        <p:spPr>
          <a:xfrm>
            <a:off x="6436799" y="2163327"/>
            <a:ext cx="2236610" cy="270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ko-KR" altLang="en-US" sz="1600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설비별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PI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매트릭스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Malgun Gothic" pitchFamily="34" charset="-120"/>
            </a:endParaRPr>
          </a:p>
        </p:txBody>
      </p:sp>
      <p:sp>
        <p:nvSpPr>
          <p:cNvPr id="158" name="Text 122">
            <a:extLst>
              <a:ext uri="{FF2B5EF4-FFF2-40B4-BE49-F238E27FC236}">
                <a16:creationId xmlns:a16="http://schemas.microsoft.com/office/drawing/2014/main" id="{257092FF-30A0-4B5B-BBD8-E2F2E064EDA5}"/>
              </a:ext>
            </a:extLst>
          </p:cNvPr>
          <p:cNvSpPr/>
          <p:nvPr/>
        </p:nvSpPr>
        <p:spPr>
          <a:xfrm>
            <a:off x="2901766" y="4919244"/>
            <a:ext cx="3619500" cy="478073"/>
          </a:xfrm>
          <a:prstGeom prst="rect">
            <a:avLst/>
          </a:prstGeom>
          <a:solidFill>
            <a:srgbClr val="E0EBF6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altLang="ko-KR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PI = </a:t>
            </a:r>
            <a:r>
              <a:rPr lang="en-US" altLang="ko-KR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w</a:t>
            </a:r>
            <a:r>
              <a:rPr lang="en-US" altLang="ko-KR" b="1" baseline="-2500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R</a:t>
            </a:r>
            <a:r>
              <a:rPr lang="en-US" altLang="ko-KR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×R</a:t>
            </a:r>
            <a:r>
              <a:rPr lang="en-US" altLang="ko-KR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*</a:t>
            </a:r>
            <a:r>
              <a:rPr lang="en-US" altLang="ko-KR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+ </a:t>
            </a:r>
            <a:r>
              <a:rPr lang="en-US" altLang="ko-KR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w</a:t>
            </a:r>
            <a:r>
              <a:rPr lang="en-US" altLang="ko-KR" b="1" baseline="-2500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</a:t>
            </a:r>
            <a:r>
              <a:rPr lang="en-US" altLang="ko-KR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×S</a:t>
            </a:r>
            <a:r>
              <a:rPr lang="en-US" altLang="ko-KR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r>
              <a:rPr lang="en-US" altLang="ko-KR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 + </a:t>
            </a:r>
            <a:r>
              <a:rPr lang="en-US" altLang="ko-KR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w</a:t>
            </a:r>
            <a:r>
              <a:rPr lang="en-US" altLang="ko-KR" b="1" baseline="-2500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</a:t>
            </a:r>
            <a:r>
              <a:rPr lang="en-US" altLang="ko-KR" b="1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Malgun Gothic" pitchFamily="34" charset="-120"/>
              </a:rPr>
              <a:t>×E</a:t>
            </a:r>
            <a:r>
              <a:rPr lang="en-US" altLang="ko-KR" b="1" baseline="30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402853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Fuzzy-AHP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기반 자산 투자 최적화 프레임워크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Step 4 :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제약조건 기반 투자 최적화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651558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4326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연구에서는 전력설비 투자 최적화 알고리즘으로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유전알고리즘</a:t>
            </a:r>
            <a:r>
              <a:rPr lang="en-US" altLang="ko-KR" sz="1600" baseline="30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적용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*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진화원리를 모방한 최적화 기법으로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여러 후보해를 반복적으로 평가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선별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변형하며 더 좋은 해를 찾아가는 기법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AFC4E2C-0EFC-4F94-A95F-0103F23C4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608" y="1884261"/>
            <a:ext cx="5799473" cy="13533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97AFA3A-83BB-4FEE-94E6-EFA2A7EBBE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93"/>
          <a:stretch>
            <a:fillRect/>
          </a:stretch>
        </p:blipFill>
        <p:spPr>
          <a:xfrm>
            <a:off x="301416" y="3228168"/>
            <a:ext cx="4270584" cy="219529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BD397938-9C91-41B0-9BB9-4B5EA57658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5738" y="3029939"/>
            <a:ext cx="4216337" cy="2685061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20165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124324" y="2318891"/>
            <a:ext cx="483870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사례연구 및 결과 분석</a:t>
            </a:r>
          </a:p>
        </p:txBody>
      </p:sp>
    </p:spTree>
    <p:extLst>
      <p:ext uri="{BB962C8B-B14F-4D97-AF65-F5344CB8AC3E}">
        <p14:creationId xmlns:p14="http://schemas.microsoft.com/office/powerpoint/2010/main" val="538989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Fuzzy-AHP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기반 자산 투자 최적화 사례연구 개요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4780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4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제안한 프레임워크를 동일 대상 설비와 제약 조건 하에서 투자 의사결정 비교군과의 성능 분석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37546F4-A557-4212-BB34-5E672505E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789363"/>
              </p:ext>
            </p:extLst>
          </p:nvPr>
        </p:nvGraphicFramePr>
        <p:xfrm>
          <a:off x="236209" y="1852622"/>
          <a:ext cx="8671582" cy="339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750">
                  <a:extLst>
                    <a:ext uri="{9D8B030D-6E8A-4147-A177-3AD203B41FA5}">
                      <a16:colId xmlns:a16="http://schemas.microsoft.com/office/drawing/2014/main" val="2729798218"/>
                    </a:ext>
                  </a:extLst>
                </a:gridCol>
                <a:gridCol w="2196277">
                  <a:extLst>
                    <a:ext uri="{9D8B030D-6E8A-4147-A177-3AD203B41FA5}">
                      <a16:colId xmlns:a16="http://schemas.microsoft.com/office/drawing/2014/main" val="1150594007"/>
                    </a:ext>
                  </a:extLst>
                </a:gridCol>
                <a:gridCol w="1098139">
                  <a:extLst>
                    <a:ext uri="{9D8B030D-6E8A-4147-A177-3AD203B41FA5}">
                      <a16:colId xmlns:a16="http://schemas.microsoft.com/office/drawing/2014/main" val="3874235999"/>
                    </a:ext>
                  </a:extLst>
                </a:gridCol>
                <a:gridCol w="1098139">
                  <a:extLst>
                    <a:ext uri="{9D8B030D-6E8A-4147-A177-3AD203B41FA5}">
                      <a16:colId xmlns:a16="http://schemas.microsoft.com/office/drawing/2014/main" val="3335093846"/>
                    </a:ext>
                  </a:extLst>
                </a:gridCol>
                <a:gridCol w="2196277">
                  <a:extLst>
                    <a:ext uri="{9D8B030D-6E8A-4147-A177-3AD203B41FA5}">
                      <a16:colId xmlns:a16="http://schemas.microsoft.com/office/drawing/2014/main" val="2956774083"/>
                    </a:ext>
                  </a:extLst>
                </a:gridCol>
              </a:tblGrid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77556440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사례연구 대상설비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배전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종 설비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주상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지상 변압기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가공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지중개폐기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41,750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42566076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분석 범위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연도별 교체 우선순위 및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개년 투자계획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2681918"/>
                  </a:ext>
                </a:extLst>
              </a:tr>
              <a:tr h="37729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다기준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평가항목 및 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성능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경제성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780902"/>
                  </a:ext>
                </a:extLst>
              </a:tr>
              <a:tr h="37729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154kV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저감량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SAIDI,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고장률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5642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제약조건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예산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/5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개년 누적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 물량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/5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개년 누적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), KPI(SAIDI)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19583818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비교군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① 리스크 우선순위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② 투자가치 기반 최적화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③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Fuzzy-AHP 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기반 최적화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61666209"/>
                  </a:ext>
                </a:extLst>
              </a:tr>
              <a:tr h="37729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시뮬레이션 설정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할인율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평가기간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7827"/>
                  </a:ext>
                </a:extLst>
              </a:tr>
              <a:tr h="37729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4.5%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 설계수명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1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98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사례연구 </a:t>
            </a: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비교군별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투자 의사결정 구조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4780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24BE3A4-EF0C-4713-BFDF-DAE4C06A2A0F}"/>
              </a:ext>
            </a:extLst>
          </p:cNvPr>
          <p:cNvSpPr txBox="1"/>
          <p:nvPr/>
        </p:nvSpPr>
        <p:spPr>
          <a:xfrm>
            <a:off x="346909" y="1312869"/>
            <a:ext cx="856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현행 리스크 우선순위와 투자가치 기반 최적화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최적화 의사결정 구조 비교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1F7882D-FD58-4E14-9268-983833904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17339"/>
              </p:ext>
            </p:extLst>
          </p:nvPr>
        </p:nvGraphicFramePr>
        <p:xfrm>
          <a:off x="236209" y="1871672"/>
          <a:ext cx="8671582" cy="3057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750">
                  <a:extLst>
                    <a:ext uri="{9D8B030D-6E8A-4147-A177-3AD203B41FA5}">
                      <a16:colId xmlns:a16="http://schemas.microsoft.com/office/drawing/2014/main" val="2729798218"/>
                    </a:ext>
                  </a:extLst>
                </a:gridCol>
                <a:gridCol w="2196277">
                  <a:extLst>
                    <a:ext uri="{9D8B030D-6E8A-4147-A177-3AD203B41FA5}">
                      <a16:colId xmlns:a16="http://schemas.microsoft.com/office/drawing/2014/main" val="1150594007"/>
                    </a:ext>
                  </a:extLst>
                </a:gridCol>
                <a:gridCol w="2196278">
                  <a:extLst>
                    <a:ext uri="{9D8B030D-6E8A-4147-A177-3AD203B41FA5}">
                      <a16:colId xmlns:a16="http://schemas.microsoft.com/office/drawing/2014/main" val="3874235999"/>
                    </a:ext>
                  </a:extLst>
                </a:gridCol>
                <a:gridCol w="2196277">
                  <a:extLst>
                    <a:ext uri="{9D8B030D-6E8A-4147-A177-3AD203B41FA5}">
                      <a16:colId xmlns:a16="http://schemas.microsoft.com/office/drawing/2014/main" val="2956774083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우선순위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기반 최적화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Fuzzy-AHP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기반 최적화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56440"/>
                  </a:ext>
                </a:extLst>
              </a:tr>
              <a:tr h="4101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의사결정 기준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66076"/>
                  </a:ext>
                </a:extLst>
              </a:tr>
              <a:tr h="4101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반영요소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경제성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성능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경제성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81918"/>
                  </a:ext>
                </a:extLst>
              </a:tr>
              <a:tr h="6282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우선순위 선정 방식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내림차순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동점 시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① </a:t>
                      </a:r>
                      <a:r>
                        <a:rPr lang="en-US" altLang="ko-KR" sz="12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PoF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→ ② </a:t>
                      </a:r>
                      <a:r>
                        <a:rPr lang="en-US" altLang="ko-KR" sz="12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CoF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내림차순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내림차순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5642"/>
                  </a:ext>
                </a:extLst>
              </a:tr>
              <a:tr h="4101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최적화 기법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규칙 기반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GA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알고리즘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GA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알고리즘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83818"/>
                  </a:ext>
                </a:extLst>
              </a:tr>
              <a:tr h="4101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목적함수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최대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 최소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 최소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666209"/>
                  </a:ext>
                </a:extLst>
              </a:tr>
              <a:tr h="4101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특징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고리스크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설비 우선 교체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경제성 중심 투자계획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운영 목적 반영 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다기준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최적화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7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201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대상설비 주요 지표 분석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5E682C-859E-418C-9DE9-04DF80E84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09" y="3568992"/>
            <a:ext cx="2973159" cy="21199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3DE2C8-8321-4328-A53F-A315509492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97" b="3545"/>
          <a:stretch/>
        </p:blipFill>
        <p:spPr>
          <a:xfrm>
            <a:off x="6119703" y="3533983"/>
            <a:ext cx="2916920" cy="21124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E09DF9-E564-41BC-87B6-CD0D97E447F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897"/>
          <a:stretch/>
        </p:blipFill>
        <p:spPr>
          <a:xfrm>
            <a:off x="3209368" y="3486275"/>
            <a:ext cx="2706214" cy="2150672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1F7882D-FD58-4E14-9268-983833904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687478"/>
              </p:ext>
            </p:extLst>
          </p:nvPr>
        </p:nvGraphicFramePr>
        <p:xfrm>
          <a:off x="236209" y="1281122"/>
          <a:ext cx="8671581" cy="220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91">
                  <a:extLst>
                    <a:ext uri="{9D8B030D-6E8A-4147-A177-3AD203B41FA5}">
                      <a16:colId xmlns:a16="http://schemas.microsoft.com/office/drawing/2014/main" val="2729798218"/>
                    </a:ext>
                  </a:extLst>
                </a:gridCol>
                <a:gridCol w="1507238">
                  <a:extLst>
                    <a:ext uri="{9D8B030D-6E8A-4147-A177-3AD203B41FA5}">
                      <a16:colId xmlns:a16="http://schemas.microsoft.com/office/drawing/2014/main" val="1150594007"/>
                    </a:ext>
                  </a:extLst>
                </a:gridCol>
                <a:gridCol w="1507238">
                  <a:extLst>
                    <a:ext uri="{9D8B030D-6E8A-4147-A177-3AD203B41FA5}">
                      <a16:colId xmlns:a16="http://schemas.microsoft.com/office/drawing/2014/main" val="3874235999"/>
                    </a:ext>
                  </a:extLst>
                </a:gridCol>
                <a:gridCol w="1507238">
                  <a:extLst>
                    <a:ext uri="{9D8B030D-6E8A-4147-A177-3AD203B41FA5}">
                      <a16:colId xmlns:a16="http://schemas.microsoft.com/office/drawing/2014/main" val="2956774083"/>
                    </a:ext>
                  </a:extLst>
                </a:gridCol>
                <a:gridCol w="1507238">
                  <a:extLst>
                    <a:ext uri="{9D8B030D-6E8A-4147-A177-3AD203B41FA5}">
                      <a16:colId xmlns:a16="http://schemas.microsoft.com/office/drawing/2014/main" val="3591140009"/>
                    </a:ext>
                  </a:extLst>
                </a:gridCol>
                <a:gridCol w="1507238">
                  <a:extLst>
                    <a:ext uri="{9D8B030D-6E8A-4147-A177-3AD203B41FA5}">
                      <a16:colId xmlns:a16="http://schemas.microsoft.com/office/drawing/2014/main" val="35877582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 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사용년수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잔여수명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고장확률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[%]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고장영향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교체비용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56440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주상변압기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14.1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34.0,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14.2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43.5,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0.39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15.4,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7.5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19.1,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2.1)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4.9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5.4,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4.4)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66076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지상변압기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10.7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33.0,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13.8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30.1,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0.36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4.1,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6.3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16.4,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3.1)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13.2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15.4,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81918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가공개폐기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10.4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35.0,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14.3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46.4,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0.15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6.3,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18.4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429.6,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2.3)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10.8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16.4,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10.3)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5642"/>
                  </a:ext>
                </a:extLst>
              </a:tr>
              <a:tr h="4575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지중개폐기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12.3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36.0,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14.5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48.5,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0.43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5.5,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0.0)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20.9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321.3,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1.8)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22.0</a:t>
                      </a:r>
                    </a:p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32.2,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14.0)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83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999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시뮬레이션 결과 분석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(Case. 1)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C441A66-AFEB-4190-B669-EE75881A2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969233"/>
              </p:ext>
            </p:extLst>
          </p:nvPr>
        </p:nvGraphicFramePr>
        <p:xfrm>
          <a:off x="236209" y="1843097"/>
          <a:ext cx="8671579" cy="1574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267">
                  <a:extLst>
                    <a:ext uri="{9D8B030D-6E8A-4147-A177-3AD203B41FA5}">
                      <a16:colId xmlns:a16="http://schemas.microsoft.com/office/drawing/2014/main" val="2729798218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1150594007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874235999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2956774083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591140009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58775821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878891478"/>
                    </a:ext>
                  </a:extLst>
                </a:gridCol>
              </a:tblGrid>
              <a:tr h="464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 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교체물량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저감량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개선 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[-]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56440"/>
                  </a:ext>
                </a:extLst>
              </a:tr>
              <a:tr h="3701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1,203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15,202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10,084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25,286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66076"/>
                  </a:ext>
                </a:extLst>
              </a:tr>
              <a:tr h="3701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1,209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74,564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9,565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84,128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81918"/>
                  </a:ext>
                </a:extLst>
              </a:tr>
              <a:tr h="3701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1,205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55,259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9,620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64,879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5.74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564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FFCDBD5-3DD0-4DF5-95AB-637D3FDAB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56" y="3484889"/>
            <a:ext cx="2093325" cy="21634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0E609D-0977-4AB2-BCFD-CDA599CFE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2000" y="3484889"/>
            <a:ext cx="2093325" cy="21634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B26E5C-2002-44BD-BB69-027024D17C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945" y="3484889"/>
            <a:ext cx="2093326" cy="21634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F0CA4A-E6DE-4E2F-AD3E-490BACCD2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3889" y="3484889"/>
            <a:ext cx="2098181" cy="21634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40031-AD11-4FD5-93AD-E162F1C96A46}"/>
              </a:ext>
            </a:extLst>
          </p:cNvPr>
          <p:cNvSpPr/>
          <p:nvPr/>
        </p:nvSpPr>
        <p:spPr>
          <a:xfrm>
            <a:off x="-8754" y="1246086"/>
            <a:ext cx="9144000" cy="4780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0561-258E-453A-A0C3-8E07CC3AF5DD}"/>
              </a:ext>
            </a:extLst>
          </p:cNvPr>
          <p:cNvSpPr txBox="1"/>
          <p:nvPr/>
        </p:nvSpPr>
        <p:spPr>
          <a:xfrm>
            <a:off x="346909" y="1312869"/>
            <a:ext cx="856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8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대상설비별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 및 교체물량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제약조건 적용 → 목적함수 투자가치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/PI</a:t>
            </a:r>
            <a:r>
              <a:rPr lang="en-US" altLang="ko-KR" sz="1600" baseline="30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최대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*Fuzzy-AHP </a:t>
            </a:r>
            <a:r>
              <a:rPr lang="ko-KR" altLang="en-US" sz="10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대표값</a:t>
            </a:r>
            <a:r>
              <a:rPr lang="ko-KR" altLang="en-US" sz="1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적용</a:t>
            </a:r>
            <a:endParaRPr lang="en-US" altLang="ko-KR" sz="10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9368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시뮬레이션 결과 분석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(Case. 2)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C441A66-AFEB-4190-B669-EE75881A2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251048"/>
              </p:ext>
            </p:extLst>
          </p:nvPr>
        </p:nvGraphicFramePr>
        <p:xfrm>
          <a:off x="236209" y="1852622"/>
          <a:ext cx="8671579" cy="1574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267">
                  <a:extLst>
                    <a:ext uri="{9D8B030D-6E8A-4147-A177-3AD203B41FA5}">
                      <a16:colId xmlns:a16="http://schemas.microsoft.com/office/drawing/2014/main" val="2729798218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1150594007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874235999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2956774083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591140009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58775821"/>
                    </a:ext>
                  </a:extLst>
                </a:gridCol>
                <a:gridCol w="1284052">
                  <a:extLst>
                    <a:ext uri="{9D8B030D-6E8A-4147-A177-3AD203B41FA5}">
                      <a16:colId xmlns:a16="http://schemas.microsoft.com/office/drawing/2014/main" val="3878891478"/>
                    </a:ext>
                  </a:extLst>
                </a:gridCol>
              </a:tblGrid>
              <a:tr h="464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 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교체물량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저감량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백만원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개선 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[-]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56440"/>
                  </a:ext>
                </a:extLst>
              </a:tr>
              <a:tr h="3701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1,203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15,202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10,084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25,286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66076"/>
                  </a:ext>
                </a:extLst>
              </a:tr>
              <a:tr h="3701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1,206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38,485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9,294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47,779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81918"/>
                  </a:ext>
                </a:extLst>
              </a:tr>
              <a:tr h="3701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1,208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35,767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9,648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45,415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564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40031-AD11-4FD5-93AD-E162F1C96A46}"/>
              </a:ext>
            </a:extLst>
          </p:cNvPr>
          <p:cNvSpPr/>
          <p:nvPr/>
        </p:nvSpPr>
        <p:spPr>
          <a:xfrm>
            <a:off x="-8754" y="1246086"/>
            <a:ext cx="9144000" cy="4780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0561-258E-453A-A0C3-8E07CC3AF5DD}"/>
              </a:ext>
            </a:extLst>
          </p:cNvPr>
          <p:cNvSpPr txBox="1"/>
          <p:nvPr/>
        </p:nvSpPr>
        <p:spPr>
          <a:xfrm>
            <a:off x="346909" y="1312869"/>
            <a:ext cx="856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대상설비별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교체물량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SAIDI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제약조건 적용 → 목적함수 투자가치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/PI</a:t>
            </a:r>
            <a:r>
              <a:rPr lang="en-US" altLang="ko-KR" sz="1600" baseline="30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최대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*Fuzzy-AHP </a:t>
            </a:r>
            <a:r>
              <a:rPr lang="ko-KR" altLang="en-US" sz="10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대표값</a:t>
            </a:r>
            <a:r>
              <a:rPr lang="ko-KR" altLang="en-US" sz="10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적용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ECF7D4-DFCB-4A7A-A645-0533A6989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84" y="3486917"/>
            <a:ext cx="2095200" cy="21899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6F147C5-E1CA-421E-BCAF-75D87494B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77" y="3486917"/>
            <a:ext cx="2094068" cy="218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4DF99F3-08FE-48B3-8CBD-A286A1C989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7350" y="3486917"/>
            <a:ext cx="2099054" cy="2188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AF4BADB-40D1-43F4-8E10-3FE742FACE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2118" y="3487132"/>
            <a:ext cx="2093863" cy="21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7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운영목표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(KPI)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에 따른 최적 투자계획 수립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761D19-C94E-4B5C-B6AF-F5829A70D61A}"/>
              </a:ext>
            </a:extLst>
          </p:cNvPr>
          <p:cNvSpPr/>
          <p:nvPr/>
        </p:nvSpPr>
        <p:spPr>
          <a:xfrm>
            <a:off x="8755" y="1229159"/>
            <a:ext cx="9144000" cy="714471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162FD8-BB88-4D29-9507-9ABE33B0F66F}"/>
              </a:ext>
            </a:extLst>
          </p:cNvPr>
          <p:cNvSpPr txBox="1"/>
          <p:nvPr/>
        </p:nvSpPr>
        <p:spPr>
          <a:xfrm>
            <a:off x="346908" y="1312869"/>
            <a:ext cx="8788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동일한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목표를 주더라도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목적에 따라서 선택되는 설비군이 달라져 소요 예산 궤적 변화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계통 운영자는 성과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–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비용 곡선을 바탕으로 합리적인 예산을 산출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 계획 수립 가능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65757A9-7C07-4310-9933-EB23C1C0CF9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" r="7538"/>
          <a:stretch/>
        </p:blipFill>
        <p:spPr>
          <a:xfrm>
            <a:off x="93980" y="2152650"/>
            <a:ext cx="4527831" cy="2997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5FB8EB-09F8-40F6-AFF3-0ED062DAD9D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" t="13980" r="32292"/>
          <a:stretch/>
        </p:blipFill>
        <p:spPr>
          <a:xfrm>
            <a:off x="4632056" y="2146928"/>
            <a:ext cx="4411614" cy="324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0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Fuzzy-AHP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가중치 시나리오별 주요 지표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40031-AD11-4FD5-93AD-E162F1C96A46}"/>
              </a:ext>
            </a:extLst>
          </p:cNvPr>
          <p:cNvSpPr/>
          <p:nvPr/>
        </p:nvSpPr>
        <p:spPr>
          <a:xfrm>
            <a:off x="8755" y="1229159"/>
            <a:ext cx="9144000" cy="714471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0561-258E-453A-A0C3-8E07CC3AF5DD}"/>
              </a:ext>
            </a:extLst>
          </p:cNvPr>
          <p:cNvSpPr txBox="1"/>
          <p:nvPr/>
        </p:nvSpPr>
        <p:spPr>
          <a:xfrm>
            <a:off x="346908" y="1312869"/>
            <a:ext cx="8788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각 점은 시나리오별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가중치를 반영하여 도출된 최적 투자계획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–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주요 지표를 나타냄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동일한 제약조건 하에도 운영 목적에 따라 경제성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신뢰도를 최적화 가능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44B596-122A-4B24-9E0A-76226CD02FA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" r="11733"/>
          <a:stretch/>
        </p:blipFill>
        <p:spPr>
          <a:xfrm>
            <a:off x="80261" y="2249387"/>
            <a:ext cx="4144037" cy="31359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D41BDB-C478-4CB7-878E-C47DD0A8B42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59"/>
          <a:stretch/>
        </p:blipFill>
        <p:spPr>
          <a:xfrm>
            <a:off x="4540355" y="2013637"/>
            <a:ext cx="4144037" cy="33716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7AC6AA-16E1-4C54-A555-1FE0A812E17E}"/>
              </a:ext>
            </a:extLst>
          </p:cNvPr>
          <p:cNvSpPr txBox="1"/>
          <p:nvPr/>
        </p:nvSpPr>
        <p:spPr>
          <a:xfrm>
            <a:off x="4162074" y="2309712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719F4-4F19-4D53-93BB-1911129D310F}"/>
              </a:ext>
            </a:extLst>
          </p:cNvPr>
          <p:cNvSpPr txBox="1"/>
          <p:nvPr/>
        </p:nvSpPr>
        <p:spPr>
          <a:xfrm>
            <a:off x="4162074" y="2625783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39F26-39A6-4FFD-A80F-C20A867B8AFD}"/>
              </a:ext>
            </a:extLst>
          </p:cNvPr>
          <p:cNvSpPr txBox="1"/>
          <p:nvPr/>
        </p:nvSpPr>
        <p:spPr>
          <a:xfrm>
            <a:off x="4162074" y="2941854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5.5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EFF590-0477-4872-9C7D-7704657571B1}"/>
              </a:ext>
            </a:extLst>
          </p:cNvPr>
          <p:cNvSpPr txBox="1"/>
          <p:nvPr/>
        </p:nvSpPr>
        <p:spPr>
          <a:xfrm>
            <a:off x="4162074" y="3267324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7859D-9A1B-40C8-AE9F-8AD9AD1C4A4E}"/>
              </a:ext>
            </a:extLst>
          </p:cNvPr>
          <p:cNvSpPr txBox="1"/>
          <p:nvPr/>
        </p:nvSpPr>
        <p:spPr>
          <a:xfrm>
            <a:off x="4162074" y="3571198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2C505-7614-4DE8-A8E8-725A6E26F1E8}"/>
              </a:ext>
            </a:extLst>
          </p:cNvPr>
          <p:cNvSpPr txBox="1"/>
          <p:nvPr/>
        </p:nvSpPr>
        <p:spPr>
          <a:xfrm>
            <a:off x="4162074" y="3902766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22615-823B-4D90-A4CF-1638E7AA95E6}"/>
              </a:ext>
            </a:extLst>
          </p:cNvPr>
          <p:cNvSpPr txBox="1"/>
          <p:nvPr/>
        </p:nvSpPr>
        <p:spPr>
          <a:xfrm>
            <a:off x="4162074" y="4202066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4FACF6-6BA9-4DBB-8BD8-C9D053BF78F6}"/>
              </a:ext>
            </a:extLst>
          </p:cNvPr>
          <p:cNvSpPr txBox="1"/>
          <p:nvPr/>
        </p:nvSpPr>
        <p:spPr>
          <a:xfrm>
            <a:off x="4162074" y="4528271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D4293D-02F0-4E61-9A41-855099FDC304}"/>
              </a:ext>
            </a:extLst>
          </p:cNvPr>
          <p:cNvSpPr txBox="1"/>
          <p:nvPr/>
        </p:nvSpPr>
        <p:spPr>
          <a:xfrm>
            <a:off x="4162074" y="4836509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CD27A8-CF4E-4637-ACE9-1F1CC08424D7}"/>
              </a:ext>
            </a:extLst>
          </p:cNvPr>
          <p:cNvSpPr txBox="1"/>
          <p:nvPr/>
        </p:nvSpPr>
        <p:spPr>
          <a:xfrm>
            <a:off x="4048350" y="2051567"/>
            <a:ext cx="516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1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ko-KR" altLang="en-US" sz="1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3ABDEE-A2E1-4257-AD7E-9549C55ED1C6}"/>
              </a:ext>
            </a:extLst>
          </p:cNvPr>
          <p:cNvSpPr txBox="1"/>
          <p:nvPr/>
        </p:nvSpPr>
        <p:spPr>
          <a:xfrm>
            <a:off x="8641131" y="2436712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56BC71-043A-44DE-8831-3FAF21EE5158}"/>
              </a:ext>
            </a:extLst>
          </p:cNvPr>
          <p:cNvSpPr txBox="1"/>
          <p:nvPr/>
        </p:nvSpPr>
        <p:spPr>
          <a:xfrm>
            <a:off x="8641131" y="2783104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FC2977-70F4-475F-8FF2-4C76E415A71B}"/>
              </a:ext>
            </a:extLst>
          </p:cNvPr>
          <p:cNvSpPr txBox="1"/>
          <p:nvPr/>
        </p:nvSpPr>
        <p:spPr>
          <a:xfrm>
            <a:off x="8641131" y="3156174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B6FC95-50D8-4F22-9C14-5543A41846D0}"/>
              </a:ext>
            </a:extLst>
          </p:cNvPr>
          <p:cNvSpPr txBox="1"/>
          <p:nvPr/>
        </p:nvSpPr>
        <p:spPr>
          <a:xfrm>
            <a:off x="8641131" y="3505449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BAB770-2FD0-4B9A-A861-A46C949BFD6C}"/>
              </a:ext>
            </a:extLst>
          </p:cNvPr>
          <p:cNvSpPr txBox="1"/>
          <p:nvPr/>
        </p:nvSpPr>
        <p:spPr>
          <a:xfrm>
            <a:off x="8641131" y="3854724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138D4-3949-440D-B70A-9BD745FC3986}"/>
              </a:ext>
            </a:extLst>
          </p:cNvPr>
          <p:cNvSpPr txBox="1"/>
          <p:nvPr/>
        </p:nvSpPr>
        <p:spPr>
          <a:xfrm>
            <a:off x="8641131" y="4219217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6EC0DE-C2DC-43AA-A09E-E0AB5A7E56B2}"/>
              </a:ext>
            </a:extLst>
          </p:cNvPr>
          <p:cNvSpPr txBox="1"/>
          <p:nvPr/>
        </p:nvSpPr>
        <p:spPr>
          <a:xfrm>
            <a:off x="8641131" y="4555001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04948-6D38-4C37-A40D-3B767EC1C759}"/>
              </a:ext>
            </a:extLst>
          </p:cNvPr>
          <p:cNvSpPr txBox="1"/>
          <p:nvPr/>
        </p:nvSpPr>
        <p:spPr>
          <a:xfrm>
            <a:off x="8641131" y="4871229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46DFD6-D795-4AE1-92D7-9B1BF4BE1D80}"/>
              </a:ext>
            </a:extLst>
          </p:cNvPr>
          <p:cNvSpPr txBox="1"/>
          <p:nvPr/>
        </p:nvSpPr>
        <p:spPr>
          <a:xfrm>
            <a:off x="1577805" y="2631710"/>
            <a:ext cx="1399438" cy="32316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Scenarios - IV</a:t>
            </a:r>
            <a:endParaRPr lang="ko-KR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DFCC10-CC43-4455-97C8-2553B5BC8BCA}"/>
              </a:ext>
            </a:extLst>
          </p:cNvPr>
          <p:cNvSpPr txBox="1"/>
          <p:nvPr/>
        </p:nvSpPr>
        <p:spPr>
          <a:xfrm>
            <a:off x="6061671" y="2631710"/>
            <a:ext cx="1772486" cy="32316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Scenarios - SAIDI</a:t>
            </a:r>
            <a:endParaRPr lang="ko-KR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481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사례연구 및 결과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결론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40031-AD11-4FD5-93AD-E162F1C96A46}"/>
              </a:ext>
            </a:extLst>
          </p:cNvPr>
          <p:cNvSpPr/>
          <p:nvPr/>
        </p:nvSpPr>
        <p:spPr>
          <a:xfrm>
            <a:off x="-8754" y="1246086"/>
            <a:ext cx="9144000" cy="2276268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0561-258E-453A-A0C3-8E07CC3AF5DD}"/>
              </a:ext>
            </a:extLst>
          </p:cNvPr>
          <p:cNvSpPr txBox="1"/>
          <p:nvPr/>
        </p:nvSpPr>
        <p:spPr>
          <a:xfrm>
            <a:off x="346908" y="1312869"/>
            <a:ext cx="8788337" cy="214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자산관리 시스템은 리스크 중심 우선순위 또는 경제성 단일 기준 최적화에 치우쳐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목적과 현장 의견을 반영한 투자 의사결정에 한계가 존재 </a:t>
            </a:r>
            <a:r>
              <a:rPr lang="ko-KR" altLang="en-US" sz="11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▶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투자계획 ↔ 설비운영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GAP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발생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연구에서는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지표 기반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Fuzzy-AHP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활용하여 전문가 의견을 </a:t>
            </a:r>
            <a:r>
              <a:rPr lang="ko-KR" altLang="en-US" sz="1600" dirty="0" err="1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통합 우선도 지표인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PI(Priority Index)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통합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방식을 제안함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제안된 방법은 운영 목적과 전문가 판단을 반영하여 최적 투자 우선순위 산정이 가능하며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방법 및 투자가치 기반 최적화 대비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유연한 자산 투자계획 수립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가능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유틸리티의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및 현장 의견을 반영한 최적 교체 대상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년도 도출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982BB2-41ED-4BD9-939B-C2A79B4899C5}"/>
              </a:ext>
            </a:extLst>
          </p:cNvPr>
          <p:cNvSpPr/>
          <p:nvPr/>
        </p:nvSpPr>
        <p:spPr>
          <a:xfrm>
            <a:off x="290831" y="3610083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향후 연구 방향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EFBC419-08D3-47C5-B99D-50B4E722B891}"/>
              </a:ext>
            </a:extLst>
          </p:cNvPr>
          <p:cNvSpPr/>
          <p:nvPr/>
        </p:nvSpPr>
        <p:spPr>
          <a:xfrm>
            <a:off x="-8754" y="4083161"/>
            <a:ext cx="9144000" cy="141848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32BD06-4DAA-4AAB-B11C-3B39DF805BE1}"/>
              </a:ext>
            </a:extLst>
          </p:cNvPr>
          <p:cNvSpPr txBox="1"/>
          <p:nvPr/>
        </p:nvSpPr>
        <p:spPr>
          <a:xfrm>
            <a:off x="346908" y="4149944"/>
            <a:ext cx="8667552" cy="1256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영국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DNO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 사용하는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CNAIM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자산관리 체계 및 데이터를 활용하여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방법의 성능을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해외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유틸리티 기반으로 비교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검증을 수행</a:t>
            </a:r>
            <a:endParaRPr lang="en-US" altLang="ko-KR" sz="1600" dirty="0">
              <a:solidFill>
                <a:srgbClr val="053F8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 결과를 기반으로 현재의 프로세스를 확장하여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자산관리 시스템의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Localization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위해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가중치가 동적으로 조정되는 적응형 의사결정 구조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연구 예정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101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CAA4377-9514-4FF8-B8C2-396CD5853F2D}"/>
              </a:ext>
            </a:extLst>
          </p:cNvPr>
          <p:cNvSpPr txBox="1">
            <a:spLocks/>
          </p:cNvSpPr>
          <p:nvPr/>
        </p:nvSpPr>
        <p:spPr>
          <a:xfrm>
            <a:off x="1447027" y="1367043"/>
            <a:ext cx="3229747" cy="2773506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500" spc="-100" dirty="0">
                <a:solidFill>
                  <a:srgbClr val="004098"/>
                </a:solidFill>
                <a:latin typeface="+mj-ea"/>
              </a:rPr>
              <a:t>감사합니다</a:t>
            </a:r>
            <a:r>
              <a:rPr lang="en-US" altLang="ko-KR" sz="4500" spc="-100" dirty="0">
                <a:solidFill>
                  <a:srgbClr val="004098"/>
                </a:solidFill>
                <a:latin typeface="+mj-ea"/>
              </a:rPr>
              <a:t>.</a:t>
            </a:r>
            <a:endParaRPr lang="ko-KR" altLang="en-US" sz="4500" spc="-100" dirty="0">
              <a:solidFill>
                <a:srgbClr val="004098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6482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부록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1]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연구논문 게재 현황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논문 게재 현황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40031-AD11-4FD5-93AD-E162F1C96A46}"/>
              </a:ext>
            </a:extLst>
          </p:cNvPr>
          <p:cNvSpPr/>
          <p:nvPr/>
        </p:nvSpPr>
        <p:spPr>
          <a:xfrm>
            <a:off x="-8754" y="1246086"/>
            <a:ext cx="9144000" cy="595593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0561-258E-453A-A0C3-8E07CC3AF5DD}"/>
              </a:ext>
            </a:extLst>
          </p:cNvPr>
          <p:cNvSpPr txBox="1"/>
          <p:nvPr/>
        </p:nvSpPr>
        <p:spPr>
          <a:xfrm>
            <a:off x="346908" y="1345064"/>
            <a:ext cx="8788337" cy="36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SCI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논문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KCI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논문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 게재</a:t>
            </a:r>
            <a:endParaRPr lang="en-US" altLang="ko-KR" sz="1600" dirty="0">
              <a:solidFill>
                <a:srgbClr val="053F8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01F2C1-7796-4186-87C0-4F1D23854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31" y="1934945"/>
            <a:ext cx="2657960" cy="36200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00B05C-6F9D-4C48-88F9-A35BB5FC0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0125" y="1841679"/>
            <a:ext cx="2674495" cy="38065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A8B4B9-9F83-477E-A28B-150BB338D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802" y="1875615"/>
            <a:ext cx="2674495" cy="381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9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부록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2] 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다기준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최적화 필요성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02346E-0976-4817-ABBE-DECD2CEF69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1"/>
          <a:stretch/>
        </p:blipFill>
        <p:spPr>
          <a:xfrm>
            <a:off x="113847" y="1379544"/>
            <a:ext cx="8916305" cy="412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1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1">
      <a:dk1>
        <a:sysClr val="windowText" lastClr="000000"/>
      </a:dk1>
      <a:lt1>
        <a:sysClr val="window" lastClr="FFFFFF"/>
      </a:lt1>
      <a:dk2>
        <a:srgbClr val="003399"/>
      </a:dk2>
      <a:lt2>
        <a:srgbClr val="E7E6E6"/>
      </a:lt2>
      <a:accent1>
        <a:srgbClr val="126FBA"/>
      </a:accent1>
      <a:accent2>
        <a:srgbClr val="FF6600"/>
      </a:accent2>
      <a:accent3>
        <a:srgbClr val="0099CC"/>
      </a:accent3>
      <a:accent4>
        <a:srgbClr val="FFCC00"/>
      </a:accent4>
      <a:accent5>
        <a:srgbClr val="006699"/>
      </a:accent5>
      <a:accent6>
        <a:srgbClr val="669900"/>
      </a:accent6>
      <a:hlink>
        <a:srgbClr val="126FBA"/>
      </a:hlink>
      <a:folHlink>
        <a:srgbClr val="954F72"/>
      </a:folHlink>
    </a:clrScheme>
    <a:fontScheme name="사용자 지정 37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10103</TotalTime>
  <Words>2559</Words>
  <Application>Microsoft Office PowerPoint</Application>
  <PresentationFormat>화면 슬라이드 쇼(16:10)</PresentationFormat>
  <Paragraphs>545</Paragraphs>
  <Slides>31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6" baseType="lpstr">
      <vt:lpstr>나눔스퀘어 네오 Bold</vt:lpstr>
      <vt:lpstr>KoPub돋움체 Medium</vt:lpstr>
      <vt:lpstr>KoPub돋움체 Bold</vt:lpstr>
      <vt:lpstr>Pretendard</vt:lpstr>
      <vt:lpstr>HY헤드라인M</vt:lpstr>
      <vt:lpstr>Times New Roman</vt:lpstr>
      <vt:lpstr>나눔고딕 ExtraBold</vt:lpstr>
      <vt:lpstr>Arial</vt:lpstr>
      <vt:lpstr>Wingdings</vt:lpstr>
      <vt:lpstr>KoPubWorld돋움체 Medium</vt:lpstr>
      <vt:lpstr>Cambria Math</vt:lpstr>
      <vt:lpstr>맑은 고딕</vt:lpstr>
      <vt:lpstr>나눔스퀘어 네오 ExtraBold</vt:lpstr>
      <vt:lpstr>Calibri</vt:lpstr>
      <vt:lpstr>Office 테마</vt:lpstr>
      <vt:lpstr>PowerPoint 프레젠테이션</vt:lpstr>
      <vt:lpstr>목차</vt:lpstr>
      <vt:lpstr>PowerPoint 프레젠테이션</vt:lpstr>
      <vt:lpstr>연구 배경 및 필요성</vt:lpstr>
      <vt:lpstr>연구 배경 및 필요성</vt:lpstr>
      <vt:lpstr>연구 배경 및 필요성</vt:lpstr>
      <vt:lpstr>연구 배경 및 필요성</vt:lpstr>
      <vt:lpstr>PowerPoint 프레젠테이션</vt:lpstr>
      <vt:lpstr>전력설비 자산관리 시스템 개요 및 한계</vt:lpstr>
      <vt:lpstr>전력설비 자산관리 시스템 개요 및 한계</vt:lpstr>
      <vt:lpstr>전력설비 자산관리 시스템 개요 및 한계</vt:lpstr>
      <vt:lpstr>전력설비 자산관리 시스템 개요 및 한계</vt:lpstr>
      <vt:lpstr>전력설비 자산관리 시스템 개요 및 한계</vt:lpstr>
      <vt:lpstr>PowerPoint 프레젠테이션</vt:lpstr>
      <vt:lpstr>Fuzzy-AHP 기반 자산 투자 최적화 프레임워크</vt:lpstr>
      <vt:lpstr>Fuzzy-AHP 기반 자산 투자 최적화 프레임워크</vt:lpstr>
      <vt:lpstr>Fuzzy-AHP 기반 자산 투자 최적화 프레임워크</vt:lpstr>
      <vt:lpstr>Fuzzy-AHP 기반 자산 투자 최적화 프레임워크</vt:lpstr>
      <vt:lpstr>Fuzzy-AHP 기반 자산 투자 최적화 프레임워크</vt:lpstr>
      <vt:lpstr>PowerPoint 프레젠테이션</vt:lpstr>
      <vt:lpstr>사례연구 및 결과 분석</vt:lpstr>
      <vt:lpstr>사례연구 및 결과 분석</vt:lpstr>
      <vt:lpstr>사례연구 및 결과 분석</vt:lpstr>
      <vt:lpstr>사례연구 및 결과 분석</vt:lpstr>
      <vt:lpstr>사례연구 및 결과 분석</vt:lpstr>
      <vt:lpstr>사례연구 및 결과 분석</vt:lpstr>
      <vt:lpstr>사례연구 및 결과 분석</vt:lpstr>
      <vt:lpstr>사례연구 및 결과 분석</vt:lpstr>
      <vt:lpstr>PowerPoint 프레젠테이션</vt:lpstr>
      <vt:lpstr>[부록1] 연구논문 게재 현황</vt:lpstr>
      <vt:lpstr>[부록2]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곽 현수</dc:creator>
  <cp:lastModifiedBy>안병현</cp:lastModifiedBy>
  <cp:revision>457</cp:revision>
  <cp:lastPrinted>2023-11-01T00:09:39Z</cp:lastPrinted>
  <dcterms:created xsi:type="dcterms:W3CDTF">2023-10-20T10:13:43Z</dcterms:created>
  <dcterms:modified xsi:type="dcterms:W3CDTF">2026-04-15T02:46:44Z</dcterms:modified>
</cp:coreProperties>
</file>