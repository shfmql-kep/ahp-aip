
<file path=[Content_Types].xml><?xml version="1.0" encoding="utf-8"?>
<Types xmlns="http://schemas.openxmlformats.org/package/2006/content-types">
  <Default Extension="bmp" ContentType="image/bmp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7" r:id="rId1"/>
  </p:sldMasterIdLst>
  <p:notesMasterIdLst>
    <p:notesMasterId r:id="rId36"/>
  </p:notesMasterIdLst>
  <p:sldIdLst>
    <p:sldId id="275" r:id="rId2"/>
    <p:sldId id="387" r:id="rId3"/>
    <p:sldId id="394" r:id="rId4"/>
    <p:sldId id="425" r:id="rId5"/>
    <p:sldId id="426" r:id="rId6"/>
    <p:sldId id="427" r:id="rId7"/>
    <p:sldId id="428" r:id="rId8"/>
    <p:sldId id="393" r:id="rId9"/>
    <p:sldId id="395" r:id="rId10"/>
    <p:sldId id="397" r:id="rId11"/>
    <p:sldId id="429" r:id="rId12"/>
    <p:sldId id="403" r:id="rId13"/>
    <p:sldId id="404" r:id="rId14"/>
    <p:sldId id="431" r:id="rId15"/>
    <p:sldId id="430" r:id="rId16"/>
    <p:sldId id="433" r:id="rId17"/>
    <p:sldId id="432" r:id="rId18"/>
    <p:sldId id="413" r:id="rId19"/>
    <p:sldId id="434" r:id="rId20"/>
    <p:sldId id="436" r:id="rId21"/>
    <p:sldId id="437" r:id="rId22"/>
    <p:sldId id="438" r:id="rId23"/>
    <p:sldId id="439" r:id="rId24"/>
    <p:sldId id="440" r:id="rId25"/>
    <p:sldId id="441" r:id="rId26"/>
    <p:sldId id="442" r:id="rId27"/>
    <p:sldId id="443" r:id="rId28"/>
    <p:sldId id="444" r:id="rId29"/>
    <p:sldId id="445" r:id="rId30"/>
    <p:sldId id="446" r:id="rId31"/>
    <p:sldId id="435" r:id="rId32"/>
    <p:sldId id="420" r:id="rId33"/>
    <p:sldId id="286" r:id="rId34"/>
    <p:sldId id="424" r:id="rId35"/>
  </p:sldIdLst>
  <p:sldSz cx="9144000" cy="5715000" type="screen16x10"/>
  <p:notesSz cx="6735763" cy="9866313"/>
  <p:embeddedFontLst>
    <p:embeddedFont>
      <p:font typeface="HY헤드라인M" panose="02030600000101010101" pitchFamily="18" charset="-127"/>
      <p:regular r:id="rId37"/>
    </p:embeddedFont>
    <p:embeddedFont>
      <p:font typeface="KoPub돋움체 Bold" panose="00000800000000000000" pitchFamily="2" charset="-127"/>
      <p:bold r:id="rId38"/>
    </p:embeddedFont>
    <p:embeddedFont>
      <p:font typeface="KoPub돋움체 Medium" panose="00000600000000000000" pitchFamily="2" charset="-127"/>
      <p:regular r:id="rId39"/>
    </p:embeddedFont>
    <p:embeddedFont>
      <p:font typeface="나눔스퀘어 네오 Bold" panose="020B0600000101010101" charset="-127"/>
      <p:bold r:id="rId40"/>
    </p:embeddedFont>
    <p:embeddedFont>
      <p:font typeface="나눔스퀘어 네오 ExtraBold" panose="020B0600000101010101" charset="-127"/>
      <p:bold r:id="rId41"/>
    </p:embeddedFont>
    <p:embeddedFont>
      <p:font typeface="맑은 고딕" panose="020B0503020000020004" pitchFamily="50" charset="-127"/>
      <p:regular r:id="rId42"/>
      <p:bold r:id="rId43"/>
    </p:embeddedFont>
    <p:embeddedFont>
      <p:font typeface="함초롬바탕" panose="02030604000101010101" pitchFamily="18" charset="-127"/>
      <p:regular r:id="rId44"/>
      <p:bold r:id="rId45"/>
    </p:embeddedFont>
    <p:embeddedFont>
      <p:font typeface="Calibri" panose="020F0502020204030204" pitchFamily="34" charset="0"/>
      <p:regular r:id="rId46"/>
      <p:bold r:id="rId47"/>
      <p:italic r:id="rId48"/>
      <p:boldItalic r:id="rId49"/>
    </p:embeddedFont>
    <p:embeddedFont>
      <p:font typeface="Cambria Math" panose="02040503050406030204" pitchFamily="18" charset="0"/>
      <p:regular r:id="rId5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4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pco" initials="k" lastIdx="1" clrIdx="0">
    <p:extLst>
      <p:ext uri="{19B8F6BF-5375-455C-9EA6-DF929625EA0E}">
        <p15:presenceInfo xmlns:p15="http://schemas.microsoft.com/office/powerpoint/2012/main" userId="kepc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0F1F3"/>
    <a:srgbClr val="173962"/>
    <a:srgbClr val="E6F1FD"/>
    <a:srgbClr val="D8E5F5"/>
    <a:srgbClr val="0C004C"/>
    <a:srgbClr val="0D014D"/>
    <a:srgbClr val="E0EBF6"/>
    <a:srgbClr val="4B7EB4"/>
    <a:srgbClr val="A5C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06" autoAdjust="0"/>
  </p:normalViewPr>
  <p:slideViewPr>
    <p:cSldViewPr snapToGrid="0" showGuides="1">
      <p:cViewPr varScale="1">
        <p:scale>
          <a:sx n="124" d="100"/>
          <a:sy n="124" d="100"/>
        </p:scale>
        <p:origin x="1182" y="102"/>
      </p:cViewPr>
      <p:guideLst>
        <p:guide orient="horz" pos="734"/>
        <p:guide pos="249"/>
        <p:guide pos="55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7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47038820016558"/>
          <c:y val="8.85667715478137E-2"/>
          <c:w val="0.80362145764933723"/>
          <c:h val="0.6308350572260532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Sheet5!$B$1</c:f>
              <c:strCache>
                <c:ptCount val="1"/>
                <c:pt idx="0">
                  <c:v>765kV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numRef>
              <c:f>Sheet5!$A$2:$A$45</c:f>
              <c:numCache>
                <c:formatCode>General</c:formatCode>
                <c:ptCount val="44"/>
                <c:pt idx="0">
                  <c:v>1975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  <c:pt idx="25">
                  <c:v>2007</c:v>
                </c:pt>
                <c:pt idx="26">
                  <c:v>2008</c:v>
                </c:pt>
                <c:pt idx="27">
                  <c:v>2009</c:v>
                </c:pt>
                <c:pt idx="28">
                  <c:v>2010</c:v>
                </c:pt>
                <c:pt idx="29">
                  <c:v>2011</c:v>
                </c:pt>
                <c:pt idx="30">
                  <c:v>2012</c:v>
                </c:pt>
                <c:pt idx="31">
                  <c:v>2013</c:v>
                </c:pt>
                <c:pt idx="32">
                  <c:v>2014</c:v>
                </c:pt>
                <c:pt idx="33">
                  <c:v>2015</c:v>
                </c:pt>
                <c:pt idx="34">
                  <c:v>2016</c:v>
                </c:pt>
                <c:pt idx="35">
                  <c:v>2017</c:v>
                </c:pt>
                <c:pt idx="36">
                  <c:v>2018</c:v>
                </c:pt>
                <c:pt idx="37">
                  <c:v>2019</c:v>
                </c:pt>
                <c:pt idx="38">
                  <c:v>2020</c:v>
                </c:pt>
                <c:pt idx="39">
                  <c:v>2021</c:v>
                </c:pt>
                <c:pt idx="40">
                  <c:v>2022</c:v>
                </c:pt>
                <c:pt idx="41">
                  <c:v>2023</c:v>
                </c:pt>
                <c:pt idx="42">
                  <c:v>2024</c:v>
                </c:pt>
                <c:pt idx="43">
                  <c:v>2025</c:v>
                </c:pt>
              </c:numCache>
            </c:numRef>
          </c:cat>
          <c:val>
            <c:numRef>
              <c:f>Sheet5!$B$2:$B$45</c:f>
              <c:numCache>
                <c:formatCode>General</c:formatCode>
                <c:ptCount val="44"/>
                <c:pt idx="19">
                  <c:v>1</c:v>
                </c:pt>
                <c:pt idx="20">
                  <c:v>5</c:v>
                </c:pt>
                <c:pt idx="21">
                  <c:v>5</c:v>
                </c:pt>
                <c:pt idx="22">
                  <c:v>11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13</c:v>
                </c:pt>
                <c:pt idx="28">
                  <c:v>14</c:v>
                </c:pt>
                <c:pt idx="29">
                  <c:v>15</c:v>
                </c:pt>
                <c:pt idx="30">
                  <c:v>15</c:v>
                </c:pt>
                <c:pt idx="31">
                  <c:v>16</c:v>
                </c:pt>
                <c:pt idx="32">
                  <c:v>15</c:v>
                </c:pt>
                <c:pt idx="33">
                  <c:v>19</c:v>
                </c:pt>
                <c:pt idx="34">
                  <c:v>20</c:v>
                </c:pt>
                <c:pt idx="35">
                  <c:v>20</c:v>
                </c:pt>
                <c:pt idx="36">
                  <c:v>22</c:v>
                </c:pt>
                <c:pt idx="37">
                  <c:v>20</c:v>
                </c:pt>
                <c:pt idx="38">
                  <c:v>22</c:v>
                </c:pt>
                <c:pt idx="39">
                  <c:v>23</c:v>
                </c:pt>
                <c:pt idx="40">
                  <c:v>23</c:v>
                </c:pt>
                <c:pt idx="4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F3-410A-847E-CA8CC728F465}"/>
            </c:ext>
          </c:extLst>
        </c:ser>
        <c:ser>
          <c:idx val="1"/>
          <c:order val="1"/>
          <c:tx>
            <c:strRef>
              <c:f>Sheet5!$C$1</c:f>
              <c:strCache>
                <c:ptCount val="1"/>
                <c:pt idx="0">
                  <c:v>345kV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Sheet5!$A$2:$A$45</c:f>
              <c:numCache>
                <c:formatCode>General</c:formatCode>
                <c:ptCount val="44"/>
                <c:pt idx="0">
                  <c:v>1975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  <c:pt idx="25">
                  <c:v>2007</c:v>
                </c:pt>
                <c:pt idx="26">
                  <c:v>2008</c:v>
                </c:pt>
                <c:pt idx="27">
                  <c:v>2009</c:v>
                </c:pt>
                <c:pt idx="28">
                  <c:v>2010</c:v>
                </c:pt>
                <c:pt idx="29">
                  <c:v>2011</c:v>
                </c:pt>
                <c:pt idx="30">
                  <c:v>2012</c:v>
                </c:pt>
                <c:pt idx="31">
                  <c:v>2013</c:v>
                </c:pt>
                <c:pt idx="32">
                  <c:v>2014</c:v>
                </c:pt>
                <c:pt idx="33">
                  <c:v>2015</c:v>
                </c:pt>
                <c:pt idx="34">
                  <c:v>2016</c:v>
                </c:pt>
                <c:pt idx="35">
                  <c:v>2017</c:v>
                </c:pt>
                <c:pt idx="36">
                  <c:v>2018</c:v>
                </c:pt>
                <c:pt idx="37">
                  <c:v>2019</c:v>
                </c:pt>
                <c:pt idx="38">
                  <c:v>2020</c:v>
                </c:pt>
                <c:pt idx="39">
                  <c:v>2021</c:v>
                </c:pt>
                <c:pt idx="40">
                  <c:v>2022</c:v>
                </c:pt>
                <c:pt idx="41">
                  <c:v>2023</c:v>
                </c:pt>
                <c:pt idx="42">
                  <c:v>2024</c:v>
                </c:pt>
                <c:pt idx="43">
                  <c:v>2025</c:v>
                </c:pt>
              </c:numCache>
            </c:numRef>
          </c:cat>
          <c:val>
            <c:numRef>
              <c:f>Sheet5!$C$2:$C$45</c:f>
              <c:numCache>
                <c:formatCode>General</c:formatCode>
                <c:ptCount val="44"/>
                <c:pt idx="3">
                  <c:v>1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4</c:v>
                </c:pt>
                <c:pt idx="9">
                  <c:v>13</c:v>
                </c:pt>
                <c:pt idx="10">
                  <c:v>13</c:v>
                </c:pt>
                <c:pt idx="11">
                  <c:v>11</c:v>
                </c:pt>
                <c:pt idx="12">
                  <c:v>14</c:v>
                </c:pt>
                <c:pt idx="13">
                  <c:v>33</c:v>
                </c:pt>
                <c:pt idx="14">
                  <c:v>25</c:v>
                </c:pt>
                <c:pt idx="15">
                  <c:v>49</c:v>
                </c:pt>
                <c:pt idx="16">
                  <c:v>12</c:v>
                </c:pt>
                <c:pt idx="17">
                  <c:v>19</c:v>
                </c:pt>
                <c:pt idx="18">
                  <c:v>14</c:v>
                </c:pt>
                <c:pt idx="19">
                  <c:v>30</c:v>
                </c:pt>
                <c:pt idx="20">
                  <c:v>45</c:v>
                </c:pt>
                <c:pt idx="21">
                  <c:v>50</c:v>
                </c:pt>
                <c:pt idx="22">
                  <c:v>25</c:v>
                </c:pt>
                <c:pt idx="23">
                  <c:v>27</c:v>
                </c:pt>
                <c:pt idx="24">
                  <c:v>28</c:v>
                </c:pt>
                <c:pt idx="25">
                  <c:v>20</c:v>
                </c:pt>
                <c:pt idx="26">
                  <c:v>24</c:v>
                </c:pt>
                <c:pt idx="27">
                  <c:v>30</c:v>
                </c:pt>
                <c:pt idx="28">
                  <c:v>42</c:v>
                </c:pt>
                <c:pt idx="29">
                  <c:v>10</c:v>
                </c:pt>
                <c:pt idx="30">
                  <c:v>36</c:v>
                </c:pt>
                <c:pt idx="31">
                  <c:v>9</c:v>
                </c:pt>
                <c:pt idx="32">
                  <c:v>36</c:v>
                </c:pt>
                <c:pt idx="33">
                  <c:v>44</c:v>
                </c:pt>
                <c:pt idx="34">
                  <c:v>24</c:v>
                </c:pt>
                <c:pt idx="35">
                  <c:v>29</c:v>
                </c:pt>
                <c:pt idx="36">
                  <c:v>30</c:v>
                </c:pt>
                <c:pt idx="37">
                  <c:v>27</c:v>
                </c:pt>
                <c:pt idx="38">
                  <c:v>12</c:v>
                </c:pt>
                <c:pt idx="39">
                  <c:v>52</c:v>
                </c:pt>
                <c:pt idx="40">
                  <c:v>10</c:v>
                </c:pt>
                <c:pt idx="41">
                  <c:v>28</c:v>
                </c:pt>
                <c:pt idx="4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F3-410A-847E-CA8CC728F465}"/>
            </c:ext>
          </c:extLst>
        </c:ser>
        <c:ser>
          <c:idx val="2"/>
          <c:order val="2"/>
          <c:tx>
            <c:strRef>
              <c:f>Sheet5!$D$1</c:f>
              <c:strCache>
                <c:ptCount val="1"/>
                <c:pt idx="0">
                  <c:v>154kV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numRef>
              <c:f>Sheet5!$A$2:$A$45</c:f>
              <c:numCache>
                <c:formatCode>General</c:formatCode>
                <c:ptCount val="44"/>
                <c:pt idx="0">
                  <c:v>1975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  <c:pt idx="25">
                  <c:v>2007</c:v>
                </c:pt>
                <c:pt idx="26">
                  <c:v>2008</c:v>
                </c:pt>
                <c:pt idx="27">
                  <c:v>2009</c:v>
                </c:pt>
                <c:pt idx="28">
                  <c:v>2010</c:v>
                </c:pt>
                <c:pt idx="29">
                  <c:v>2011</c:v>
                </c:pt>
                <c:pt idx="30">
                  <c:v>2012</c:v>
                </c:pt>
                <c:pt idx="31">
                  <c:v>2013</c:v>
                </c:pt>
                <c:pt idx="32">
                  <c:v>2014</c:v>
                </c:pt>
                <c:pt idx="33">
                  <c:v>2015</c:v>
                </c:pt>
                <c:pt idx="34">
                  <c:v>2016</c:v>
                </c:pt>
                <c:pt idx="35">
                  <c:v>2017</c:v>
                </c:pt>
                <c:pt idx="36">
                  <c:v>2018</c:v>
                </c:pt>
                <c:pt idx="37">
                  <c:v>2019</c:v>
                </c:pt>
                <c:pt idx="38">
                  <c:v>2020</c:v>
                </c:pt>
                <c:pt idx="39">
                  <c:v>2021</c:v>
                </c:pt>
                <c:pt idx="40">
                  <c:v>2022</c:v>
                </c:pt>
                <c:pt idx="41">
                  <c:v>2023</c:v>
                </c:pt>
                <c:pt idx="42">
                  <c:v>2024</c:v>
                </c:pt>
                <c:pt idx="43">
                  <c:v>2025</c:v>
                </c:pt>
              </c:numCache>
            </c:numRef>
          </c:cat>
          <c:val>
            <c:numRef>
              <c:f>Sheet5!$D$2:$D$45</c:f>
              <c:numCache>
                <c:formatCode>General</c:formatCode>
                <c:ptCount val="4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4">
                  <c:v>2</c:v>
                </c:pt>
                <c:pt idx="5">
                  <c:v>9</c:v>
                </c:pt>
                <c:pt idx="6">
                  <c:v>7</c:v>
                </c:pt>
                <c:pt idx="7">
                  <c:v>19</c:v>
                </c:pt>
                <c:pt idx="8">
                  <c:v>30</c:v>
                </c:pt>
                <c:pt idx="9">
                  <c:v>30</c:v>
                </c:pt>
                <c:pt idx="10">
                  <c:v>46</c:v>
                </c:pt>
                <c:pt idx="11">
                  <c:v>74</c:v>
                </c:pt>
                <c:pt idx="12">
                  <c:v>56</c:v>
                </c:pt>
                <c:pt idx="13">
                  <c:v>194</c:v>
                </c:pt>
                <c:pt idx="14">
                  <c:v>235</c:v>
                </c:pt>
                <c:pt idx="15">
                  <c:v>397</c:v>
                </c:pt>
                <c:pt idx="16">
                  <c:v>221</c:v>
                </c:pt>
                <c:pt idx="17">
                  <c:v>217</c:v>
                </c:pt>
                <c:pt idx="18">
                  <c:v>224</c:v>
                </c:pt>
                <c:pt idx="19">
                  <c:v>314</c:v>
                </c:pt>
                <c:pt idx="20">
                  <c:v>305</c:v>
                </c:pt>
                <c:pt idx="21">
                  <c:v>352</c:v>
                </c:pt>
                <c:pt idx="22">
                  <c:v>237</c:v>
                </c:pt>
                <c:pt idx="23">
                  <c:v>326</c:v>
                </c:pt>
                <c:pt idx="24">
                  <c:v>261</c:v>
                </c:pt>
                <c:pt idx="25">
                  <c:v>242</c:v>
                </c:pt>
                <c:pt idx="26">
                  <c:v>269</c:v>
                </c:pt>
                <c:pt idx="27">
                  <c:v>208</c:v>
                </c:pt>
                <c:pt idx="28">
                  <c:v>108</c:v>
                </c:pt>
                <c:pt idx="29">
                  <c:v>179</c:v>
                </c:pt>
                <c:pt idx="30">
                  <c:v>129</c:v>
                </c:pt>
                <c:pt idx="31">
                  <c:v>176</c:v>
                </c:pt>
                <c:pt idx="32">
                  <c:v>196</c:v>
                </c:pt>
                <c:pt idx="33">
                  <c:v>195</c:v>
                </c:pt>
                <c:pt idx="34">
                  <c:v>117</c:v>
                </c:pt>
                <c:pt idx="35">
                  <c:v>228</c:v>
                </c:pt>
                <c:pt idx="36">
                  <c:v>296</c:v>
                </c:pt>
                <c:pt idx="37">
                  <c:v>192</c:v>
                </c:pt>
                <c:pt idx="38">
                  <c:v>226</c:v>
                </c:pt>
                <c:pt idx="39">
                  <c:v>142</c:v>
                </c:pt>
                <c:pt idx="40">
                  <c:v>218</c:v>
                </c:pt>
                <c:pt idx="41">
                  <c:v>181</c:v>
                </c:pt>
                <c:pt idx="42">
                  <c:v>152</c:v>
                </c:pt>
                <c:pt idx="4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F3-410A-847E-CA8CC728F4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95904975"/>
        <c:axId val="1796365247"/>
      </c:barChart>
      <c:catAx>
        <c:axId val="119590497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96365247"/>
        <c:crosses val="autoZero"/>
        <c:auto val="1"/>
        <c:lblAlgn val="ctr"/>
        <c:lblOffset val="100"/>
        <c:noMultiLvlLbl val="0"/>
      </c:catAx>
      <c:valAx>
        <c:axId val="179636524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1195904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6277926058107904"/>
          <c:y val="4.721020516114402E-2"/>
          <c:w val="0.53277548694428623"/>
          <c:h val="0.107066819057694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EB162-DC71-4A50-B91A-59DBBEA672C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233488"/>
            <a:ext cx="5326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067BD-8FDB-45B0-BB86-1ED3BAB845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07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814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989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230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747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368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171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441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자산관리 시스템은 현재 북미</a:t>
            </a:r>
            <a:r>
              <a:rPr lang="en-US" altLang="ko-KR" dirty="0"/>
              <a:t>, </a:t>
            </a:r>
            <a:r>
              <a:rPr lang="ko-KR" altLang="en-US" dirty="0"/>
              <a:t>유럽 전력회사를 중심으로 실제 도입되고 있으며 전세계로 확대되고 있는 추세입니다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561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160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506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83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376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780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079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162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064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058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500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0956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1089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0530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589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6552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5276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063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2212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906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962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8139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2811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067BD-8FDB-45B0-BB86-1ED3BAB8459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340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E76-C0D7-491A-944B-D1EA68C0BDBA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75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E76-C0D7-491A-944B-D1EA68C0BDBA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686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E76-C0D7-491A-944B-D1EA68C0BDBA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7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E76-C0D7-491A-944B-D1EA68C0BDBA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805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AE76-C0D7-491A-944B-D1EA68C0BDBA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45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7375B62-FEAC-4841-9BCA-1DE5D9D9E9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/>
          <a:stretch/>
        </p:blipFill>
        <p:spPr>
          <a:xfrm flipH="1">
            <a:off x="716132" y="-15265"/>
            <a:ext cx="8385005" cy="5715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BB21CB4-D2DF-4F8F-B621-09E1DD4B2C5D}"/>
              </a:ext>
            </a:extLst>
          </p:cNvPr>
          <p:cNvSpPr/>
          <p:nvPr userDrawn="1"/>
        </p:nvSpPr>
        <p:spPr>
          <a:xfrm>
            <a:off x="0" y="-15265"/>
            <a:ext cx="9144000" cy="5748649"/>
          </a:xfrm>
          <a:prstGeom prst="rect">
            <a:avLst/>
          </a:prstGeom>
          <a:solidFill>
            <a:srgbClr val="00206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시안21.png">
            <a:extLst>
              <a:ext uri="{FF2B5EF4-FFF2-40B4-BE49-F238E27FC236}">
                <a16:creationId xmlns:a16="http://schemas.microsoft.com/office/drawing/2014/main" id="{FFB50E59-4F0F-4B97-86C1-EC0DC498CC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7101" y="-7145"/>
            <a:ext cx="7680000" cy="5760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A26A118-8C8C-4F52-B81C-981DEB5D045E}"/>
              </a:ext>
            </a:extLst>
          </p:cNvPr>
          <p:cNvSpPr/>
          <p:nvPr userDrawn="1"/>
        </p:nvSpPr>
        <p:spPr>
          <a:xfrm>
            <a:off x="6625156" y="-49882"/>
            <a:ext cx="2518844" cy="2371977"/>
          </a:xfrm>
          <a:prstGeom prst="rect">
            <a:avLst/>
          </a:prstGeom>
          <a:blipFill dpi="0" rotWithShape="1">
            <a:blip r:embed="rId4">
              <a:alphaModFix amt="1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76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8">
            <a:extLst>
              <a:ext uri="{FF2B5EF4-FFF2-40B4-BE49-F238E27FC236}">
                <a16:creationId xmlns:a16="http://schemas.microsoft.com/office/drawing/2014/main" id="{EB5F05C7-F9E0-4761-96DD-C704C72A257D}"/>
              </a:ext>
            </a:extLst>
          </p:cNvPr>
          <p:cNvSpPr/>
          <p:nvPr userDrawn="1"/>
        </p:nvSpPr>
        <p:spPr>
          <a:xfrm>
            <a:off x="0" y="0"/>
            <a:ext cx="9144000" cy="671872"/>
          </a:xfrm>
          <a:prstGeom prst="round2SameRect">
            <a:avLst>
              <a:gd name="adj1" fmla="val 0"/>
              <a:gd name="adj2" fmla="val 4281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EFDA3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95ADD0-54AB-44B0-8320-91339B70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771"/>
            <a:ext cx="9144000" cy="478074"/>
          </a:xfrm>
        </p:spPr>
        <p:txBody>
          <a:bodyPr>
            <a:normAutofit/>
          </a:bodyPr>
          <a:lstStyle>
            <a:lvl1pPr algn="ctr">
              <a:defRPr sz="2250">
                <a:solidFill>
                  <a:schemeClr val="accent6">
                    <a:lumMod val="10000"/>
                    <a:lumOff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1CEC18-C13F-4781-8B8B-9ADE1155FF3D}"/>
              </a:ext>
            </a:extLst>
          </p:cNvPr>
          <p:cNvSpPr/>
          <p:nvPr userDrawn="1"/>
        </p:nvSpPr>
        <p:spPr>
          <a:xfrm>
            <a:off x="8413194" y="295391"/>
            <a:ext cx="25200" cy="115200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HancomEQN" panose="02000000000000000000" pitchFamily="2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91398-76BD-49B7-8247-A5C7DF9F8B56}"/>
              </a:ext>
            </a:extLst>
          </p:cNvPr>
          <p:cNvSpPr txBox="1"/>
          <p:nvPr userDrawn="1"/>
        </p:nvSpPr>
        <p:spPr>
          <a:xfrm>
            <a:off x="8497477" y="219008"/>
            <a:ext cx="57644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fld id="{B5ED264B-0C58-4952-868A-68AD3109D095}" type="slidenum">
              <a:rPr lang="ko-KR" altLang="en-US" sz="1600" b="1" spc="-80" baseline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‹#›</a:t>
            </a:fld>
            <a:r>
              <a:rPr lang="en-US" altLang="ko-KR" sz="1600" b="1" spc="-8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/12</a:t>
            </a:r>
            <a:endParaRPr lang="ko-KR" altLang="en-US" sz="1600" b="1" spc="-8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953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0AE76-C0D7-491A-944B-D1EA68C0BDBA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2C3D1-3F01-466B-A380-D20330803F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31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1" r:id="rId3"/>
    <p:sldLayoutId id="2147483663" r:id="rId4"/>
    <p:sldLayoutId id="2147483664" r:id="rId5"/>
    <p:sldLayoutId id="2147483673" r:id="rId6"/>
    <p:sldLayoutId id="2147483671" r:id="rId7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microsoft.com/office/2007/relationships/hdphoto" Target="../media/hdphoto1.wdp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bmp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6CAA4377-9514-4FF8-B8C2-396CD5853F2D}"/>
              </a:ext>
            </a:extLst>
          </p:cNvPr>
          <p:cNvSpPr txBox="1">
            <a:spLocks/>
          </p:cNvSpPr>
          <p:nvPr/>
        </p:nvSpPr>
        <p:spPr>
          <a:xfrm>
            <a:off x="181858" y="2108235"/>
            <a:ext cx="6948721" cy="149852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3400" dirty="0">
                <a:solidFill>
                  <a:srgbClr val="00409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전력설비 투자계획 수립을 위한 </a:t>
            </a:r>
            <a:endParaRPr lang="en-US" altLang="ko-KR" sz="3400" dirty="0">
              <a:solidFill>
                <a:srgbClr val="004098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3400" dirty="0" err="1">
                <a:solidFill>
                  <a:srgbClr val="00409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다기준</a:t>
            </a:r>
            <a:r>
              <a:rPr lang="ko-KR" altLang="en-US" sz="3400" dirty="0">
                <a:solidFill>
                  <a:srgbClr val="00409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투자우선순위 지수 기반</a:t>
            </a:r>
            <a:endParaRPr lang="en-US" altLang="ko-KR" sz="3400" dirty="0">
              <a:solidFill>
                <a:srgbClr val="004098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3400" dirty="0">
                <a:solidFill>
                  <a:srgbClr val="00409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포트폴리오 최적화 연구</a:t>
            </a:r>
            <a:endParaRPr lang="en-US" altLang="ko-KR" sz="3400" dirty="0">
              <a:solidFill>
                <a:srgbClr val="004098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377" y="4162104"/>
            <a:ext cx="4577239" cy="824836"/>
          </a:xfrm>
          <a:prstGeom prst="rect">
            <a:avLst/>
          </a:prstGeom>
          <a:noFill/>
        </p:spPr>
        <p:txBody>
          <a:bodyPr wrap="square" rtlCol="0" anchor="ctr">
            <a:no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lvl="0" fontAlgn="base" latinLnBrk="1">
              <a:lnSpc>
                <a:spcPct val="130000"/>
              </a:lnSpc>
            </a:pPr>
            <a:r>
              <a:rPr lang="ko-KR" altLang="en-US" sz="2000" b="1" dirty="0" err="1">
                <a:solidFill>
                  <a:srgbClr val="00409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j-cs"/>
              </a:rPr>
              <a:t>국립목포대학교</a:t>
            </a:r>
            <a:r>
              <a:rPr lang="ko-KR" altLang="en-US" sz="2000" b="1" dirty="0">
                <a:solidFill>
                  <a:srgbClr val="00409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j-cs"/>
              </a:rPr>
              <a:t> 전기공학과</a:t>
            </a:r>
            <a:r>
              <a:rPr lang="en-US" altLang="ko-KR" sz="2000" b="1" dirty="0">
                <a:solidFill>
                  <a:srgbClr val="00409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j-cs"/>
              </a:rPr>
              <a:t> </a:t>
            </a:r>
          </a:p>
          <a:p>
            <a:pPr lvl="0" fontAlgn="base" latinLnBrk="1">
              <a:lnSpc>
                <a:spcPct val="130000"/>
              </a:lnSpc>
            </a:pPr>
            <a:r>
              <a:rPr lang="ko-KR" altLang="en-US" sz="2000" b="1" dirty="0">
                <a:solidFill>
                  <a:srgbClr val="00409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j-cs"/>
              </a:rPr>
              <a:t>박사과정 안병현</a:t>
            </a:r>
            <a:endParaRPr lang="en-US" altLang="ko-KR" sz="2000" b="1" dirty="0">
              <a:solidFill>
                <a:srgbClr val="004098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6589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4743102-4ADA-47DB-B586-7C83E132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00"/>
            <a:ext cx="9144000" cy="477838"/>
          </a:xfrm>
        </p:spPr>
        <p:txBody>
          <a:bodyPr/>
          <a:lstStyle/>
          <a:p>
            <a:pPr indent="177800"/>
            <a:r>
              <a: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rPr>
              <a:t>목차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98777E-F62A-4239-9D98-C04E2F0AF9BE}"/>
              </a:ext>
            </a:extLst>
          </p:cNvPr>
          <p:cNvSpPr/>
          <p:nvPr/>
        </p:nvSpPr>
        <p:spPr>
          <a:xfrm>
            <a:off x="8309113" y="182880"/>
            <a:ext cx="691764" cy="333955"/>
          </a:xfrm>
          <a:prstGeom prst="rect">
            <a:avLst/>
          </a:prstGeom>
          <a:solidFill>
            <a:srgbClr val="0D0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B75D316-6C74-4A53-B4CA-71B3CC97ACCD}"/>
              </a:ext>
            </a:extLst>
          </p:cNvPr>
          <p:cNvGrpSpPr/>
          <p:nvPr/>
        </p:nvGrpSpPr>
        <p:grpSpPr>
          <a:xfrm>
            <a:off x="1916494" y="1069797"/>
            <a:ext cx="4836862" cy="553998"/>
            <a:chOff x="2544647" y="1116743"/>
            <a:chExt cx="4836862" cy="553998"/>
          </a:xfrm>
        </p:grpSpPr>
        <p:grpSp>
          <p:nvGrpSpPr>
            <p:cNvPr id="8" name="그룹 61">
              <a:extLst>
                <a:ext uri="{FF2B5EF4-FFF2-40B4-BE49-F238E27FC236}">
                  <a16:creationId xmlns:a16="http://schemas.microsoft.com/office/drawing/2014/main" id="{DC78BBA6-728E-4FEC-A6DD-A86ED3C0448C}"/>
                </a:ext>
              </a:extLst>
            </p:cNvPr>
            <p:cNvGrpSpPr/>
            <p:nvPr/>
          </p:nvGrpSpPr>
          <p:grpSpPr>
            <a:xfrm>
              <a:off x="2544647" y="1172728"/>
              <a:ext cx="588963" cy="437969"/>
              <a:chOff x="2896291" y="2504036"/>
              <a:chExt cx="484116" cy="360000"/>
            </a:xfrm>
          </p:grpSpPr>
          <p:grpSp>
            <p:nvGrpSpPr>
              <p:cNvPr id="9" name="그룹 34">
                <a:extLst>
                  <a:ext uri="{FF2B5EF4-FFF2-40B4-BE49-F238E27FC236}">
                    <a16:creationId xmlns:a16="http://schemas.microsoft.com/office/drawing/2014/main" id="{9556C8C4-1D88-4D7E-901D-27A4331189CB}"/>
                  </a:ext>
                </a:extLst>
              </p:cNvPr>
              <p:cNvGrpSpPr/>
              <p:nvPr/>
            </p:nvGrpSpPr>
            <p:grpSpPr>
              <a:xfrm>
                <a:off x="2896291" y="2504036"/>
                <a:ext cx="484116" cy="360000"/>
                <a:chOff x="5468799" y="3182418"/>
                <a:chExt cx="484116" cy="360000"/>
              </a:xfrm>
            </p:grpSpPr>
            <p:sp>
              <p:nvSpPr>
                <p:cNvPr id="11" name="모서리가 둥근 직사각형 26">
                  <a:extLst>
                    <a:ext uri="{FF2B5EF4-FFF2-40B4-BE49-F238E27FC236}">
                      <a16:creationId xmlns:a16="http://schemas.microsoft.com/office/drawing/2014/main" id="{98591904-BF72-40A7-9631-D359A5D386D9}"/>
                    </a:ext>
                  </a:extLst>
                </p:cNvPr>
                <p:cNvSpPr/>
                <p:nvPr/>
              </p:nvSpPr>
              <p:spPr>
                <a:xfrm>
                  <a:off x="5468799" y="3182418"/>
                  <a:ext cx="265287" cy="3600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766A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  <p:sp>
              <p:nvSpPr>
                <p:cNvPr id="12" name="양쪽 모서리가 둥근 사각형 27">
                  <a:extLst>
                    <a:ext uri="{FF2B5EF4-FFF2-40B4-BE49-F238E27FC236}">
                      <a16:creationId xmlns:a16="http://schemas.microsoft.com/office/drawing/2014/main" id="{C3B1D164-A4BD-4A2C-B94B-DC72AB69F31E}"/>
                    </a:ext>
                  </a:extLst>
                </p:cNvPr>
                <p:cNvSpPr/>
                <p:nvPr/>
              </p:nvSpPr>
              <p:spPr>
                <a:xfrm rot="5400000">
                  <a:off x="5585399" y="3174902"/>
                  <a:ext cx="360000" cy="37503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0C004C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</p:grpSp>
          <p:sp>
            <p:nvSpPr>
              <p:cNvPr id="10" name="이등변 삼각형 9">
                <a:extLst>
                  <a:ext uri="{FF2B5EF4-FFF2-40B4-BE49-F238E27FC236}">
                    <a16:creationId xmlns:a16="http://schemas.microsoft.com/office/drawing/2014/main" id="{FB1B3599-7D4F-4B59-8FCE-14F219D2B19D}"/>
                  </a:ext>
                </a:extLst>
              </p:cNvPr>
              <p:cNvSpPr/>
              <p:nvPr/>
            </p:nvSpPr>
            <p:spPr>
              <a:xfrm rot="5400000">
                <a:off x="2878292" y="2648035"/>
                <a:ext cx="108000" cy="7200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142875" algn="ctr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8325" algn="l"/>
                  </a:tabLst>
                  <a:defRPr/>
                </a:pPr>
                <a:endParaRPr lang="ko-KR" altLang="en-US" sz="1400" dirty="0"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373EF5-159A-4B12-893C-80B74A90C2A1}"/>
                </a:ext>
              </a:extLst>
            </p:cNvPr>
            <p:cNvSpPr txBox="1"/>
            <p:nvPr/>
          </p:nvSpPr>
          <p:spPr>
            <a:xfrm>
              <a:off x="3138365" y="1144781"/>
              <a:ext cx="424314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ko-KR" altLang="en-US" sz="2400" dirty="0">
                  <a:solidFill>
                    <a:schemeClr val="tx2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연구 배경 및 필요성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1E27EFB-0898-4C07-B269-8310504F5833}"/>
                </a:ext>
              </a:extLst>
            </p:cNvPr>
            <p:cNvSpPr txBox="1"/>
            <p:nvPr/>
          </p:nvSpPr>
          <p:spPr>
            <a:xfrm>
              <a:off x="2627816" y="1116743"/>
              <a:ext cx="432444" cy="5539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atinLnBrk="0">
                <a:defRPr/>
              </a:pPr>
              <a:r>
                <a:rPr lang="en-US" altLang="ko-KR" sz="3000" b="1" kern="0" dirty="0">
                  <a:ln w="12700">
                    <a:noFill/>
                    <a:prstDash val="solid"/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rPr>
                <a:t>Ⅰ</a:t>
              </a:r>
              <a:endParaRPr lang="ko-KR" altLang="en-US" sz="3000" b="1" kern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AE3527C-1747-4486-9570-74C9073B94E8}"/>
              </a:ext>
            </a:extLst>
          </p:cNvPr>
          <p:cNvGrpSpPr/>
          <p:nvPr/>
        </p:nvGrpSpPr>
        <p:grpSpPr>
          <a:xfrm>
            <a:off x="1916494" y="1948939"/>
            <a:ext cx="5764466" cy="553998"/>
            <a:chOff x="2544647" y="1116743"/>
            <a:chExt cx="5764466" cy="553998"/>
          </a:xfrm>
        </p:grpSpPr>
        <p:grpSp>
          <p:nvGrpSpPr>
            <p:cNvPr id="45" name="그룹 61">
              <a:extLst>
                <a:ext uri="{FF2B5EF4-FFF2-40B4-BE49-F238E27FC236}">
                  <a16:creationId xmlns:a16="http://schemas.microsoft.com/office/drawing/2014/main" id="{124257F6-1332-44E0-9675-ECD39B78917A}"/>
                </a:ext>
              </a:extLst>
            </p:cNvPr>
            <p:cNvGrpSpPr/>
            <p:nvPr/>
          </p:nvGrpSpPr>
          <p:grpSpPr>
            <a:xfrm>
              <a:off x="2544647" y="1172728"/>
              <a:ext cx="588963" cy="437969"/>
              <a:chOff x="2896291" y="2504036"/>
              <a:chExt cx="484116" cy="360000"/>
            </a:xfrm>
          </p:grpSpPr>
          <p:grpSp>
            <p:nvGrpSpPr>
              <p:cNvPr id="48" name="그룹 34">
                <a:extLst>
                  <a:ext uri="{FF2B5EF4-FFF2-40B4-BE49-F238E27FC236}">
                    <a16:creationId xmlns:a16="http://schemas.microsoft.com/office/drawing/2014/main" id="{0D5F050B-7CB6-4635-B732-DEA79329CE4E}"/>
                  </a:ext>
                </a:extLst>
              </p:cNvPr>
              <p:cNvGrpSpPr/>
              <p:nvPr/>
            </p:nvGrpSpPr>
            <p:grpSpPr>
              <a:xfrm>
                <a:off x="2896291" y="2504036"/>
                <a:ext cx="484116" cy="360000"/>
                <a:chOff x="5468799" y="3182418"/>
                <a:chExt cx="484116" cy="360000"/>
              </a:xfrm>
            </p:grpSpPr>
            <p:sp>
              <p:nvSpPr>
                <p:cNvPr id="50" name="모서리가 둥근 직사각형 26">
                  <a:extLst>
                    <a:ext uri="{FF2B5EF4-FFF2-40B4-BE49-F238E27FC236}">
                      <a16:creationId xmlns:a16="http://schemas.microsoft.com/office/drawing/2014/main" id="{B3E7C59F-435D-45FA-9886-F27DE8EC1812}"/>
                    </a:ext>
                  </a:extLst>
                </p:cNvPr>
                <p:cNvSpPr/>
                <p:nvPr/>
              </p:nvSpPr>
              <p:spPr>
                <a:xfrm>
                  <a:off x="5468799" y="3182418"/>
                  <a:ext cx="265287" cy="3600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766A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  <p:sp>
              <p:nvSpPr>
                <p:cNvPr id="51" name="양쪽 모서리가 둥근 사각형 27">
                  <a:extLst>
                    <a:ext uri="{FF2B5EF4-FFF2-40B4-BE49-F238E27FC236}">
                      <a16:creationId xmlns:a16="http://schemas.microsoft.com/office/drawing/2014/main" id="{2F0EF4E1-F625-4341-9AE4-F58F34EE1248}"/>
                    </a:ext>
                  </a:extLst>
                </p:cNvPr>
                <p:cNvSpPr/>
                <p:nvPr/>
              </p:nvSpPr>
              <p:spPr>
                <a:xfrm rot="5400000">
                  <a:off x="5585399" y="3174902"/>
                  <a:ext cx="360000" cy="37503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0C004C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</p:grpSp>
          <p:sp>
            <p:nvSpPr>
              <p:cNvPr id="49" name="이등변 삼각형 48">
                <a:extLst>
                  <a:ext uri="{FF2B5EF4-FFF2-40B4-BE49-F238E27FC236}">
                    <a16:creationId xmlns:a16="http://schemas.microsoft.com/office/drawing/2014/main" id="{2C5966D8-780B-4123-A948-A9A70D869F13}"/>
                  </a:ext>
                </a:extLst>
              </p:cNvPr>
              <p:cNvSpPr/>
              <p:nvPr/>
            </p:nvSpPr>
            <p:spPr>
              <a:xfrm rot="5400000">
                <a:off x="2878292" y="2648035"/>
                <a:ext cx="108000" cy="7200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142875" algn="ctr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8325" algn="l"/>
                  </a:tabLst>
                  <a:defRPr/>
                </a:pPr>
                <a:endParaRPr lang="ko-KR" altLang="en-US" sz="1400" dirty="0"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DAA34AF-3F5C-410A-82FD-7473A3004F33}"/>
                </a:ext>
              </a:extLst>
            </p:cNvPr>
            <p:cNvSpPr txBox="1"/>
            <p:nvPr/>
          </p:nvSpPr>
          <p:spPr>
            <a:xfrm>
              <a:off x="3138365" y="1144781"/>
              <a:ext cx="5170748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ko-KR" altLang="en-US" sz="2400" dirty="0">
                  <a:solidFill>
                    <a:schemeClr val="tx2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기술적 배경 및 사례 분석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46D1BA2-8BF3-4E39-B5DD-BF6A2B2240A7}"/>
                </a:ext>
              </a:extLst>
            </p:cNvPr>
            <p:cNvSpPr txBox="1"/>
            <p:nvPr/>
          </p:nvSpPr>
          <p:spPr>
            <a:xfrm>
              <a:off x="2627816" y="1116743"/>
              <a:ext cx="432444" cy="5539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atinLnBrk="0">
                <a:defRPr/>
              </a:pPr>
              <a:r>
                <a:rPr lang="en-US" altLang="ko-KR" sz="3000" b="1" kern="0" dirty="0">
                  <a:ln w="12700">
                    <a:noFill/>
                    <a:prstDash val="solid"/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rPr>
                <a:t>Ⅱ</a:t>
              </a:r>
              <a:endParaRPr lang="ko-KR" altLang="en-US" sz="3000" b="1" kern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EBEF3AC-9105-4E22-A879-B3C6FFAA7D1A}"/>
              </a:ext>
            </a:extLst>
          </p:cNvPr>
          <p:cNvGrpSpPr/>
          <p:nvPr/>
        </p:nvGrpSpPr>
        <p:grpSpPr>
          <a:xfrm>
            <a:off x="1916494" y="2828081"/>
            <a:ext cx="6519840" cy="553998"/>
            <a:chOff x="2544647" y="1116743"/>
            <a:chExt cx="6519840" cy="553998"/>
          </a:xfrm>
        </p:grpSpPr>
        <p:grpSp>
          <p:nvGrpSpPr>
            <p:cNvPr id="53" name="그룹 61">
              <a:extLst>
                <a:ext uri="{FF2B5EF4-FFF2-40B4-BE49-F238E27FC236}">
                  <a16:creationId xmlns:a16="http://schemas.microsoft.com/office/drawing/2014/main" id="{7993CC6F-ED8C-424D-9F6F-7C4AED8E66F1}"/>
                </a:ext>
              </a:extLst>
            </p:cNvPr>
            <p:cNvGrpSpPr/>
            <p:nvPr/>
          </p:nvGrpSpPr>
          <p:grpSpPr>
            <a:xfrm>
              <a:off x="2544647" y="1172728"/>
              <a:ext cx="588963" cy="437969"/>
              <a:chOff x="2896291" y="2504036"/>
              <a:chExt cx="484116" cy="360000"/>
            </a:xfrm>
          </p:grpSpPr>
          <p:grpSp>
            <p:nvGrpSpPr>
              <p:cNvPr id="56" name="그룹 34">
                <a:extLst>
                  <a:ext uri="{FF2B5EF4-FFF2-40B4-BE49-F238E27FC236}">
                    <a16:creationId xmlns:a16="http://schemas.microsoft.com/office/drawing/2014/main" id="{E4D5DA4B-895F-424E-867C-B6852B791FA4}"/>
                  </a:ext>
                </a:extLst>
              </p:cNvPr>
              <p:cNvGrpSpPr/>
              <p:nvPr/>
            </p:nvGrpSpPr>
            <p:grpSpPr>
              <a:xfrm>
                <a:off x="2896291" y="2504036"/>
                <a:ext cx="484116" cy="360000"/>
                <a:chOff x="5468799" y="3182418"/>
                <a:chExt cx="484116" cy="360000"/>
              </a:xfrm>
            </p:grpSpPr>
            <p:sp>
              <p:nvSpPr>
                <p:cNvPr id="58" name="모서리가 둥근 직사각형 26">
                  <a:extLst>
                    <a:ext uri="{FF2B5EF4-FFF2-40B4-BE49-F238E27FC236}">
                      <a16:creationId xmlns:a16="http://schemas.microsoft.com/office/drawing/2014/main" id="{4927BFD2-30B4-4E4B-A640-074816FFFA83}"/>
                    </a:ext>
                  </a:extLst>
                </p:cNvPr>
                <p:cNvSpPr/>
                <p:nvPr/>
              </p:nvSpPr>
              <p:spPr>
                <a:xfrm>
                  <a:off x="5468799" y="3182418"/>
                  <a:ext cx="265287" cy="3600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766A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  <p:sp>
              <p:nvSpPr>
                <p:cNvPr id="59" name="양쪽 모서리가 둥근 사각형 27">
                  <a:extLst>
                    <a:ext uri="{FF2B5EF4-FFF2-40B4-BE49-F238E27FC236}">
                      <a16:creationId xmlns:a16="http://schemas.microsoft.com/office/drawing/2014/main" id="{3F10353E-DC1A-4106-8650-B872BCD27F31}"/>
                    </a:ext>
                  </a:extLst>
                </p:cNvPr>
                <p:cNvSpPr/>
                <p:nvPr/>
              </p:nvSpPr>
              <p:spPr>
                <a:xfrm rot="5400000">
                  <a:off x="5585399" y="3174902"/>
                  <a:ext cx="360000" cy="37503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0C004C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</p:grpSp>
          <p:sp>
            <p:nvSpPr>
              <p:cNvPr id="57" name="이등변 삼각형 56">
                <a:extLst>
                  <a:ext uri="{FF2B5EF4-FFF2-40B4-BE49-F238E27FC236}">
                    <a16:creationId xmlns:a16="http://schemas.microsoft.com/office/drawing/2014/main" id="{4CB9C2FF-9938-43E0-9F86-0E4D26318818}"/>
                  </a:ext>
                </a:extLst>
              </p:cNvPr>
              <p:cNvSpPr/>
              <p:nvPr/>
            </p:nvSpPr>
            <p:spPr>
              <a:xfrm rot="5400000">
                <a:off x="2878292" y="2648035"/>
                <a:ext cx="108000" cy="7200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142875" algn="ctr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8325" algn="l"/>
                  </a:tabLst>
                  <a:defRPr/>
                </a:pPr>
                <a:endParaRPr lang="ko-KR" altLang="en-US" sz="1400" dirty="0"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DEBDC87-3911-41DC-9E98-FEA6FABC71BF}"/>
                </a:ext>
              </a:extLst>
            </p:cNvPr>
            <p:cNvSpPr txBox="1"/>
            <p:nvPr/>
          </p:nvSpPr>
          <p:spPr>
            <a:xfrm>
              <a:off x="3138364" y="1144781"/>
              <a:ext cx="5926123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ko-KR" altLang="en-US" sz="2400" dirty="0">
                  <a:solidFill>
                    <a:schemeClr val="tx2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제안 방법론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28CFD7F-7D4F-4E95-AD34-6A00F2BDFFAA}"/>
                </a:ext>
              </a:extLst>
            </p:cNvPr>
            <p:cNvSpPr txBox="1"/>
            <p:nvPr/>
          </p:nvSpPr>
          <p:spPr>
            <a:xfrm>
              <a:off x="2627816" y="1116743"/>
              <a:ext cx="432444" cy="5539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atinLnBrk="0">
                <a:defRPr/>
              </a:pPr>
              <a:r>
                <a:rPr lang="en-US" altLang="ko-KR" sz="3000" b="1" kern="0" dirty="0">
                  <a:ln w="12700">
                    <a:noFill/>
                    <a:prstDash val="solid"/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rPr>
                <a:t>Ⅲ</a:t>
              </a:r>
              <a:endParaRPr lang="ko-KR" altLang="en-US" sz="3000" b="1" kern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309F3EEE-6628-4B22-A645-F6EC0A4E90DA}"/>
              </a:ext>
            </a:extLst>
          </p:cNvPr>
          <p:cNvGrpSpPr/>
          <p:nvPr/>
        </p:nvGrpSpPr>
        <p:grpSpPr>
          <a:xfrm>
            <a:off x="1916494" y="3707223"/>
            <a:ext cx="4836862" cy="553998"/>
            <a:chOff x="2544647" y="1116743"/>
            <a:chExt cx="4836862" cy="553998"/>
          </a:xfrm>
        </p:grpSpPr>
        <p:grpSp>
          <p:nvGrpSpPr>
            <p:cNvPr id="69" name="그룹 61">
              <a:extLst>
                <a:ext uri="{FF2B5EF4-FFF2-40B4-BE49-F238E27FC236}">
                  <a16:creationId xmlns:a16="http://schemas.microsoft.com/office/drawing/2014/main" id="{E6247E49-4B48-4AAB-8B54-BE150C3B4CB3}"/>
                </a:ext>
              </a:extLst>
            </p:cNvPr>
            <p:cNvGrpSpPr/>
            <p:nvPr/>
          </p:nvGrpSpPr>
          <p:grpSpPr>
            <a:xfrm>
              <a:off x="2544647" y="1172728"/>
              <a:ext cx="588963" cy="437969"/>
              <a:chOff x="2896291" y="2504036"/>
              <a:chExt cx="484116" cy="360000"/>
            </a:xfrm>
          </p:grpSpPr>
          <p:grpSp>
            <p:nvGrpSpPr>
              <p:cNvPr id="72" name="그룹 34">
                <a:extLst>
                  <a:ext uri="{FF2B5EF4-FFF2-40B4-BE49-F238E27FC236}">
                    <a16:creationId xmlns:a16="http://schemas.microsoft.com/office/drawing/2014/main" id="{4F6DE66F-445A-455E-8914-8384873C0935}"/>
                  </a:ext>
                </a:extLst>
              </p:cNvPr>
              <p:cNvGrpSpPr/>
              <p:nvPr/>
            </p:nvGrpSpPr>
            <p:grpSpPr>
              <a:xfrm>
                <a:off x="2896291" y="2504036"/>
                <a:ext cx="484116" cy="360000"/>
                <a:chOff x="5468799" y="3182418"/>
                <a:chExt cx="484116" cy="360000"/>
              </a:xfrm>
            </p:grpSpPr>
            <p:sp>
              <p:nvSpPr>
                <p:cNvPr id="74" name="모서리가 둥근 직사각형 26">
                  <a:extLst>
                    <a:ext uri="{FF2B5EF4-FFF2-40B4-BE49-F238E27FC236}">
                      <a16:creationId xmlns:a16="http://schemas.microsoft.com/office/drawing/2014/main" id="{E8936B1A-0879-42DD-BBBC-C688B808F085}"/>
                    </a:ext>
                  </a:extLst>
                </p:cNvPr>
                <p:cNvSpPr/>
                <p:nvPr/>
              </p:nvSpPr>
              <p:spPr>
                <a:xfrm>
                  <a:off x="5468799" y="3182418"/>
                  <a:ext cx="265287" cy="3600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766A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  <p:sp>
              <p:nvSpPr>
                <p:cNvPr id="75" name="양쪽 모서리가 둥근 사각형 27">
                  <a:extLst>
                    <a:ext uri="{FF2B5EF4-FFF2-40B4-BE49-F238E27FC236}">
                      <a16:creationId xmlns:a16="http://schemas.microsoft.com/office/drawing/2014/main" id="{419CEB23-9DD6-4E51-A2FC-A62D730DB3CA}"/>
                    </a:ext>
                  </a:extLst>
                </p:cNvPr>
                <p:cNvSpPr/>
                <p:nvPr/>
              </p:nvSpPr>
              <p:spPr>
                <a:xfrm rot="5400000">
                  <a:off x="5585399" y="3174902"/>
                  <a:ext cx="360000" cy="37503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0C004C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</p:grpSp>
          <p:sp>
            <p:nvSpPr>
              <p:cNvPr id="73" name="이등변 삼각형 72">
                <a:extLst>
                  <a:ext uri="{FF2B5EF4-FFF2-40B4-BE49-F238E27FC236}">
                    <a16:creationId xmlns:a16="http://schemas.microsoft.com/office/drawing/2014/main" id="{CE118C67-9C4E-414A-A567-248CCE6B6EB2}"/>
                  </a:ext>
                </a:extLst>
              </p:cNvPr>
              <p:cNvSpPr/>
              <p:nvPr/>
            </p:nvSpPr>
            <p:spPr>
              <a:xfrm rot="5400000">
                <a:off x="2878292" y="2648035"/>
                <a:ext cx="108000" cy="7200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142875" algn="ctr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8325" algn="l"/>
                  </a:tabLst>
                  <a:defRPr/>
                </a:pPr>
                <a:endParaRPr lang="ko-KR" altLang="en-US" sz="1400" dirty="0"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0604CA1-D73B-41B2-A11C-FA4D7B3DB1D6}"/>
                </a:ext>
              </a:extLst>
            </p:cNvPr>
            <p:cNvSpPr txBox="1"/>
            <p:nvPr/>
          </p:nvSpPr>
          <p:spPr>
            <a:xfrm>
              <a:off x="3138365" y="1144781"/>
              <a:ext cx="424314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ko-KR" altLang="en-US" sz="2400" dirty="0">
                  <a:solidFill>
                    <a:schemeClr val="tx2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시뮬레이션 결과분석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72DF1DA-7589-46BE-8A72-9BF9F88B47B7}"/>
                </a:ext>
              </a:extLst>
            </p:cNvPr>
            <p:cNvSpPr txBox="1"/>
            <p:nvPr/>
          </p:nvSpPr>
          <p:spPr>
            <a:xfrm>
              <a:off x="2627816" y="1116743"/>
              <a:ext cx="432444" cy="5539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atinLnBrk="0">
                <a:defRPr/>
              </a:pPr>
              <a:r>
                <a:rPr lang="en-US" altLang="ko-KR" sz="3000" b="1" kern="0" dirty="0">
                  <a:ln w="12700">
                    <a:noFill/>
                    <a:prstDash val="solid"/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rPr>
                <a:t>Ⅳ</a:t>
              </a:r>
              <a:endParaRPr lang="ko-KR" altLang="en-US" sz="3000" b="1" kern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507B3257-7F52-4923-881E-72F5C5D7446E}"/>
              </a:ext>
            </a:extLst>
          </p:cNvPr>
          <p:cNvGrpSpPr/>
          <p:nvPr/>
        </p:nvGrpSpPr>
        <p:grpSpPr>
          <a:xfrm>
            <a:off x="1916494" y="4586366"/>
            <a:ext cx="4836862" cy="553998"/>
            <a:chOff x="2544647" y="1116743"/>
            <a:chExt cx="4836862" cy="553998"/>
          </a:xfrm>
        </p:grpSpPr>
        <p:grpSp>
          <p:nvGrpSpPr>
            <p:cNvPr id="77" name="그룹 61">
              <a:extLst>
                <a:ext uri="{FF2B5EF4-FFF2-40B4-BE49-F238E27FC236}">
                  <a16:creationId xmlns:a16="http://schemas.microsoft.com/office/drawing/2014/main" id="{00E9310A-7D78-4AFA-9DA9-2B7242792D49}"/>
                </a:ext>
              </a:extLst>
            </p:cNvPr>
            <p:cNvGrpSpPr/>
            <p:nvPr/>
          </p:nvGrpSpPr>
          <p:grpSpPr>
            <a:xfrm>
              <a:off x="2544647" y="1172728"/>
              <a:ext cx="588963" cy="437969"/>
              <a:chOff x="2896291" y="2504036"/>
              <a:chExt cx="484116" cy="360000"/>
            </a:xfrm>
          </p:grpSpPr>
          <p:grpSp>
            <p:nvGrpSpPr>
              <p:cNvPr id="80" name="그룹 34">
                <a:extLst>
                  <a:ext uri="{FF2B5EF4-FFF2-40B4-BE49-F238E27FC236}">
                    <a16:creationId xmlns:a16="http://schemas.microsoft.com/office/drawing/2014/main" id="{7F67BF9D-E5A1-4C1B-AE5B-C37EB99E8C87}"/>
                  </a:ext>
                </a:extLst>
              </p:cNvPr>
              <p:cNvGrpSpPr/>
              <p:nvPr/>
            </p:nvGrpSpPr>
            <p:grpSpPr>
              <a:xfrm>
                <a:off x="2896291" y="2504036"/>
                <a:ext cx="484116" cy="360000"/>
                <a:chOff x="5468799" y="3182418"/>
                <a:chExt cx="484116" cy="360000"/>
              </a:xfrm>
            </p:grpSpPr>
            <p:sp>
              <p:nvSpPr>
                <p:cNvPr id="82" name="모서리가 둥근 직사각형 26">
                  <a:extLst>
                    <a:ext uri="{FF2B5EF4-FFF2-40B4-BE49-F238E27FC236}">
                      <a16:creationId xmlns:a16="http://schemas.microsoft.com/office/drawing/2014/main" id="{C565EA6B-04F7-4007-BC84-DDE23CAC210F}"/>
                    </a:ext>
                  </a:extLst>
                </p:cNvPr>
                <p:cNvSpPr/>
                <p:nvPr/>
              </p:nvSpPr>
              <p:spPr>
                <a:xfrm>
                  <a:off x="5468799" y="3182418"/>
                  <a:ext cx="265287" cy="3600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766A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1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  <p:sp>
              <p:nvSpPr>
                <p:cNvPr id="83" name="양쪽 모서리가 둥근 사각형 27">
                  <a:extLst>
                    <a:ext uri="{FF2B5EF4-FFF2-40B4-BE49-F238E27FC236}">
                      <a16:creationId xmlns:a16="http://schemas.microsoft.com/office/drawing/2014/main" id="{CFE0D7F9-7293-440C-897C-45DBD907077A}"/>
                    </a:ext>
                  </a:extLst>
                </p:cNvPr>
                <p:cNvSpPr/>
                <p:nvPr/>
              </p:nvSpPr>
              <p:spPr>
                <a:xfrm rot="5400000">
                  <a:off x="5585399" y="3174902"/>
                  <a:ext cx="360000" cy="37503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0C004C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contourW="25400">
                    <a:bevelT w="1270"/>
                    <a:contourClr>
                      <a:schemeClr val="bg1"/>
                    </a:contourClr>
                  </a:sp3d>
                </a:bodyPr>
                <a:lstStyle/>
                <a:p>
                  <a:pPr algn="ctr"/>
                  <a:endParaRPr lang="ko-KR" altLang="en-US" sz="14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나눔고딕 ExtraBold" pitchFamily="50" charset="-127"/>
                    <a:ea typeface="나눔고딕 ExtraBold" pitchFamily="50" charset="-127"/>
                  </a:endParaRPr>
                </a:p>
              </p:txBody>
            </p:sp>
          </p:grpSp>
          <p:sp>
            <p:nvSpPr>
              <p:cNvPr id="81" name="이등변 삼각형 80">
                <a:extLst>
                  <a:ext uri="{FF2B5EF4-FFF2-40B4-BE49-F238E27FC236}">
                    <a16:creationId xmlns:a16="http://schemas.microsoft.com/office/drawing/2014/main" id="{EF7FD355-F93D-45F7-8D56-9BE5662DADB9}"/>
                  </a:ext>
                </a:extLst>
              </p:cNvPr>
              <p:cNvSpPr/>
              <p:nvPr/>
            </p:nvSpPr>
            <p:spPr>
              <a:xfrm rot="5400000">
                <a:off x="2878292" y="2648035"/>
                <a:ext cx="108000" cy="7200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142875" algn="ctr">
                  <a:lnSpc>
                    <a:spcPct val="110000"/>
                  </a:lnSpc>
                  <a:buClr>
                    <a:sysClr val="windowText" lastClr="000000"/>
                  </a:buClr>
                  <a:tabLst>
                    <a:tab pos="5648325" algn="l"/>
                  </a:tabLst>
                  <a:defRPr/>
                </a:pPr>
                <a:endParaRPr lang="ko-KR" altLang="en-US" sz="1400" dirty="0">
                  <a:solidFill>
                    <a:prstClr val="white"/>
                  </a:solidFill>
                  <a:latin typeface="나눔고딕 ExtraBold" pitchFamily="50" charset="-127"/>
                  <a:ea typeface="나눔고딕 ExtraBold" pitchFamily="50" charset="-127"/>
                </a:endParaRP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F6E6C7B-7E7D-44EB-91F2-59A73158B626}"/>
                </a:ext>
              </a:extLst>
            </p:cNvPr>
            <p:cNvSpPr txBox="1"/>
            <p:nvPr/>
          </p:nvSpPr>
          <p:spPr>
            <a:xfrm>
              <a:off x="3138365" y="1144781"/>
              <a:ext cx="424314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r>
                <a:rPr lang="ko-KR" altLang="en-US" sz="2400" dirty="0">
                  <a:solidFill>
                    <a:schemeClr val="tx2">
                      <a:lumMod val="7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결론 및 향후 연구 방향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284A528-7BB1-4D45-A521-820981417E36}"/>
                </a:ext>
              </a:extLst>
            </p:cNvPr>
            <p:cNvSpPr txBox="1"/>
            <p:nvPr/>
          </p:nvSpPr>
          <p:spPr>
            <a:xfrm>
              <a:off x="2627816" y="1116743"/>
              <a:ext cx="432444" cy="5539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latinLnBrk="0">
                <a:defRPr/>
              </a:pPr>
              <a:r>
                <a:rPr lang="en-US" altLang="ko-KR" sz="3000" b="1" kern="0" dirty="0">
                  <a:ln w="12700">
                    <a:noFill/>
                    <a:prstDash val="solid"/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rPr>
                <a:t>Ⅴ</a:t>
              </a:r>
              <a:endParaRPr lang="ko-KR" altLang="en-US" sz="3000" b="1" kern="0" dirty="0">
                <a:ln w="12700">
                  <a:noFill/>
                  <a:prstDash val="solid"/>
                </a:ln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340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1F726319-3FB2-4BCC-8086-C1FE6024F4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 r="46195"/>
          <a:stretch/>
        </p:blipFill>
        <p:spPr>
          <a:xfrm flipH="1">
            <a:off x="0" y="0"/>
            <a:ext cx="3927305" cy="5715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89CA3E6-4F4D-4FCD-9243-94E94F527206}"/>
              </a:ext>
            </a:extLst>
          </p:cNvPr>
          <p:cNvSpPr txBox="1"/>
          <p:nvPr/>
        </p:nvSpPr>
        <p:spPr>
          <a:xfrm>
            <a:off x="4572000" y="2565112"/>
            <a:ext cx="344805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배경 및 필요성</a:t>
            </a:r>
          </a:p>
        </p:txBody>
      </p:sp>
    </p:spTree>
    <p:extLst>
      <p:ext uri="{BB962C8B-B14F-4D97-AF65-F5344CB8AC3E}">
        <p14:creationId xmlns:p14="http://schemas.microsoft.com/office/powerpoint/2010/main" val="166711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직사각형 89">
            <a:extLst>
              <a:ext uri="{FF2B5EF4-FFF2-40B4-BE49-F238E27FC236}">
                <a16:creationId xmlns:a16="http://schemas.microsoft.com/office/drawing/2014/main" id="{DFAD036C-6D97-4C08-9718-A3465995C074}"/>
              </a:ext>
            </a:extLst>
          </p:cNvPr>
          <p:cNvSpPr/>
          <p:nvPr/>
        </p:nvSpPr>
        <p:spPr>
          <a:xfrm>
            <a:off x="-8754" y="1246087"/>
            <a:ext cx="9144000" cy="1222704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 배경 및 필요성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AC6D4A2-9D68-4EA8-B973-004D9C8B88CE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에너지 대변환에 따른 전력설비 투자환경 변화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55" name="그림 84">
            <a:extLst>
              <a:ext uri="{FF2B5EF4-FFF2-40B4-BE49-F238E27FC236}">
                <a16:creationId xmlns:a16="http://schemas.microsoft.com/office/drawing/2014/main" id="{C000DED8-EF98-4CB7-8E21-337854CBEE6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292" t="22835" r="-2" b="22835"/>
          <a:stretch>
            <a:fillRect/>
          </a:stretch>
        </p:blipFill>
        <p:spPr bwMode="auto">
          <a:xfrm>
            <a:off x="4048773" y="1180635"/>
            <a:ext cx="182688" cy="99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양쪽 모서리가 둥근 사각형 61">
            <a:extLst>
              <a:ext uri="{FF2B5EF4-FFF2-40B4-BE49-F238E27FC236}">
                <a16:creationId xmlns:a16="http://schemas.microsoft.com/office/drawing/2014/main" id="{DFA28AAD-12E4-4C21-B630-E40347579A5C}"/>
              </a:ext>
            </a:extLst>
          </p:cNvPr>
          <p:cNvSpPr/>
          <p:nvPr/>
        </p:nvSpPr>
        <p:spPr>
          <a:xfrm>
            <a:off x="62841" y="2623197"/>
            <a:ext cx="2931819" cy="282325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325DAB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변전소 변압기 제작연도별 현황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9187190-2BF3-4C3F-84E3-B227489C7058}"/>
              </a:ext>
            </a:extLst>
          </p:cNvPr>
          <p:cNvSpPr/>
          <p:nvPr/>
        </p:nvSpPr>
        <p:spPr>
          <a:xfrm>
            <a:off x="62841" y="2925782"/>
            <a:ext cx="2931819" cy="2525598"/>
          </a:xfrm>
          <a:prstGeom prst="rect">
            <a:avLst/>
          </a:prstGeom>
          <a:solidFill>
            <a:schemeClr val="bg1"/>
          </a:solidFill>
          <a:ln>
            <a:solidFill>
              <a:srgbClr val="038E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9" name="TextBox 184">
            <a:extLst>
              <a:ext uri="{FF2B5EF4-FFF2-40B4-BE49-F238E27FC236}">
                <a16:creationId xmlns:a16="http://schemas.microsoft.com/office/drawing/2014/main" id="{38F6A20E-A415-497E-A5C6-0C769964559F}"/>
              </a:ext>
            </a:extLst>
          </p:cNvPr>
          <p:cNvSpPr txBox="1"/>
          <p:nvPr/>
        </p:nvSpPr>
        <p:spPr>
          <a:xfrm>
            <a:off x="502919" y="2987308"/>
            <a:ext cx="1104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32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초과</a:t>
            </a:r>
          </a:p>
        </p:txBody>
      </p:sp>
      <p:graphicFrame>
        <p:nvGraphicFramePr>
          <p:cNvPr id="70" name="차트 69">
            <a:extLst>
              <a:ext uri="{FF2B5EF4-FFF2-40B4-BE49-F238E27FC236}">
                <a16:creationId xmlns:a16="http://schemas.microsoft.com/office/drawing/2014/main" id="{20472439-7ABA-430F-9800-A1DB1A70A4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9920591"/>
              </p:ext>
            </p:extLst>
          </p:nvPr>
        </p:nvGraphicFramePr>
        <p:xfrm>
          <a:off x="17297" y="3246209"/>
          <a:ext cx="2863064" cy="211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B9A434B-55F5-4FFF-B9C6-CE5C9D90E422}"/>
              </a:ext>
            </a:extLst>
          </p:cNvPr>
          <p:cNvCxnSpPr>
            <a:cxnSpLocks/>
          </p:cNvCxnSpPr>
          <p:nvPr/>
        </p:nvCxnSpPr>
        <p:spPr>
          <a:xfrm>
            <a:off x="658046" y="4904085"/>
            <a:ext cx="20728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81FC0C2-E8B5-4DEC-AA75-F4B0A01A4AAB}"/>
              </a:ext>
            </a:extLst>
          </p:cNvPr>
          <p:cNvSpPr txBox="1"/>
          <p:nvPr/>
        </p:nvSpPr>
        <p:spPr>
          <a:xfrm>
            <a:off x="393686" y="4913394"/>
            <a:ext cx="754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1975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D15D7E-AE91-407F-A695-247AABCD6412}"/>
              </a:ext>
            </a:extLst>
          </p:cNvPr>
          <p:cNvSpPr txBox="1"/>
          <p:nvPr/>
        </p:nvSpPr>
        <p:spPr>
          <a:xfrm>
            <a:off x="2126217" y="4919037"/>
            <a:ext cx="754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2025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F2630AD-DFF7-4143-A7F2-12DCF1548B7E}"/>
              </a:ext>
            </a:extLst>
          </p:cNvPr>
          <p:cNvCxnSpPr>
            <a:cxnSpLocks/>
          </p:cNvCxnSpPr>
          <p:nvPr/>
        </p:nvCxnSpPr>
        <p:spPr>
          <a:xfrm>
            <a:off x="631511" y="3376871"/>
            <a:ext cx="828000" cy="0"/>
          </a:xfrm>
          <a:prstGeom prst="line">
            <a:avLst/>
          </a:prstGeom>
          <a:ln w="127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BF7BF978-CBF2-4560-9FF7-F37C419E8BE5}"/>
              </a:ext>
            </a:extLst>
          </p:cNvPr>
          <p:cNvCxnSpPr>
            <a:cxnSpLocks/>
          </p:cNvCxnSpPr>
          <p:nvPr/>
        </p:nvCxnSpPr>
        <p:spPr>
          <a:xfrm>
            <a:off x="631512" y="3275583"/>
            <a:ext cx="0" cy="1548000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023D4815-965F-4BE2-948A-222C2CEE61D3}"/>
              </a:ext>
            </a:extLst>
          </p:cNvPr>
          <p:cNvCxnSpPr>
            <a:cxnSpLocks/>
          </p:cNvCxnSpPr>
          <p:nvPr/>
        </p:nvCxnSpPr>
        <p:spPr>
          <a:xfrm>
            <a:off x="1471711" y="3275583"/>
            <a:ext cx="0" cy="1368000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자유형 194">
            <a:extLst>
              <a:ext uri="{FF2B5EF4-FFF2-40B4-BE49-F238E27FC236}">
                <a16:creationId xmlns:a16="http://schemas.microsoft.com/office/drawing/2014/main" id="{DBDEFCB2-AF90-4196-A199-2E9ECDCBC765}"/>
              </a:ext>
            </a:extLst>
          </p:cNvPr>
          <p:cNvSpPr/>
          <p:nvPr/>
        </p:nvSpPr>
        <p:spPr>
          <a:xfrm>
            <a:off x="1155802" y="3783488"/>
            <a:ext cx="631818" cy="742226"/>
          </a:xfrm>
          <a:custGeom>
            <a:avLst/>
            <a:gdLst>
              <a:gd name="connsiteX0" fmla="*/ 1980821 w 2326133"/>
              <a:gd name="connsiteY0" fmla="*/ 0 h 2155133"/>
              <a:gd name="connsiteX1" fmla="*/ 2326133 w 2326133"/>
              <a:gd name="connsiteY1" fmla="*/ 438586 h 2155133"/>
              <a:gd name="connsiteX2" fmla="*/ 2133488 w 2326133"/>
              <a:gd name="connsiteY2" fmla="*/ 438586 h 2155133"/>
              <a:gd name="connsiteX3" fmla="*/ 2106703 w 2326133"/>
              <a:gd name="connsiteY3" fmla="*/ 559561 h 2155133"/>
              <a:gd name="connsiteX4" fmla="*/ 915076 w 2326133"/>
              <a:gd name="connsiteY4" fmla="*/ 1830495 h 2155133"/>
              <a:gd name="connsiteX5" fmla="*/ 39436 w 2326133"/>
              <a:gd name="connsiteY5" fmla="*/ 2149046 h 2155133"/>
              <a:gd name="connsiteX6" fmla="*/ 0 w 2326133"/>
              <a:gd name="connsiteY6" fmla="*/ 2155133 h 2155133"/>
              <a:gd name="connsiteX7" fmla="*/ 56660 w 2326133"/>
              <a:gd name="connsiteY7" fmla="*/ 2138560 h 2155133"/>
              <a:gd name="connsiteX8" fmla="*/ 586445 w 2326133"/>
              <a:gd name="connsiteY8" fmla="*/ 1909430 h 2155133"/>
              <a:gd name="connsiteX9" fmla="*/ 1820266 w 2326133"/>
              <a:gd name="connsiteY9" fmla="*/ 447924 h 2155133"/>
              <a:gd name="connsiteX10" fmla="*/ 1820813 w 2326133"/>
              <a:gd name="connsiteY10" fmla="*/ 438586 h 2155133"/>
              <a:gd name="connsiteX11" fmla="*/ 1635509 w 2326133"/>
              <a:gd name="connsiteY11" fmla="*/ 438586 h 215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26133" h="2155133">
                <a:moveTo>
                  <a:pt x="1980821" y="0"/>
                </a:moveTo>
                <a:lnTo>
                  <a:pt x="2326133" y="438586"/>
                </a:lnTo>
                <a:lnTo>
                  <a:pt x="2133488" y="438586"/>
                </a:lnTo>
                <a:lnTo>
                  <a:pt x="2106703" y="559561"/>
                </a:lnTo>
                <a:cubicBezTo>
                  <a:pt x="1965567" y="1010485"/>
                  <a:pt x="1530995" y="1496326"/>
                  <a:pt x="915076" y="1830495"/>
                </a:cubicBezTo>
                <a:cubicBezTo>
                  <a:pt x="621781" y="1989623"/>
                  <a:pt x="322071" y="2095528"/>
                  <a:pt x="39436" y="2149046"/>
                </a:cubicBezTo>
                <a:lnTo>
                  <a:pt x="0" y="2155133"/>
                </a:lnTo>
                <a:lnTo>
                  <a:pt x="56660" y="2138560"/>
                </a:lnTo>
                <a:cubicBezTo>
                  <a:pt x="232182" y="2081224"/>
                  <a:pt x="410468" y="2004906"/>
                  <a:pt x="586445" y="1909430"/>
                </a:cubicBezTo>
                <a:cubicBezTo>
                  <a:pt x="1290353" y="1527522"/>
                  <a:pt x="1757399" y="947513"/>
                  <a:pt x="1820266" y="447924"/>
                </a:cubicBezTo>
                <a:lnTo>
                  <a:pt x="1820813" y="438586"/>
                </a:lnTo>
                <a:lnTo>
                  <a:pt x="1635509" y="438586"/>
                </a:lnTo>
                <a:close/>
              </a:path>
            </a:pathLst>
          </a:cu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CBFA5AC-5F0D-4929-8D3A-FC3D8743738A}"/>
              </a:ext>
            </a:extLst>
          </p:cNvPr>
          <p:cNvSpPr txBox="1"/>
          <p:nvPr/>
        </p:nvSpPr>
        <p:spPr>
          <a:xfrm>
            <a:off x="526269" y="5222548"/>
            <a:ext cx="231418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22194" indent="-122194" algn="r" defTabSz="731990" latinLnBrk="0">
              <a:spcBef>
                <a:spcPts val="616"/>
              </a:spcBef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출처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전력거래소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전력통계정보시스템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2" name="양쪽 모서리가 둥근 사각형 61">
            <a:extLst>
              <a:ext uri="{FF2B5EF4-FFF2-40B4-BE49-F238E27FC236}">
                <a16:creationId xmlns:a16="http://schemas.microsoft.com/office/drawing/2014/main" id="{5F680EB1-858E-4529-852F-C6B557D068F9}"/>
              </a:ext>
            </a:extLst>
          </p:cNvPr>
          <p:cNvSpPr/>
          <p:nvPr/>
        </p:nvSpPr>
        <p:spPr>
          <a:xfrm>
            <a:off x="3125881" y="2623197"/>
            <a:ext cx="2931819" cy="282325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325DAB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변전소 변압기 제작연도별 현황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3FF6428-09FA-4061-92AB-63E8389BE76B}"/>
              </a:ext>
            </a:extLst>
          </p:cNvPr>
          <p:cNvSpPr/>
          <p:nvPr/>
        </p:nvSpPr>
        <p:spPr>
          <a:xfrm>
            <a:off x="3125881" y="2925782"/>
            <a:ext cx="2931819" cy="2525598"/>
          </a:xfrm>
          <a:prstGeom prst="rect">
            <a:avLst/>
          </a:prstGeom>
          <a:solidFill>
            <a:schemeClr val="bg1"/>
          </a:solidFill>
          <a:ln>
            <a:solidFill>
              <a:srgbClr val="038E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4" name="양쪽 모서리가 둥근 사각형 61">
            <a:extLst>
              <a:ext uri="{FF2B5EF4-FFF2-40B4-BE49-F238E27FC236}">
                <a16:creationId xmlns:a16="http://schemas.microsoft.com/office/drawing/2014/main" id="{09C46EC1-8B88-4184-854A-6AA3AF03BB9F}"/>
              </a:ext>
            </a:extLst>
          </p:cNvPr>
          <p:cNvSpPr/>
          <p:nvPr/>
        </p:nvSpPr>
        <p:spPr>
          <a:xfrm>
            <a:off x="6179820" y="2623197"/>
            <a:ext cx="2931819" cy="282325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325DAB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지속적인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전력망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투자 증가 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94DBA72-FE3E-4467-B76A-5BC40640F41D}"/>
              </a:ext>
            </a:extLst>
          </p:cNvPr>
          <p:cNvSpPr/>
          <p:nvPr/>
        </p:nvSpPr>
        <p:spPr>
          <a:xfrm>
            <a:off x="6179820" y="2925782"/>
            <a:ext cx="2931819" cy="2525598"/>
          </a:xfrm>
          <a:prstGeom prst="rect">
            <a:avLst/>
          </a:prstGeom>
          <a:solidFill>
            <a:schemeClr val="bg1"/>
          </a:solidFill>
          <a:ln>
            <a:solidFill>
              <a:srgbClr val="038E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B0C0C4D2-CCB9-4BA6-B722-30741F750DA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9785" r="54326"/>
          <a:stretch/>
        </p:blipFill>
        <p:spPr>
          <a:xfrm>
            <a:off x="6244498" y="3044215"/>
            <a:ext cx="2802461" cy="1974273"/>
          </a:xfrm>
          <a:prstGeom prst="rect">
            <a:avLst/>
          </a:prstGeom>
          <a:ln w="15875">
            <a:noFill/>
          </a:ln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45692F34-75C7-4EBF-8D3C-DF5AA3810E62}"/>
              </a:ext>
            </a:extLst>
          </p:cNvPr>
          <p:cNvSpPr txBox="1"/>
          <p:nvPr/>
        </p:nvSpPr>
        <p:spPr>
          <a:xfrm>
            <a:off x="5392443" y="5018466"/>
            <a:ext cx="3567083" cy="44627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122194" indent="-122194" algn="r" defTabSz="731990" latinLnBrk="0">
              <a:spcBef>
                <a:spcPts val="616"/>
              </a:spcBef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출처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: Net Zero by 2050 –</a:t>
            </a:r>
          </a:p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Medium" panose="00000600000000000000" pitchFamily="2" charset="-127"/>
              </a:rPr>
              <a:t> A Roadmap for the Global Energy Sector</a:t>
            </a: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E3CEA74A-4F8B-4596-B7E6-E6D0BA2DC9D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5326"/>
          <a:stretch/>
        </p:blipFill>
        <p:spPr>
          <a:xfrm>
            <a:off x="3343789" y="2968584"/>
            <a:ext cx="2506721" cy="2253964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3A9F4C89-A33B-4561-8C60-14847E013E47}"/>
              </a:ext>
            </a:extLst>
          </p:cNvPr>
          <p:cNvSpPr txBox="1"/>
          <p:nvPr/>
        </p:nvSpPr>
        <p:spPr>
          <a:xfrm>
            <a:off x="2788731" y="5243031"/>
            <a:ext cx="3163493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122194" indent="-122194" algn="r" defTabSz="731990" latinLnBrk="0">
              <a:spcBef>
                <a:spcPts val="616"/>
              </a:spcBef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출처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에너지경제연구소 원전시장 인사이트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월호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804AE1A-5AE2-4CE9-9EE3-AC14BDA11DCD}"/>
              </a:ext>
            </a:extLst>
          </p:cNvPr>
          <p:cNvSpPr txBox="1"/>
          <p:nvPr/>
        </p:nvSpPr>
        <p:spPr>
          <a:xfrm>
            <a:off x="290831" y="1270812"/>
            <a:ext cx="8432673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9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1970~80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년대 경제성장과 산업화로 인해 전력설비 투자 확대 →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노후교체에 대규모 투자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필요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9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‘IEA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세계 에너지 전망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2030’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2050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 세계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 수요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150%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이상 증가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(2023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대비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285750" indent="-285750">
              <a:lnSpc>
                <a:spcPct val="110000"/>
              </a:lnSpc>
              <a:buBlip>
                <a:blip r:embed="rId9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IEA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탄소 중립을 위해 </a:t>
            </a:r>
            <a:r>
              <a:rPr lang="ko-KR" altLang="en-US" sz="1600" dirty="0" err="1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전력망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투자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3,000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억 달러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수준에서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2030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 까지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연간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6,000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억 달러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수준으로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200%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이상 상승할 것으로 예측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buBlip>
                <a:blip r:embed="rId9"/>
              </a:buBlip>
            </a:pPr>
            <a:endParaRPr lang="ko-KR" altLang="en-US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855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직사각형 89">
            <a:extLst>
              <a:ext uri="{FF2B5EF4-FFF2-40B4-BE49-F238E27FC236}">
                <a16:creationId xmlns:a16="http://schemas.microsoft.com/office/drawing/2014/main" id="{DFAD036C-6D97-4C08-9718-A3465995C074}"/>
              </a:ext>
            </a:extLst>
          </p:cNvPr>
          <p:cNvSpPr/>
          <p:nvPr/>
        </p:nvSpPr>
        <p:spPr>
          <a:xfrm>
            <a:off x="-8754" y="1246087"/>
            <a:ext cx="9144000" cy="721026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 배경 및 필요성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AC6D4A2-9D68-4EA8-B973-004D9C8B88CE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리스크 기반 자산관리 시스템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55" name="그림 84">
            <a:extLst>
              <a:ext uri="{FF2B5EF4-FFF2-40B4-BE49-F238E27FC236}">
                <a16:creationId xmlns:a16="http://schemas.microsoft.com/office/drawing/2014/main" id="{C000DED8-EF98-4CB7-8E21-337854CBEE6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292" t="22835" r="-2" b="22835"/>
          <a:stretch>
            <a:fillRect/>
          </a:stretch>
        </p:blipFill>
        <p:spPr bwMode="auto">
          <a:xfrm>
            <a:off x="4048773" y="1180635"/>
            <a:ext cx="182688" cy="99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8804AE1A-5AE2-4CE9-9EE3-AC14BDA11DCD}"/>
              </a:ext>
            </a:extLst>
          </p:cNvPr>
          <p:cNvSpPr txBox="1"/>
          <p:nvPr/>
        </p:nvSpPr>
        <p:spPr>
          <a:xfrm>
            <a:off x="290831" y="1270812"/>
            <a:ext cx="8432673" cy="665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전력설비의 리스크는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“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고장확률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확률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×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고장영향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금액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)”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곱하는 방식 →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기대비용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으로 정량화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매트릭스를 통해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전력계통의 신뢰도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영향을 주는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자산 식별 및 우선 교체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수행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D522F73B-4E93-4072-A360-D51C6ED711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33" y="1999451"/>
            <a:ext cx="7216752" cy="370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8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직사각형 89">
            <a:extLst>
              <a:ext uri="{FF2B5EF4-FFF2-40B4-BE49-F238E27FC236}">
                <a16:creationId xmlns:a16="http://schemas.microsoft.com/office/drawing/2014/main" id="{DFAD036C-6D97-4C08-9718-A3465995C074}"/>
              </a:ext>
            </a:extLst>
          </p:cNvPr>
          <p:cNvSpPr/>
          <p:nvPr/>
        </p:nvSpPr>
        <p:spPr>
          <a:xfrm>
            <a:off x="-8754" y="1246087"/>
            <a:ext cx="9144000" cy="721026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 배경 및 필요성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AC6D4A2-9D68-4EA8-B973-004D9C8B88CE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리스크 기반 우선순위의 한계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55" name="그림 84">
            <a:extLst>
              <a:ext uri="{FF2B5EF4-FFF2-40B4-BE49-F238E27FC236}">
                <a16:creationId xmlns:a16="http://schemas.microsoft.com/office/drawing/2014/main" id="{C000DED8-EF98-4CB7-8E21-337854CBEE6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292" t="22835" r="-2" b="22835"/>
          <a:stretch>
            <a:fillRect/>
          </a:stretch>
        </p:blipFill>
        <p:spPr bwMode="auto">
          <a:xfrm>
            <a:off x="4048773" y="1180635"/>
            <a:ext cx="182688" cy="99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8804AE1A-5AE2-4CE9-9EE3-AC14BDA11DCD}"/>
              </a:ext>
            </a:extLst>
          </p:cNvPr>
          <p:cNvSpPr txBox="1"/>
          <p:nvPr/>
        </p:nvSpPr>
        <p:spPr>
          <a:xfrm>
            <a:off x="290831" y="1270812"/>
            <a:ext cx="8432673" cy="665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전력설비의 리스크는 고위험 설비를 식별하는데 유용 →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투자계획 수립에는 추가 판단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필요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신뢰도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 목표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(KPI)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 전력설비 운영자 관점에서의 투자 계획 고려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026" name="Picture 2" descr="Generated 1">
            <a:extLst>
              <a:ext uri="{FF2B5EF4-FFF2-40B4-BE49-F238E27FC236}">
                <a16:creationId xmlns:a16="http://schemas.microsoft.com/office/drawing/2014/main" id="{DE4F719E-FF85-46E8-A39A-4606F98FE8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50" b="22736"/>
          <a:stretch/>
        </p:blipFill>
        <p:spPr bwMode="auto">
          <a:xfrm>
            <a:off x="261070" y="2226643"/>
            <a:ext cx="8462434" cy="325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082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직사각형 89">
            <a:extLst>
              <a:ext uri="{FF2B5EF4-FFF2-40B4-BE49-F238E27FC236}">
                <a16:creationId xmlns:a16="http://schemas.microsoft.com/office/drawing/2014/main" id="{DFAD036C-6D97-4C08-9718-A3465995C074}"/>
              </a:ext>
            </a:extLst>
          </p:cNvPr>
          <p:cNvSpPr/>
          <p:nvPr/>
        </p:nvSpPr>
        <p:spPr>
          <a:xfrm>
            <a:off x="-8754" y="1246087"/>
            <a:ext cx="9144000" cy="1059124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연구 배경 및 필요성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AC6D4A2-9D68-4EA8-B973-004D9C8B88CE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다기준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의사결정 기반 최적 투자 계획 필요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55" name="그림 84">
            <a:extLst>
              <a:ext uri="{FF2B5EF4-FFF2-40B4-BE49-F238E27FC236}">
                <a16:creationId xmlns:a16="http://schemas.microsoft.com/office/drawing/2014/main" id="{C000DED8-EF98-4CB7-8E21-337854CBEE6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292" t="22835" r="-2" b="22835"/>
          <a:stretch>
            <a:fillRect/>
          </a:stretch>
        </p:blipFill>
        <p:spPr bwMode="auto">
          <a:xfrm>
            <a:off x="4048773" y="1180635"/>
            <a:ext cx="182688" cy="99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8804AE1A-5AE2-4CE9-9EE3-AC14BDA11DCD}"/>
              </a:ext>
            </a:extLst>
          </p:cNvPr>
          <p:cNvSpPr txBox="1"/>
          <p:nvPr/>
        </p:nvSpPr>
        <p:spPr>
          <a:xfrm>
            <a:off x="290831" y="1270812"/>
            <a:ext cx="8432673" cy="96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투자재원 확보 어려움의 가중으로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비용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효율적인 전력설비 투자 계획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필요 → 경제성 고려</a:t>
            </a:r>
          </a:p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전력회사의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 목표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(SAIDI,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총량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 사고 등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반영 필요</a:t>
            </a:r>
          </a:p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실무 제약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물량 등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제약 하에서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설명 가능한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다년도 투자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포트폴리오 최적화 기술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필요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7CED198-527E-4299-ADF6-B403CFF05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838" y="2485337"/>
            <a:ext cx="8306815" cy="302411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580455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1F726319-3FB2-4BCC-8086-C1FE6024F4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 r="46195"/>
          <a:stretch/>
        </p:blipFill>
        <p:spPr>
          <a:xfrm flipH="1">
            <a:off x="0" y="0"/>
            <a:ext cx="3927305" cy="5715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89CA3E6-4F4D-4FCD-9243-94E94F527206}"/>
              </a:ext>
            </a:extLst>
          </p:cNvPr>
          <p:cNvSpPr txBox="1"/>
          <p:nvPr/>
        </p:nvSpPr>
        <p:spPr>
          <a:xfrm>
            <a:off x="4571999" y="2565112"/>
            <a:ext cx="416675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기술적 배경 및 사례분석</a:t>
            </a:r>
          </a:p>
        </p:txBody>
      </p:sp>
    </p:spTree>
    <p:extLst>
      <p:ext uri="{BB962C8B-B14F-4D97-AF65-F5344CB8AC3E}">
        <p14:creationId xmlns:p14="http://schemas.microsoft.com/office/powerpoint/2010/main" val="864750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FE09B3DB-EEA4-4952-AB16-A7A8DA56BBA0}"/>
              </a:ext>
            </a:extLst>
          </p:cNvPr>
          <p:cNvSpPr/>
          <p:nvPr/>
        </p:nvSpPr>
        <p:spPr>
          <a:xfrm>
            <a:off x="-8754" y="1246087"/>
            <a:ext cx="9144000" cy="1051440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기술적 배경 및 사례분석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595F8DFF-D1B7-41E0-AB8F-E9EC9A78CEA4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자산관리 패러다임 변화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97E026-0A42-4A30-821C-732052A8A5D4}"/>
              </a:ext>
            </a:extLst>
          </p:cNvPr>
          <p:cNvSpPr txBox="1"/>
          <p:nvPr/>
        </p:nvSpPr>
        <p:spPr>
          <a:xfrm>
            <a:off x="346909" y="1289817"/>
            <a:ext cx="8432673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전력설비 자산관리는 사후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상태 기반 자산관리에서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기반 자산관리 시스템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으로 발전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PAS 55·ISO 55000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등 표준은 자산 생애주기 동안의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비용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성능의 균형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요구</a:t>
            </a: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최근 자산관리는 설비 리스크 기반 자산관리 시스템을 넘어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자산투자계획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(AIP)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의사결정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으로 확장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44A903-E5BA-4AA5-A43A-CFAAB51DC80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5" b="17651"/>
          <a:stretch/>
        </p:blipFill>
        <p:spPr>
          <a:xfrm>
            <a:off x="0" y="2481942"/>
            <a:ext cx="9144000" cy="291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6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5558CF-2696-458F-8123-22216273D343}"/>
              </a:ext>
            </a:extLst>
          </p:cNvPr>
          <p:cNvSpPr/>
          <p:nvPr/>
        </p:nvSpPr>
        <p:spPr>
          <a:xfrm>
            <a:off x="-8754" y="1246086"/>
            <a:ext cx="9144000" cy="478075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32F264-7B6D-4C27-B13F-93AEED74C4CC}"/>
              </a:ext>
            </a:extLst>
          </p:cNvPr>
          <p:cNvSpPr txBox="1"/>
          <p:nvPr/>
        </p:nvSpPr>
        <p:spPr>
          <a:xfrm>
            <a:off x="346909" y="1312869"/>
            <a:ext cx="8432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3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북미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유럽 전력회사를 중심으로 리스크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 자산관리를 도입 중이며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전 세계로 확대 추세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4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RBM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도입 해외 전력회사 사례 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30EAAC6-A1E2-4C07-AB46-4BE14793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771"/>
            <a:ext cx="9144000" cy="478074"/>
          </a:xfrm>
        </p:spPr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기술적 배경 및 사례분석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752374D-4D25-4139-AF21-55C586015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95" y="1718206"/>
            <a:ext cx="8844499" cy="393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0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FE09B3DB-EEA4-4952-AB16-A7A8DA56BBA0}"/>
              </a:ext>
            </a:extLst>
          </p:cNvPr>
          <p:cNvSpPr/>
          <p:nvPr/>
        </p:nvSpPr>
        <p:spPr>
          <a:xfrm>
            <a:off x="-8754" y="1246087"/>
            <a:ext cx="9144000" cy="1051440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기술적 배경 및 사례분석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595F8DFF-D1B7-41E0-AB8F-E9EC9A78CEA4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선행연구 검토 및 본 연구와의 차이점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97E026-0A42-4A30-821C-732052A8A5D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국내외 전력 유틸리티는 전력설비의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평가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기반으로 전력계통 자산을 </a:t>
            </a: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균형있게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관리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AIP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벤더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(IBM, GE, Copperleaf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</a:t>
            </a: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설비별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 평가 모델과 투자 프레임워크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제공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 연구는 리스크와 자산 정보를 활용하여 투자가치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다기준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우선순위 지수 기반 최적화를 제안함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30DA396-8BD5-4D71-977E-D7F68B17D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4" y="2287141"/>
            <a:ext cx="9144000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88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1F726319-3FB2-4BCC-8086-C1FE6024F4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 r="46195"/>
          <a:stretch/>
        </p:blipFill>
        <p:spPr>
          <a:xfrm flipH="1">
            <a:off x="0" y="0"/>
            <a:ext cx="3927305" cy="5715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89CA3E6-4F4D-4FCD-9243-94E94F527206}"/>
              </a:ext>
            </a:extLst>
          </p:cNvPr>
          <p:cNvSpPr txBox="1"/>
          <p:nvPr/>
        </p:nvSpPr>
        <p:spPr>
          <a:xfrm>
            <a:off x="4124324" y="2318891"/>
            <a:ext cx="4838701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algn="ctr"/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 방법론</a:t>
            </a:r>
          </a:p>
        </p:txBody>
      </p:sp>
    </p:spTree>
    <p:extLst>
      <p:ext uri="{BB962C8B-B14F-4D97-AF65-F5344CB8AC3E}">
        <p14:creationId xmlns:p14="http://schemas.microsoft.com/office/powerpoint/2010/main" val="768579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 방법론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다기준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투자우선순위 지수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(PI)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기반 포트폴리오 최적화 프레임워크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5"/>
            <a:ext cx="9144000" cy="980308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CEDD3BB-6114-404F-A8B7-2AFB14A374C8}"/>
              </a:ext>
            </a:extLst>
          </p:cNvPr>
          <p:cNvGrpSpPr/>
          <p:nvPr/>
        </p:nvGrpSpPr>
        <p:grpSpPr>
          <a:xfrm>
            <a:off x="183346" y="2226393"/>
            <a:ext cx="8951900" cy="3488608"/>
            <a:chOff x="0" y="2151529"/>
            <a:chExt cx="9144000" cy="356347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DC1241E-F08E-4C2D-BB6F-B9FCEA5273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10" b="9368"/>
            <a:stretch/>
          </p:blipFill>
          <p:spPr>
            <a:xfrm>
              <a:off x="0" y="2151529"/>
              <a:ext cx="9144000" cy="356347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710752C-3625-422A-905F-19A318250F01}"/>
                </a:ext>
              </a:extLst>
            </p:cNvPr>
            <p:cNvSpPr/>
            <p:nvPr/>
          </p:nvSpPr>
          <p:spPr>
            <a:xfrm>
              <a:off x="2251421" y="4739612"/>
              <a:ext cx="1075766" cy="258852"/>
            </a:xfrm>
            <a:prstGeom prst="rect">
              <a:avLst/>
            </a:prstGeom>
            <a:solidFill>
              <a:srgbClr val="E6F1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A5169AFC-F794-4D92-AB4C-84DB890AD427}"/>
                </a:ext>
              </a:extLst>
            </p:cNvPr>
            <p:cNvSpPr/>
            <p:nvPr/>
          </p:nvSpPr>
          <p:spPr>
            <a:xfrm>
              <a:off x="4034117" y="4739612"/>
              <a:ext cx="1075766" cy="258852"/>
            </a:xfrm>
            <a:prstGeom prst="rect">
              <a:avLst/>
            </a:prstGeom>
            <a:solidFill>
              <a:srgbClr val="E6F1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E1EBDDAB-F252-4DCB-A39A-DC2D3DB74309}"/>
                </a:ext>
              </a:extLst>
            </p:cNvPr>
            <p:cNvSpPr/>
            <p:nvPr/>
          </p:nvSpPr>
          <p:spPr>
            <a:xfrm>
              <a:off x="5816813" y="4739612"/>
              <a:ext cx="1075766" cy="258852"/>
            </a:xfrm>
            <a:prstGeom prst="rect">
              <a:avLst/>
            </a:prstGeom>
            <a:solidFill>
              <a:srgbClr val="1739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B2EB149-50AF-4710-A9DB-4D58586568F7}"/>
                </a:ext>
              </a:extLst>
            </p:cNvPr>
            <p:cNvSpPr/>
            <p:nvPr/>
          </p:nvSpPr>
          <p:spPr>
            <a:xfrm>
              <a:off x="468725" y="4739612"/>
              <a:ext cx="1175658" cy="258852"/>
            </a:xfrm>
            <a:prstGeom prst="rect">
              <a:avLst/>
            </a:prstGeom>
            <a:solidFill>
              <a:srgbClr val="F0F1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9FBE14D5-84FC-4C81-8F46-C1B499103D01}"/>
                </a:ext>
              </a:extLst>
            </p:cNvPr>
            <p:cNvSpPr/>
            <p:nvPr/>
          </p:nvSpPr>
          <p:spPr>
            <a:xfrm>
              <a:off x="3154296" y="5366587"/>
              <a:ext cx="172891" cy="2588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5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전문가 판단을 </a:t>
            </a:r>
            <a:r>
              <a:rPr lang="en-US" altLang="ko-KR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AHP·Fuzzy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절차로 </a:t>
            </a: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정량화하여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 err="1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다기준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투자우선순위 지수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(PI)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산정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5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 단위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설비유형 가중치와 결합하여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시스템 관점의 통합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확장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5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통합형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ILP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통해 예산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물량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·KPI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제약을 반영한 투자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포트폴리오 최적화 프레임워크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도출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92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 방법론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투자효과 지표 산정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66601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622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전력설비 운영자 관점에서의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투자효과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정의 →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신뢰도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안전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에서 정량화 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 연구에서는 경제성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투자효율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신뢰도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(SAIDI/</a:t>
            </a: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고장률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고장영향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적용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B20616-CD8D-4B93-81DA-7E0A323DDB7F}"/>
              </a:ext>
            </a:extLst>
          </p:cNvPr>
          <p:cNvSpPr/>
          <p:nvPr/>
        </p:nvSpPr>
        <p:spPr>
          <a:xfrm>
            <a:off x="195420" y="2132927"/>
            <a:ext cx="2810178" cy="33614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573D7A-A62A-4429-BED6-3C3BE65B30E1}"/>
              </a:ext>
            </a:extLst>
          </p:cNvPr>
          <p:cNvSpPr/>
          <p:nvPr/>
        </p:nvSpPr>
        <p:spPr>
          <a:xfrm>
            <a:off x="3142500" y="2132927"/>
            <a:ext cx="2810178" cy="33614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F1E427-B98E-4998-ADF3-7D1FA6E995A5}"/>
              </a:ext>
            </a:extLst>
          </p:cNvPr>
          <p:cNvSpPr/>
          <p:nvPr/>
        </p:nvSpPr>
        <p:spPr>
          <a:xfrm>
            <a:off x="6089298" y="2132927"/>
            <a:ext cx="2810178" cy="33614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057B11-0073-4080-8339-A0F0EEDDFB5C}"/>
              </a:ext>
            </a:extLst>
          </p:cNvPr>
          <p:cNvSpPr txBox="1"/>
          <p:nvPr/>
        </p:nvSpPr>
        <p:spPr>
          <a:xfrm>
            <a:off x="195138" y="2409598"/>
            <a:ext cx="2807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</a:t>
            </a: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투자효율</a:t>
            </a:r>
            <a:endParaRPr lang="en-US" altLang="ko-KR" sz="14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양쪽 모서리가 둥근 사각형 32">
            <a:extLst>
              <a:ext uri="{FF2B5EF4-FFF2-40B4-BE49-F238E27FC236}">
                <a16:creationId xmlns:a16="http://schemas.microsoft.com/office/drawing/2014/main" id="{E8F1065B-8DC9-4C47-A0DF-4CEC9AC6B490}"/>
              </a:ext>
            </a:extLst>
          </p:cNvPr>
          <p:cNvSpPr/>
          <p:nvPr/>
        </p:nvSpPr>
        <p:spPr>
          <a:xfrm>
            <a:off x="198030" y="2021197"/>
            <a:ext cx="2807850" cy="321618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</a:t>
            </a:r>
          </a:p>
        </p:txBody>
      </p:sp>
      <p:sp>
        <p:nvSpPr>
          <p:cNvPr id="17" name="양쪽 모서리가 둥근 사각형 32">
            <a:extLst>
              <a:ext uri="{FF2B5EF4-FFF2-40B4-BE49-F238E27FC236}">
                <a16:creationId xmlns:a16="http://schemas.microsoft.com/office/drawing/2014/main" id="{BE11651B-4BBB-4B4D-9F8D-A92B9CC139A1}"/>
              </a:ext>
            </a:extLst>
          </p:cNvPr>
          <p:cNvSpPr/>
          <p:nvPr/>
        </p:nvSpPr>
        <p:spPr>
          <a:xfrm>
            <a:off x="3145110" y="2021197"/>
            <a:ext cx="2807850" cy="321618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신뢰도</a:t>
            </a:r>
          </a:p>
        </p:txBody>
      </p:sp>
      <p:sp>
        <p:nvSpPr>
          <p:cNvPr id="18" name="양쪽 모서리가 둥근 사각형 32">
            <a:extLst>
              <a:ext uri="{FF2B5EF4-FFF2-40B4-BE49-F238E27FC236}">
                <a16:creationId xmlns:a16="http://schemas.microsoft.com/office/drawing/2014/main" id="{516B950F-F7D6-4559-A2D4-DE45DDB21857}"/>
              </a:ext>
            </a:extLst>
          </p:cNvPr>
          <p:cNvSpPr/>
          <p:nvPr/>
        </p:nvSpPr>
        <p:spPr>
          <a:xfrm>
            <a:off x="6091908" y="2021197"/>
            <a:ext cx="2807850" cy="321618"/>
          </a:xfrm>
          <a:prstGeom prst="round2SameRect">
            <a:avLst>
              <a:gd name="adj1" fmla="val 8153"/>
              <a:gd name="adj2" fmla="val 0"/>
            </a:avLst>
          </a:prstGeom>
          <a:gradFill flip="none" rotWithShape="1">
            <a:gsLst>
              <a:gs pos="100000">
                <a:schemeClr val="tx2">
                  <a:lumMod val="50000"/>
                </a:schemeClr>
              </a:gs>
              <a:gs pos="0">
                <a:srgbClr val="2F5AA8"/>
              </a:gs>
              <a:gs pos="52000">
                <a:schemeClr val="tx2">
                  <a:lumMod val="75000"/>
                </a:schemeClr>
              </a:gs>
            </a:gsLst>
            <a:lin ang="10800000" scaled="1"/>
            <a:tileRect/>
          </a:gra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안전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5D05C-44CC-44E0-A19B-A77571F0ECF5}"/>
              </a:ext>
            </a:extLst>
          </p:cNvPr>
          <p:cNvSpPr txBox="1"/>
          <p:nvPr/>
        </p:nvSpPr>
        <p:spPr>
          <a:xfrm>
            <a:off x="3144828" y="2409598"/>
            <a:ext cx="2807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SAIDI 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및 </a:t>
            </a:r>
            <a:r>
              <a:rPr lang="ko-KR" altLang="en-US" sz="14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고장률</a:t>
            </a:r>
            <a:endParaRPr lang="en-US" altLang="ko-KR" sz="14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9AE843-5A00-45B9-8B90-90475D3AF605}"/>
              </a:ext>
            </a:extLst>
          </p:cNvPr>
          <p:cNvSpPr txBox="1"/>
          <p:nvPr/>
        </p:nvSpPr>
        <p:spPr>
          <a:xfrm>
            <a:off x="6089016" y="2409598"/>
            <a:ext cx="2807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4"/>
              </a:buBlip>
            </a:pP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안전영향 </a:t>
            </a: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 </a:t>
            </a:r>
            <a:r>
              <a:rPr lang="ko-KR" altLang="en-US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환경영향</a:t>
            </a:r>
            <a:endParaRPr lang="en-US" altLang="ko-KR" sz="14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3A6DA7-9A14-4AAD-A638-F904D82C8EA6}"/>
              </a:ext>
            </a:extLst>
          </p:cNvPr>
          <p:cNvSpPr txBox="1"/>
          <p:nvPr/>
        </p:nvSpPr>
        <p:spPr>
          <a:xfrm>
            <a:off x="346909" y="2703611"/>
            <a:ext cx="265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 설비와 교체 후 신규 설비의 리스크 차이를 의미하며</a:t>
            </a:r>
            <a:r>
              <a:rPr lang="en-US" altLang="ko-KR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 교체를 통해 얻을 수 있는 리스크 비용 저감 효과</a:t>
            </a:r>
            <a:endParaRPr lang="en-US" altLang="ko-KR" sz="12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42E0807-C2E2-44AC-8FFE-C241ADB89BAC}"/>
                  </a:ext>
                </a:extLst>
              </p:cNvPr>
              <p:cNvSpPr txBox="1"/>
              <p:nvPr/>
            </p:nvSpPr>
            <p:spPr>
              <a:xfrm>
                <a:off x="3243439" y="3518190"/>
                <a:ext cx="2598329" cy="5835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1200" b="1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•  </a:t>
                </a:r>
                <a:r>
                  <a:rPr lang="ko-KR" altLang="en-US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호당 평균 정전시간</a:t>
                </a:r>
                <a:r>
                  <a:rPr lang="en-US" altLang="ko-KR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(SAIDI)</a:t>
                </a:r>
              </a:p>
              <a:p>
                <a:endParaRPr lang="en-US" altLang="ko-KR" sz="4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  <a:p>
                <a:r>
                  <a:rPr lang="en-US" altLang="ko-KR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20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전체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고객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정전시간</m:t>
                        </m:r>
                      </m:num>
                      <m:den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전체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고객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수</m:t>
                        </m:r>
                      </m:den>
                    </m:f>
                  </m:oMath>
                </a14:m>
                <a:endParaRPr lang="ko-KR" altLang="en-US" sz="12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42E0807-C2E2-44AC-8FFE-C241ADB89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439" y="3518190"/>
                <a:ext cx="2598329" cy="583558"/>
              </a:xfrm>
              <a:prstGeom prst="rect">
                <a:avLst/>
              </a:prstGeom>
              <a:blipFill>
                <a:blip r:embed="rId5"/>
                <a:stretch>
                  <a:fillRect l="-3521" t="-8333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F7CAAD-3D8A-4CF6-A78F-FB9C4583E3BC}"/>
                  </a:ext>
                </a:extLst>
              </p:cNvPr>
              <p:cNvSpPr txBox="1"/>
              <p:nvPr/>
            </p:nvSpPr>
            <p:spPr>
              <a:xfrm>
                <a:off x="3243439" y="4719226"/>
                <a:ext cx="259832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1200" b="1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•  </a:t>
                </a:r>
                <a:r>
                  <a:rPr lang="ko-KR" altLang="en-US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연간 예상 고장 대수</a:t>
                </a:r>
                <a:r>
                  <a:rPr lang="en-US" altLang="ko-KR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 </a:t>
                </a:r>
                <a:endParaRPr lang="en-US" altLang="ko-KR" sz="120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ko-KR" altLang="en-US" sz="1200" i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설비별</m:t>
                        </m:r>
                        <m:r>
                          <m:rPr>
                            <m:nor/>
                          </m:rPr>
                          <a:rPr lang="en-US" altLang="ko-KR" sz="1200" b="0" i="0" smtClean="0">
                            <a:latin typeface="KoPub돋움체 Medium" panose="00000600000000000000" pitchFamily="2" charset="-127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연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간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고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장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확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  <a:ea typeface="KoPub돋움체 Medium" panose="00000600000000000000" pitchFamily="2" charset="-127"/>
                          </a:rPr>
                          <m:t>률</m:t>
                        </m:r>
                      </m:e>
                    </m:nary>
                  </m:oMath>
                </a14:m>
                <a:r>
                  <a:rPr lang="en-US" altLang="ko-KR" sz="12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(Hazard Rate) </a:t>
                </a:r>
                <a:endParaRPr lang="ko-KR" altLang="en-US" sz="12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F7CAAD-3D8A-4CF6-A78F-FB9C4583E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439" y="4719226"/>
                <a:ext cx="2598329" cy="369332"/>
              </a:xfrm>
              <a:prstGeom prst="rect">
                <a:avLst/>
              </a:prstGeom>
              <a:blipFill>
                <a:blip r:embed="rId6"/>
                <a:stretch>
                  <a:fillRect l="-3521" t="-36066" r="-3756" b="-1295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4EE4C6-1290-4785-BBC7-FE31DDC522FA}"/>
                  </a:ext>
                </a:extLst>
              </p:cNvPr>
              <p:cNvSpPr txBox="1"/>
              <p:nvPr/>
            </p:nvSpPr>
            <p:spPr>
              <a:xfrm>
                <a:off x="3272835" y="4170711"/>
                <a:ext cx="2598329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200" b="0" i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KoPub돋움체 Medium" panose="00000600000000000000" pitchFamily="2" charset="-127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KoPub돋움체 Medium" panose="00000600000000000000" pitchFamily="2" charset="-127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장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확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률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×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정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전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시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간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×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연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결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b="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객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b="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수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전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체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b="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객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b="0" i="0" smtClean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ko-KR" altLang="en-US" sz="1200" i="0">
                                  <a:latin typeface="KoPub돋움체 Medium" panose="00000600000000000000" pitchFamily="2" charset="-127"/>
                                  <a:ea typeface="KoPub돋움체 Medium" panose="00000600000000000000" pitchFamily="2" charset="-127"/>
                                </a:rPr>
                                <m:t>수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12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4EE4C6-1290-4785-BBC7-FE31DDC52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835" y="4170711"/>
                <a:ext cx="2598329" cy="462627"/>
              </a:xfrm>
              <a:prstGeom prst="rect">
                <a:avLst/>
              </a:prstGeom>
              <a:blipFill>
                <a:blip r:embed="rId7"/>
                <a:stretch>
                  <a:fillRect l="-18310" t="-143421" b="-20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A0EA13C-EA41-48B9-B5F1-24318735A017}"/>
              </a:ext>
            </a:extLst>
          </p:cNvPr>
          <p:cNvSpPr txBox="1"/>
          <p:nvPr/>
        </p:nvSpPr>
        <p:spPr>
          <a:xfrm>
            <a:off x="3266303" y="2703611"/>
            <a:ext cx="279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 고장으로 인해 발생하는 정전 관점의 신뢰도 지표로</a:t>
            </a:r>
            <a:r>
              <a:rPr lang="en-US" altLang="ko-KR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 교체가 신뢰도 개선에 미치는 효과를 정량화</a:t>
            </a:r>
            <a:endParaRPr lang="en-US" altLang="ko-KR" sz="12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2E1E5B-998E-4F80-B237-1D25FBAC4432}"/>
              </a:ext>
            </a:extLst>
          </p:cNvPr>
          <p:cNvSpPr txBox="1"/>
          <p:nvPr/>
        </p:nvSpPr>
        <p:spPr>
          <a:xfrm>
            <a:off x="6241676" y="2703611"/>
            <a:ext cx="2544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전력설비 유틸리티의 운영 목표 중 하나로 안전 및 환경 사고로 인한 영향을 금액으로 정량화</a:t>
            </a:r>
            <a:endParaRPr lang="en-US" altLang="ko-KR" sz="12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30" name="Picture 5">
            <a:extLst>
              <a:ext uri="{FF2B5EF4-FFF2-40B4-BE49-F238E27FC236}">
                <a16:creationId xmlns:a16="http://schemas.microsoft.com/office/drawing/2014/main" id="{57273929-C15B-48EF-ADFC-8DF04AB85A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677" y="3518190"/>
            <a:ext cx="2765891" cy="182455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098" name="Picture 2" descr="Generated image 2">
            <a:extLst>
              <a:ext uri="{FF2B5EF4-FFF2-40B4-BE49-F238E27FC236}">
                <a16:creationId xmlns:a16="http://schemas.microsoft.com/office/drawing/2014/main" id="{55BB0037-E2E1-4BAB-9DE0-C5200ECC3B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8" r="9903" b="50710"/>
          <a:stretch/>
        </p:blipFill>
        <p:spPr bwMode="auto">
          <a:xfrm>
            <a:off x="6593284" y="3334042"/>
            <a:ext cx="2002076" cy="171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F991236-0566-45A2-8594-745CE988156D}"/>
              </a:ext>
            </a:extLst>
          </p:cNvPr>
          <p:cNvSpPr txBox="1"/>
          <p:nvPr/>
        </p:nvSpPr>
        <p:spPr>
          <a:xfrm>
            <a:off x="6191744" y="5136494"/>
            <a:ext cx="259832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2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기대영향 </a:t>
            </a:r>
            <a:r>
              <a:rPr lang="en-US" altLang="ko-KR" sz="12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= </a:t>
            </a:r>
            <a:r>
              <a:rPr lang="ko-KR" altLang="en-US" sz="12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고장확률 </a:t>
            </a:r>
            <a:r>
              <a:rPr lang="en-US" altLang="ko-KR" sz="12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× </a:t>
            </a:r>
            <a:r>
              <a:rPr lang="ko-KR" altLang="en-US" sz="12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영향비용</a:t>
            </a:r>
            <a:endParaRPr lang="ko-KR" altLang="en-US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2859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 방법론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AHP·Fuzzy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기반 </a:t>
            </a:r>
            <a:r>
              <a:rPr lang="ko-KR" altLang="en-US" b="1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다기준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가중치 산정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66601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622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전문가 설문 기반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AHP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쌍대비교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평가기준의 가중치 산정 → 전문가 참여형 의사결정 구조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언어적 판단의 모호성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보정하기 위해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Fuzzy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척도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활용한 절대영향도 모델 적용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BD21CA8-E577-4FBE-B14D-B069CD968F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5" t="16406" r="61499" b="7149"/>
          <a:stretch/>
        </p:blipFill>
        <p:spPr>
          <a:xfrm>
            <a:off x="573100" y="1999735"/>
            <a:ext cx="2886379" cy="3545365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C9929A0-CD7B-4565-A976-B6D269C12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19810"/>
              </p:ext>
            </p:extLst>
          </p:nvPr>
        </p:nvGraphicFramePr>
        <p:xfrm>
          <a:off x="3620389" y="2249655"/>
          <a:ext cx="5195951" cy="3018282"/>
        </p:xfrm>
        <a:graphic>
          <a:graphicData uri="http://schemas.openxmlformats.org/drawingml/2006/table">
            <a:tbl>
              <a:tblPr/>
              <a:tblGrid>
                <a:gridCol w="1067943">
                  <a:extLst>
                    <a:ext uri="{9D8B030D-6E8A-4147-A177-3AD203B41FA5}">
                      <a16:colId xmlns:a16="http://schemas.microsoft.com/office/drawing/2014/main" val="380249130"/>
                    </a:ext>
                  </a:extLst>
                </a:gridCol>
                <a:gridCol w="1032002">
                  <a:extLst>
                    <a:ext uri="{9D8B030D-6E8A-4147-A177-3AD203B41FA5}">
                      <a16:colId xmlns:a16="http://schemas.microsoft.com/office/drawing/2014/main" val="2111496891"/>
                    </a:ext>
                  </a:extLst>
                </a:gridCol>
                <a:gridCol w="1032002">
                  <a:extLst>
                    <a:ext uri="{9D8B030D-6E8A-4147-A177-3AD203B41FA5}">
                      <a16:colId xmlns:a16="http://schemas.microsoft.com/office/drawing/2014/main" val="2718894248"/>
                    </a:ext>
                  </a:extLst>
                </a:gridCol>
                <a:gridCol w="1032002">
                  <a:extLst>
                    <a:ext uri="{9D8B030D-6E8A-4147-A177-3AD203B41FA5}">
                      <a16:colId xmlns:a16="http://schemas.microsoft.com/office/drawing/2014/main" val="1461283640"/>
                    </a:ext>
                  </a:extLst>
                </a:gridCol>
                <a:gridCol w="1032002">
                  <a:extLst>
                    <a:ext uri="{9D8B030D-6E8A-4147-A177-3AD203B41FA5}">
                      <a16:colId xmlns:a16="http://schemas.microsoft.com/office/drawing/2014/main" val="1234874771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하위지표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AHP </a:t>
                      </a:r>
                      <a:r>
                        <a:rPr lang="ko-KR" altLang="en-US" sz="14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가중치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절대영향도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Fuzzy </a:t>
                      </a:r>
                      <a:r>
                        <a:rPr lang="ko-KR" altLang="en-US" sz="14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절대영향도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Fuzzy </a:t>
                      </a:r>
                      <a:r>
                        <a:rPr lang="ko-KR" altLang="en-US" sz="14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보정가중치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036830"/>
                  </a:ext>
                </a:extLst>
              </a:tr>
              <a:tr h="4259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0.2251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4.75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0.7917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0.2407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535822"/>
                  </a:ext>
                </a:extLst>
              </a:tr>
              <a:tr h="4259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투자효율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0.1290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3.95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0.6583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0.1147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459310"/>
                  </a:ext>
                </a:extLst>
              </a:tr>
              <a:tr h="4259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 </a:t>
                      </a:r>
                      <a:r>
                        <a:rPr lang="ko-KR" alt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저감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0.2038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4.95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0.8250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0.2271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482431"/>
                  </a:ext>
                </a:extLst>
              </a:tr>
              <a:tr h="4259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고장률</a:t>
                      </a:r>
                      <a:r>
                        <a:rPr lang="ko-KR" alt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저감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0.0579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3.15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0.5250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0.0411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20807"/>
                  </a:ext>
                </a:extLst>
              </a:tr>
              <a:tr h="4259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 영향 저감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0.2633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4.95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0.8250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0.2934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138735"/>
                  </a:ext>
                </a:extLst>
              </a:tr>
              <a:tr h="4259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환경 영향 저감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0.1209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3.05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0.5083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0.0830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170126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614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 방법론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투자 우선순위 지수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(PI)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산정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1036981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투자효과 지표는 모두 스케일이 다르므로 정규화 필요 → 정규화 후 </a:t>
            </a: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가중합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하여 설비단위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산출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설비유형 가중치와 비용규모 보정계수를 반영하여 산정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 단위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설비 유형 내 투자 비교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시스템 관점의 투자 비요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11">
            <a:extLst>
              <a:ext uri="{FF2B5EF4-FFF2-40B4-BE49-F238E27FC236}">
                <a16:creationId xmlns:a16="http://schemas.microsoft.com/office/drawing/2014/main" id="{4BB3DA6D-0BEC-4B06-BB20-5BF633FA30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108" b="12093"/>
          <a:stretch>
            <a:fillRect/>
          </a:stretch>
        </p:blipFill>
        <p:spPr>
          <a:xfrm>
            <a:off x="712668" y="2397367"/>
            <a:ext cx="7707431" cy="299754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43109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제안 방법론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포트폴리오 최적화 모델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66601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622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연도 투자대안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이진 의사결정변수로 정의하여 교체 여부와 시점 결정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연도별 예산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물량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중복교체 제약 등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실무적 제약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기반 포트폴리오 최적화 →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목적함수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/PI)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D502E72D-D803-4345-BE52-182030AC9D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213" b="3411"/>
          <a:stretch/>
        </p:blipFill>
        <p:spPr>
          <a:xfrm>
            <a:off x="1113724" y="1999908"/>
            <a:ext cx="7071360" cy="360598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54824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1F726319-3FB2-4BCC-8086-C1FE6024F4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 r="46195"/>
          <a:stretch/>
        </p:blipFill>
        <p:spPr>
          <a:xfrm flipH="1">
            <a:off x="0" y="0"/>
            <a:ext cx="3927305" cy="5715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89CA3E6-4F4D-4FCD-9243-94E94F527206}"/>
              </a:ext>
            </a:extLst>
          </p:cNvPr>
          <p:cNvSpPr txBox="1"/>
          <p:nvPr/>
        </p:nvSpPr>
        <p:spPr>
          <a:xfrm>
            <a:off x="4124324" y="2318891"/>
            <a:ext cx="4838701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시뮬레이션 결과분석</a:t>
            </a:r>
          </a:p>
        </p:txBody>
      </p:sp>
    </p:spTree>
    <p:extLst>
      <p:ext uri="{BB962C8B-B14F-4D97-AF65-F5344CB8AC3E}">
        <p14:creationId xmlns:p14="http://schemas.microsoft.com/office/powerpoint/2010/main" val="538989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시뮬레이션 개요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7"/>
            <a:ext cx="9144000" cy="757974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622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CNAIM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기반 설비 예시 데이터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20,000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 대 중 리스크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 상위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30%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 대상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방법론을 점차 확장해가며 단계적으로 성능 검증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①리스크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 → ②설비 단위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③통합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6DB8E16-F911-4757-905D-698A2A913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412708"/>
              </p:ext>
            </p:extLst>
          </p:nvPr>
        </p:nvGraphicFramePr>
        <p:xfrm>
          <a:off x="290831" y="2047791"/>
          <a:ext cx="8671582" cy="339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750">
                  <a:extLst>
                    <a:ext uri="{9D8B030D-6E8A-4147-A177-3AD203B41FA5}">
                      <a16:colId xmlns:a16="http://schemas.microsoft.com/office/drawing/2014/main" val="2729798218"/>
                    </a:ext>
                  </a:extLst>
                </a:gridCol>
                <a:gridCol w="2196277">
                  <a:extLst>
                    <a:ext uri="{9D8B030D-6E8A-4147-A177-3AD203B41FA5}">
                      <a16:colId xmlns:a16="http://schemas.microsoft.com/office/drawing/2014/main" val="1150594007"/>
                    </a:ext>
                  </a:extLst>
                </a:gridCol>
                <a:gridCol w="1098139">
                  <a:extLst>
                    <a:ext uri="{9D8B030D-6E8A-4147-A177-3AD203B41FA5}">
                      <a16:colId xmlns:a16="http://schemas.microsoft.com/office/drawing/2014/main" val="3874235999"/>
                    </a:ext>
                  </a:extLst>
                </a:gridCol>
                <a:gridCol w="1098139">
                  <a:extLst>
                    <a:ext uri="{9D8B030D-6E8A-4147-A177-3AD203B41FA5}">
                      <a16:colId xmlns:a16="http://schemas.microsoft.com/office/drawing/2014/main" val="3335093846"/>
                    </a:ext>
                  </a:extLst>
                </a:gridCol>
                <a:gridCol w="2196277">
                  <a:extLst>
                    <a:ext uri="{9D8B030D-6E8A-4147-A177-3AD203B41FA5}">
                      <a16:colId xmlns:a16="http://schemas.microsoft.com/office/drawing/2014/main" val="2956774083"/>
                    </a:ext>
                  </a:extLst>
                </a:gridCol>
              </a:tblGrid>
              <a:tr h="3772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내용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B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77556440"/>
                  </a:ext>
                </a:extLst>
              </a:tr>
              <a:tr h="3772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사례연구 대상설비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상위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30%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∪ 투자가치 상위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30%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42566076"/>
                  </a:ext>
                </a:extLst>
              </a:tr>
              <a:tr h="3772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분석 범위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연도별 교체 우선순위 및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개년 투자계획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(2026~2030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32681918"/>
                  </a:ext>
                </a:extLst>
              </a:tr>
              <a:tr h="37729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다기준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평가항목 및 </a:t>
                      </a:r>
                      <a:endParaRPr lang="en-US" altLang="ko-KR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투자지표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경제성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신뢰도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환경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780902"/>
                  </a:ext>
                </a:extLst>
              </a:tr>
              <a:tr h="37729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154kV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투자효율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SAIDI/</a:t>
                      </a:r>
                      <a:r>
                        <a:rPr lang="ko-KR" altLang="en-US" sz="1400" b="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고장률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안전영향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환경영향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725642"/>
                  </a:ext>
                </a:extLst>
              </a:tr>
              <a:tr h="3772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제약조건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예산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자산 총액의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4%), 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교체 물량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설비유형별 전체 대상 설비 수 </a:t>
                      </a: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5%), KPI(SAIDI)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19583818"/>
                  </a:ext>
                </a:extLst>
              </a:tr>
              <a:tr h="3772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비교군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단계 리스크</a:t>
                      </a:r>
                      <a:r>
                        <a:rPr lang="en-US" altLang="ko-KR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 </a:t>
                      </a:r>
                      <a:r>
                        <a:rPr lang="en-US" altLang="ko-KR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 2</a:t>
                      </a:r>
                      <a:r>
                        <a:rPr lang="ko-KR" altLang="en-US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단계 설비단위 </a:t>
                      </a:r>
                      <a:r>
                        <a:rPr lang="en-US" altLang="ko-KR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</a:t>
                      </a:r>
                      <a:r>
                        <a:rPr lang="ko-KR" altLang="en-US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 3</a:t>
                      </a:r>
                      <a:r>
                        <a:rPr lang="ko-KR" altLang="en-US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단계 통합 </a:t>
                      </a:r>
                      <a:r>
                        <a:rPr lang="en-US" altLang="ko-KR" sz="1400" kern="1200" dirty="0">
                          <a:solidFill>
                            <a:srgbClr val="053F8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</a:t>
                      </a:r>
                      <a:endParaRPr lang="ko-KR" altLang="en-US" sz="1400" kern="1200" dirty="0">
                        <a:solidFill>
                          <a:srgbClr val="053F8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61666209"/>
                  </a:ext>
                </a:extLst>
              </a:tr>
              <a:tr h="37729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시뮬레이션 설정</a:t>
                      </a: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할인율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평가기간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57827"/>
                  </a:ext>
                </a:extLst>
              </a:tr>
              <a:tr h="37729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5%</a:t>
                      </a: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 설계수명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14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666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단계 시뮬레이션 결과 분석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리스크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vs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투자가치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7"/>
            <a:ext cx="9144000" cy="757974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622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Greedy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현재 시점의 리스크만 고려하므로 투자효과 지표가 가장 낮게 산출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IV ILP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동일한 제약조건에서 투자효과 지표가 가장 높게 산출 → 경제성 기반 최적화 성능 검증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9E0C049-2D56-467A-8160-2262238DC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771114"/>
              </p:ext>
            </p:extLst>
          </p:nvPr>
        </p:nvGraphicFramePr>
        <p:xfrm>
          <a:off x="346909" y="2160754"/>
          <a:ext cx="8604989" cy="3338876"/>
        </p:xfrm>
        <a:graphic>
          <a:graphicData uri="http://schemas.openxmlformats.org/drawingml/2006/table">
            <a:tbl>
              <a:tblPr/>
              <a:tblGrid>
                <a:gridCol w="2140165">
                  <a:extLst>
                    <a:ext uri="{9D8B030D-6E8A-4147-A177-3AD203B41FA5}">
                      <a16:colId xmlns:a16="http://schemas.microsoft.com/office/drawing/2014/main" val="2409872804"/>
                    </a:ext>
                  </a:extLst>
                </a:gridCol>
                <a:gridCol w="1616206">
                  <a:extLst>
                    <a:ext uri="{9D8B030D-6E8A-4147-A177-3AD203B41FA5}">
                      <a16:colId xmlns:a16="http://schemas.microsoft.com/office/drawing/2014/main" val="3033799872"/>
                    </a:ext>
                  </a:extLst>
                </a:gridCol>
                <a:gridCol w="1616206">
                  <a:extLst>
                    <a:ext uri="{9D8B030D-6E8A-4147-A177-3AD203B41FA5}">
                      <a16:colId xmlns:a16="http://schemas.microsoft.com/office/drawing/2014/main" val="3933898707"/>
                    </a:ext>
                  </a:extLst>
                </a:gridCol>
                <a:gridCol w="1616206">
                  <a:extLst>
                    <a:ext uri="{9D8B030D-6E8A-4147-A177-3AD203B41FA5}">
                      <a16:colId xmlns:a16="http://schemas.microsoft.com/office/drawing/2014/main" val="2953845553"/>
                    </a:ext>
                  </a:extLst>
                </a:gridCol>
                <a:gridCol w="1616206">
                  <a:extLst>
                    <a:ext uri="{9D8B030D-6E8A-4147-A177-3AD203B41FA5}">
                      <a16:colId xmlns:a16="http://schemas.microsoft.com/office/drawing/2014/main" val="807622890"/>
                    </a:ext>
                  </a:extLst>
                </a:gridCol>
              </a:tblGrid>
              <a:tr h="3613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</a:t>
                      </a:r>
                      <a:r>
                        <a:rPr 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Greedy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IV Greedy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IV ILP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IV GA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576148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교체 물량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3,941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4,276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(+335)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4,607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(+666)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4,613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(+672)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4284958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투자비용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 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759.98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760.70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(+0.1%)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761.10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(+0.1%)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761.66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(+0.2%)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008205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</a:t>
                      </a:r>
                      <a:r>
                        <a:rPr lang="ko-KR" altLang="en-US" sz="1400" kern="1200" dirty="0" err="1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저감량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 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1,642.58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1,753.59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(+6.8%)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1,786.34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(+8.8%)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1,781.42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(+8.5%)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567103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 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882.60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992.89</a:t>
                      </a:r>
                    </a:p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(+12.5%)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1,025.24</a:t>
                      </a:r>
                    </a:p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(+16.2%)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1,019.76</a:t>
                      </a:r>
                    </a:p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(+15.6%)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214938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투자효율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2.161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2.305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(+0.144)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2.347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(+0.188)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2.339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(+0.178)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967437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 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저감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분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호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0.6082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0.6532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(+7.4%)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0.6721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(+10.5%)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0.6905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(+13.5%)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121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630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단계 시뮬레이션 결과 분석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리스크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vs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투자가치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104166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리스크 및 투자가치 기반 최적화 결과 교체를 진행하더라도 </a:t>
            </a:r>
            <a:r>
              <a:rPr lang="ko-KR" altLang="en-US" sz="1600" dirty="0" err="1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년도별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SAIDI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증가 경향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보임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단계 결과를 종합하면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현재 리스크 기반 우선순위보다 투자가치 기반 최적화 기술이 투자효과에서는 더 높은 성능을 나타냈으나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전력설비 노후화에 따른 전력계통 신뢰도 보강에는 어려움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보임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0EAB732A-1024-48B1-90E8-C0FDE93B5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1" y="2476501"/>
            <a:ext cx="4284551" cy="246739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14">
            <a:extLst>
              <a:ext uri="{FF2B5EF4-FFF2-40B4-BE49-F238E27FC236}">
                <a16:creationId xmlns:a16="http://schemas.microsoft.com/office/drawing/2014/main" id="{7C586562-1023-496A-A6A6-F7A2A54FB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4706" y="2476499"/>
            <a:ext cx="4377193" cy="246738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668896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단계 시뮬레이션 결과 분석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투자가치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vs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설비 단위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PI)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7"/>
            <a:ext cx="9144000" cy="936860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 최적화는 경제성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신뢰도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 기준을 함께 반영하여 포트폴리오 구성 변화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IV ILP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대비 투자가치 일부 감소</a:t>
            </a:r>
            <a:r>
              <a:rPr lang="en-US" altLang="ko-KR" sz="13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(-2.3%)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SAIDI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 효과 증가</a:t>
            </a:r>
            <a:r>
              <a:rPr lang="en-US" altLang="ko-KR" sz="13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(+13.5%)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공급 신뢰도 개선 효과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이는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 방식이 전력 유틸리티의 운영목표를 반영한 투자계획 수립에 활용될 수 있음을 의미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8EC411B-DCB7-4C28-8E06-67A08F942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950327"/>
              </p:ext>
            </p:extLst>
          </p:nvPr>
        </p:nvGraphicFramePr>
        <p:xfrm>
          <a:off x="346909" y="2300454"/>
          <a:ext cx="8604989" cy="3338876"/>
        </p:xfrm>
        <a:graphic>
          <a:graphicData uri="http://schemas.openxmlformats.org/drawingml/2006/table">
            <a:tbl>
              <a:tblPr/>
              <a:tblGrid>
                <a:gridCol w="2140165">
                  <a:extLst>
                    <a:ext uri="{9D8B030D-6E8A-4147-A177-3AD203B41FA5}">
                      <a16:colId xmlns:a16="http://schemas.microsoft.com/office/drawing/2014/main" val="2409872804"/>
                    </a:ext>
                  </a:extLst>
                </a:gridCol>
                <a:gridCol w="1616206">
                  <a:extLst>
                    <a:ext uri="{9D8B030D-6E8A-4147-A177-3AD203B41FA5}">
                      <a16:colId xmlns:a16="http://schemas.microsoft.com/office/drawing/2014/main" val="3033799872"/>
                    </a:ext>
                  </a:extLst>
                </a:gridCol>
                <a:gridCol w="1616206">
                  <a:extLst>
                    <a:ext uri="{9D8B030D-6E8A-4147-A177-3AD203B41FA5}">
                      <a16:colId xmlns:a16="http://schemas.microsoft.com/office/drawing/2014/main" val="3933898707"/>
                    </a:ext>
                  </a:extLst>
                </a:gridCol>
                <a:gridCol w="1616206">
                  <a:extLst>
                    <a:ext uri="{9D8B030D-6E8A-4147-A177-3AD203B41FA5}">
                      <a16:colId xmlns:a16="http://schemas.microsoft.com/office/drawing/2014/main" val="2953845553"/>
                    </a:ext>
                  </a:extLst>
                </a:gridCol>
                <a:gridCol w="1616206">
                  <a:extLst>
                    <a:ext uri="{9D8B030D-6E8A-4147-A177-3AD203B41FA5}">
                      <a16:colId xmlns:a16="http://schemas.microsoft.com/office/drawing/2014/main" val="807622890"/>
                    </a:ext>
                  </a:extLst>
                </a:gridCol>
              </a:tblGrid>
              <a:tr h="3613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IV ILP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 Greedy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 ILP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 GA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576148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교체 물량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4,607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4,200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(-407)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4,669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(+92)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4,669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(+92)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4284958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투자비용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 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761.10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760.47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(-0.1%)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761.60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(+0.1%)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761.50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(+0.1%)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008205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</a:t>
                      </a:r>
                      <a:r>
                        <a:rPr lang="ko-KR" altLang="en-US" sz="1400" kern="1200" dirty="0" err="1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저감량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 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1,786.34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1,708.53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(-4.4%)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1,745.48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(-2.3%)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1,747.45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(-2.2%)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567103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 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1,025.24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948.06</a:t>
                      </a:r>
                    </a:p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(-7.5%)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983.89</a:t>
                      </a:r>
                    </a:p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(-4.0%)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985.96</a:t>
                      </a:r>
                    </a:p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(-3.8%)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214938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투자효율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2.347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2.247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(-0.100)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2.292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(-0.055)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2.295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(-0.052)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967437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 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저감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분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호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0.6721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0.6747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(+0.4%)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0.7598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(+13.5%)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0.7454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(+13.5%)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121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675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단계 시뮬레이션 결과 분석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투자가치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vs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설비 단위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PI)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104166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단계와 달리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적용한 경우 연도별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SAIDI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상승 추세를 완화하여 서비스 품질 향상 가능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단계 시뮬레이션 분석 결과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 중심의 포트폴리오보다 경제성은 일부 낮아질 수 있으나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연도별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SAIDI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개선효과를 높일 수 있어 전력 유틸리티 운영 목적에 따른 투자계획 수립 가능성을 확인함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17">
            <a:extLst>
              <a:ext uri="{FF2B5EF4-FFF2-40B4-BE49-F238E27FC236}">
                <a16:creationId xmlns:a16="http://schemas.microsoft.com/office/drawing/2014/main" id="{22F2A013-0E15-4282-9C32-FADD0F703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63" y="2514406"/>
            <a:ext cx="4388920" cy="252749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" name="Picture 19">
            <a:extLst>
              <a:ext uri="{FF2B5EF4-FFF2-40B4-BE49-F238E27FC236}">
                <a16:creationId xmlns:a16="http://schemas.microsoft.com/office/drawing/2014/main" id="{BA195B16-AC7E-481C-9EF2-2BF9A785F1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301" y="2514406"/>
            <a:ext cx="4469353" cy="252749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022365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단계 시뮬레이션 결과 분석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설비 단위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PI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vs 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통합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PI)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7"/>
            <a:ext cx="9144000" cy="936860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후보제한형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ILP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 ILP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와 투자가치가 거의 같지만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SAIDI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 효과가 향상</a:t>
            </a:r>
            <a:r>
              <a:rPr lang="en-US" altLang="ko-KR" sz="14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(+9.6%)</a:t>
            </a: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통합형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ILP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투자비용을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11.5%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절감하면서도 리스크 </a:t>
            </a: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저감량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(+3.0%),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(+14.3%),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투자효율을 모두 개선하여 시스템 관점에서의 자원배분 효과가 뚜렷하게 나타남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8EC411B-DCB7-4C28-8E06-67A08F942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792291"/>
              </p:ext>
            </p:extLst>
          </p:nvPr>
        </p:nvGraphicFramePr>
        <p:xfrm>
          <a:off x="651709" y="2287754"/>
          <a:ext cx="7730291" cy="3338876"/>
        </p:xfrm>
        <a:graphic>
          <a:graphicData uri="http://schemas.openxmlformats.org/drawingml/2006/table">
            <a:tbl>
              <a:tblPr/>
              <a:tblGrid>
                <a:gridCol w="2367236">
                  <a:extLst>
                    <a:ext uri="{9D8B030D-6E8A-4147-A177-3AD203B41FA5}">
                      <a16:colId xmlns:a16="http://schemas.microsoft.com/office/drawing/2014/main" val="2409872804"/>
                    </a:ext>
                  </a:extLst>
                </a:gridCol>
                <a:gridCol w="1787685">
                  <a:extLst>
                    <a:ext uri="{9D8B030D-6E8A-4147-A177-3AD203B41FA5}">
                      <a16:colId xmlns:a16="http://schemas.microsoft.com/office/drawing/2014/main" val="3933898707"/>
                    </a:ext>
                  </a:extLst>
                </a:gridCol>
                <a:gridCol w="1787685">
                  <a:extLst>
                    <a:ext uri="{9D8B030D-6E8A-4147-A177-3AD203B41FA5}">
                      <a16:colId xmlns:a16="http://schemas.microsoft.com/office/drawing/2014/main" val="2953845553"/>
                    </a:ext>
                  </a:extLst>
                </a:gridCol>
                <a:gridCol w="1787685">
                  <a:extLst>
                    <a:ext uri="{9D8B030D-6E8A-4147-A177-3AD203B41FA5}">
                      <a16:colId xmlns:a16="http://schemas.microsoft.com/office/drawing/2014/main" val="807622890"/>
                    </a:ext>
                  </a:extLst>
                </a:gridCol>
              </a:tblGrid>
              <a:tr h="3613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 ILP</a:t>
                      </a:r>
                      <a:endParaRPr lang="en-US" sz="1600" b="1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후보제한형 </a:t>
                      </a:r>
                      <a:r>
                        <a:rPr lang="en-US" altLang="ko-KR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ILP</a:t>
                      </a:r>
                      <a:endParaRPr lang="en-US" sz="1600" b="1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통합형 </a:t>
                      </a:r>
                      <a:r>
                        <a:rPr lang="en-US" altLang="ko-KR" sz="1600" b="1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ILP</a:t>
                      </a:r>
                      <a:endParaRPr lang="en-US" sz="1600" b="1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576148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교체 물량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4,669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5,209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(+540)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5,473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(+804)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4284958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투자비용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 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761,60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758,91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(-0.4%)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673.87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(-11.5%)</a:t>
                      </a:r>
                      <a:endParaRPr 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008205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</a:t>
                      </a:r>
                      <a:r>
                        <a:rPr lang="ko-KR" altLang="en-US" sz="1400" kern="1200" dirty="0" err="1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저감량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 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1,708.53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1,742.42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(-0.2%)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1,798.21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(+3.0%)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567103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 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983.89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983.51</a:t>
                      </a:r>
                    </a:p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(-0.04%)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1,124.34</a:t>
                      </a:r>
                    </a:p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(+14.3%)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214938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투자효율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2.292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2.296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(-0.004)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2.669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(+0.377)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967437"/>
                  </a:ext>
                </a:extLst>
              </a:tr>
              <a:tr h="4962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 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저감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분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호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0.7598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0.8326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(+9.6%)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0.8031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(+5.7%)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121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369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단계 시뮬레이션 결과 분석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설비 단위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PI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vs 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통합 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PI)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104166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통합형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ILP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설비유형 간 칸막이를 제거하고 전체 후보군에서 투자효과가 높은 설비 조합 선택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그 결과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투자비용을 절감하면서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투자가치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투자효율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·SAIDI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 투자효과 지표가 동시에 개선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이는 개별 설비유형 중심 투자계획보다 시스템 관점의 통합 최적화가 효과적임을 의미 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D030298-98B4-4B8B-99B3-5E03FF1B6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" y="2605119"/>
            <a:ext cx="4471141" cy="25272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Picture 23">
            <a:extLst>
              <a:ext uri="{FF2B5EF4-FFF2-40B4-BE49-F238E27FC236}">
                <a16:creationId xmlns:a16="http://schemas.microsoft.com/office/drawing/2014/main" id="{488D6B8F-53C2-412D-ADBA-80AEE39F36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400" y="2605119"/>
            <a:ext cx="4471334" cy="252720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52929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민감도 분석 개요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104166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시뮬레이션 결과가 특정 조건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물량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에만 의존하는지 검증을 위한 민감도 분석 시나리오 구성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물량 뿐 아니라 리스크 총량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복합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KPI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제약 등 적용하여 운영 제약강화에 따른 투자 계획 분석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또한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전문가 집단에 따른 의존도를 검증하기 위해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AHP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가중치 조합에 따른 투자 계획 분석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0BF0CB0-3ECF-44FD-87F2-ED5537613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300115"/>
              </p:ext>
            </p:extLst>
          </p:nvPr>
        </p:nvGraphicFramePr>
        <p:xfrm>
          <a:off x="346910" y="2382127"/>
          <a:ext cx="8438951" cy="3219100"/>
        </p:xfrm>
        <a:graphic>
          <a:graphicData uri="http://schemas.openxmlformats.org/drawingml/2006/table">
            <a:tbl>
              <a:tblPr/>
              <a:tblGrid>
                <a:gridCol w="1548067">
                  <a:extLst>
                    <a:ext uri="{9D8B030D-6E8A-4147-A177-3AD203B41FA5}">
                      <a16:colId xmlns:a16="http://schemas.microsoft.com/office/drawing/2014/main" val="716800643"/>
                    </a:ext>
                  </a:extLst>
                </a:gridCol>
                <a:gridCol w="2431134">
                  <a:extLst>
                    <a:ext uri="{9D8B030D-6E8A-4147-A177-3AD203B41FA5}">
                      <a16:colId xmlns:a16="http://schemas.microsoft.com/office/drawing/2014/main" val="161782095"/>
                    </a:ext>
                  </a:extLst>
                </a:gridCol>
                <a:gridCol w="791455">
                  <a:extLst>
                    <a:ext uri="{9D8B030D-6E8A-4147-A177-3AD203B41FA5}">
                      <a16:colId xmlns:a16="http://schemas.microsoft.com/office/drawing/2014/main" val="2409895383"/>
                    </a:ext>
                  </a:extLst>
                </a:gridCol>
                <a:gridCol w="3668295">
                  <a:extLst>
                    <a:ext uri="{9D8B030D-6E8A-4147-A177-3AD203B41FA5}">
                      <a16:colId xmlns:a16="http://schemas.microsoft.com/office/drawing/2014/main" val="2493055733"/>
                    </a:ext>
                  </a:extLst>
                </a:gridCol>
              </a:tblGrid>
              <a:tr h="4014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변화 범위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실행 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분석 목적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64832"/>
                  </a:ext>
                </a:extLst>
              </a:tr>
              <a:tr h="4619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예산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물량 민감도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기준 예산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물량의 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0.5~1.5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66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예산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물량 변화에 따른 투자효과 변화 확인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037217"/>
                  </a:ext>
                </a:extLst>
              </a:tr>
              <a:tr h="4014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총량</a:t>
                      </a: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기준 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SAIDI·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제약 강화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24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신뢰도 및 리스크 목표 강화 시 포트폴리오 변화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58702"/>
                  </a:ext>
                </a:extLst>
              </a:tr>
              <a:tr h="4619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SAIDI·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리스크 동시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와 리스크 총량 동시 강화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27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복합 운영 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KPI 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조건의 영향 확인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95248"/>
                  </a:ext>
                </a:extLst>
              </a:tr>
              <a:tr h="4619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운영목표 가중치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경제성</a:t>
                      </a:r>
                      <a:r>
                        <a:rPr lang="en-US" altLang="ko-KR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신뢰도</a:t>
                      </a:r>
                      <a:r>
                        <a:rPr lang="en-US" altLang="ko-KR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</a:t>
                      </a:r>
                      <a:r>
                        <a:rPr lang="en-US" altLang="ko-KR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환경 조합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129</a:t>
                      </a: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KPI 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전략 변화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(AHP 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설문결과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에 따른 영향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179730"/>
                  </a:ext>
                </a:extLst>
              </a:tr>
              <a:tr h="5684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설비별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최소 교체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설비유형별 최소 교체 수량 제약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15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설비유형별 최소 투자 요구가 결과에 미치는 영향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42612"/>
                  </a:ext>
                </a:extLst>
              </a:tr>
              <a:tr h="4619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α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민감도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 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PI 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보정계수 </a:t>
                      </a:r>
                      <a:r>
                        <a:rPr lang="el-GR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α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변화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11</a:t>
                      </a: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설비유형 가중치 반영률에 따른 영향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187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646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예산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물량 제약 변화에 따른 투자효과 분석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104166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물량 조건이 완화될수록 선택 가능한 투자 포트폴리오가 확장되어 투자가치 증가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일정 수준 이후에는 증가폭이 둔화되어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예산 또는 물량 제약 외의 추가 제약이 동작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통합형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ILP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기준 조건 변화에도 높은 투자가치를 유지하여 결과의 안정성을 확인할 수 있음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24">
            <a:extLst>
              <a:ext uri="{FF2B5EF4-FFF2-40B4-BE49-F238E27FC236}">
                <a16:creationId xmlns:a16="http://schemas.microsoft.com/office/drawing/2014/main" id="{66F25A26-D795-4AF7-804C-BDDAE56AC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27" y="2295437"/>
            <a:ext cx="7577581" cy="340696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694697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운영목표 가중치 변화에 따른 투자효과 분석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104166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전문가 의견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(AHP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가중치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상대적 중요도를 변화시켜 포트폴리오 변화 분석 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 가중치가 높아질수록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기반 방식은 투자가치 기반 방식과 유사한 결과를 보임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가중치 조합이 변해도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 방식의 상대적 우위가 유지되어 방법론의 강건성을 확인함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6">
            <a:extLst>
              <a:ext uri="{FF2B5EF4-FFF2-40B4-BE49-F238E27FC236}">
                <a16:creationId xmlns:a16="http://schemas.microsoft.com/office/drawing/2014/main" id="{0D2AEF0E-CF70-48AA-B6AC-EBAE1F526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60" y="2340579"/>
            <a:ext cx="7859914" cy="323563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33617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el-GR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α</a:t>
            </a:r>
            <a:r>
              <a:rPr lang="en-US" altLang="ko-KR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에 따른 투자효과 분석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104166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el-GR" altLang="ko-KR" sz="1600" kern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α</a:t>
            </a:r>
            <a:r>
              <a:rPr lang="ko-KR" altLang="en-US" sz="1600" kern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통합 </a:t>
            </a:r>
            <a:r>
              <a:rPr lang="en-US" altLang="ko-KR" sz="1600" kern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PI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산정에서 전문가 판단과 비용 보정 효과의 반영 비중을 조정하는 역할을 함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el-GR" altLang="ko-KR" sz="1600" kern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α</a:t>
            </a:r>
            <a:r>
              <a:rPr lang="ko-KR" altLang="en-US" sz="1600" kern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커질수록 교체비용이 낮은 설비 중심으로 포트폴리오가 구성 → 투자비용 감소</a:t>
            </a:r>
            <a:r>
              <a:rPr lang="en-US" altLang="ko-KR" sz="1600" kern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600" kern="12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투자효율 개선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반면 교체비용이 큰 설비가 투자에 제외될 수 있으므로 전략적으로 </a:t>
            </a: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선정해야할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것으로 판단됨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8">
            <a:extLst>
              <a:ext uri="{FF2B5EF4-FFF2-40B4-BE49-F238E27FC236}">
                <a16:creationId xmlns:a16="http://schemas.microsoft.com/office/drawing/2014/main" id="{BE92CF9D-7C86-447A-B52E-11BECA16EB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62" r="1425"/>
          <a:stretch>
            <a:fillRect/>
          </a:stretch>
        </p:blipFill>
        <p:spPr>
          <a:xfrm>
            <a:off x="346909" y="2624115"/>
            <a:ext cx="8259773" cy="283981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10305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시뮬레이션 결과분석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설비별</a:t>
            </a: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 최소 교체 제약에 따른 투자효과 분석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7B2AF7B-7A9D-4834-A5F0-E3A1A8DBC94F}"/>
              </a:ext>
            </a:extLst>
          </p:cNvPr>
          <p:cNvSpPr/>
          <p:nvPr/>
        </p:nvSpPr>
        <p:spPr>
          <a:xfrm>
            <a:off x="-8754" y="1246086"/>
            <a:ext cx="9144000" cy="1041667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F5F6B3-A8A7-45A9-8A1A-8E92B529AD84}"/>
              </a:ext>
            </a:extLst>
          </p:cNvPr>
          <p:cNvSpPr txBox="1"/>
          <p:nvPr/>
        </p:nvSpPr>
        <p:spPr>
          <a:xfrm>
            <a:off x="346909" y="1289817"/>
            <a:ext cx="8604990" cy="89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제약 수준이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2%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 경우 비용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물량 제약 모두 투자가치와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SAIDI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개선 → 포트폴리오 균형에 기여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제약 수준이 높아질수록 투자비용은 증가하나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투자가치와 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SAIDI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 효과는 감소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1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최소 예산 배분은 균형 확보 수단으로 활용하되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과도한 제약 설정은 통합 최적화 효과를 저하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9601B1-060A-49AE-87F2-5CF2CDC26812}"/>
              </a:ext>
            </a:extLst>
          </p:cNvPr>
          <p:cNvSpPr/>
          <p:nvPr/>
        </p:nvSpPr>
        <p:spPr>
          <a:xfrm>
            <a:off x="1249680" y="2287755"/>
            <a:ext cx="259080" cy="188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F67DD6B-4CA0-4977-897C-DFFF3A27D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307165"/>
              </p:ext>
            </p:extLst>
          </p:nvPr>
        </p:nvGraphicFramePr>
        <p:xfrm>
          <a:off x="346910" y="2381210"/>
          <a:ext cx="8438952" cy="3260943"/>
        </p:xfrm>
        <a:graphic>
          <a:graphicData uri="http://schemas.openxmlformats.org/drawingml/2006/table">
            <a:tbl>
              <a:tblPr/>
              <a:tblGrid>
                <a:gridCol w="1699005">
                  <a:extLst>
                    <a:ext uri="{9D8B030D-6E8A-4147-A177-3AD203B41FA5}">
                      <a16:colId xmlns:a16="http://schemas.microsoft.com/office/drawing/2014/main" val="2405995510"/>
                    </a:ext>
                  </a:extLst>
                </a:gridCol>
                <a:gridCol w="1699005">
                  <a:extLst>
                    <a:ext uri="{9D8B030D-6E8A-4147-A177-3AD203B41FA5}">
                      <a16:colId xmlns:a16="http://schemas.microsoft.com/office/drawing/2014/main" val="3035634470"/>
                    </a:ext>
                  </a:extLst>
                </a:gridCol>
                <a:gridCol w="1680314">
                  <a:extLst>
                    <a:ext uri="{9D8B030D-6E8A-4147-A177-3AD203B41FA5}">
                      <a16:colId xmlns:a16="http://schemas.microsoft.com/office/drawing/2014/main" val="3896319117"/>
                    </a:ext>
                  </a:extLst>
                </a:gridCol>
                <a:gridCol w="1680314">
                  <a:extLst>
                    <a:ext uri="{9D8B030D-6E8A-4147-A177-3AD203B41FA5}">
                      <a16:colId xmlns:a16="http://schemas.microsoft.com/office/drawing/2014/main" val="1612306021"/>
                    </a:ext>
                  </a:extLst>
                </a:gridCol>
                <a:gridCol w="1680314">
                  <a:extLst>
                    <a:ext uri="{9D8B030D-6E8A-4147-A177-3AD203B41FA5}">
                      <a16:colId xmlns:a16="http://schemas.microsoft.com/office/drawing/2014/main" val="3775988034"/>
                    </a:ext>
                  </a:extLst>
                </a:gridCol>
              </a:tblGrid>
              <a:tr h="3683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제약 유형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제약 수준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투자비용 변화 </a:t>
                      </a:r>
                      <a:r>
                        <a:rPr lang="en-US" altLang="ko-KR" sz="16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(%)</a:t>
                      </a:r>
                      <a:endParaRPr lang="ko-KR" altLang="en-US" sz="1600" kern="120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투자가치 변화 </a:t>
                      </a:r>
                      <a:r>
                        <a:rPr lang="en-US" altLang="ko-KR" sz="16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(%)</a:t>
                      </a:r>
                      <a:endParaRPr lang="ko-KR" altLang="en-US" sz="1600" kern="120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SAIDI </a:t>
                      </a:r>
                      <a:r>
                        <a:rPr lang="ko-KR" altLang="en-US" sz="16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변화 </a:t>
                      </a:r>
                      <a:r>
                        <a:rPr lang="en-US" altLang="ko-KR" sz="16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(%)</a:t>
                      </a:r>
                      <a:endParaRPr lang="ko-KR" altLang="en-US" sz="1600" kern="120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694130"/>
                  </a:ext>
                </a:extLst>
              </a:tr>
              <a:tr h="321398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물량 제약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1.0%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+3.0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−</a:t>
                      </a:r>
                      <a:r>
                        <a:rPr lang="en-US" altLang="ko-KR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0.1</a:t>
                      </a:r>
                      <a:endParaRPr lang="ko-KR" altLang="en-US" sz="1400" kern="120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+0.9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9431868"/>
                  </a:ext>
                </a:extLst>
              </a:tr>
              <a:tr h="321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2.0%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+11.5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+1.4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+2.1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472895"/>
                  </a:ext>
                </a:extLst>
              </a:tr>
              <a:tr h="321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3.0%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+13.1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−</a:t>
                      </a:r>
                      <a:r>
                        <a:rPr lang="en-US" altLang="ko-KR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10.4</a:t>
                      </a:r>
                      <a:endParaRPr lang="ko-KR" altLang="en-US" sz="1400" kern="120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−</a:t>
                      </a:r>
                      <a:r>
                        <a:rPr lang="en-US" altLang="ko-KR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0.6</a:t>
                      </a:r>
                      <a:endParaRPr lang="ko-KR" altLang="en-US" sz="1400" kern="120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062927"/>
                  </a:ext>
                </a:extLst>
              </a:tr>
              <a:tr h="321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4.0%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+13.1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−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15.8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−</a:t>
                      </a:r>
                      <a:r>
                        <a:rPr lang="en-US" altLang="ko-KR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4.1</a:t>
                      </a:r>
                      <a:endParaRPr lang="ko-KR" altLang="en-US" sz="1400" kern="120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455406"/>
                  </a:ext>
                </a:extLst>
              </a:tr>
              <a:tr h="321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4.5%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+13.1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−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24.7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−</a:t>
                      </a:r>
                      <a:r>
                        <a:rPr lang="en-US" altLang="ko-KR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6.7</a:t>
                      </a:r>
                      <a:endParaRPr lang="ko-KR" altLang="en-US" sz="1400" kern="120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235042"/>
                  </a:ext>
                </a:extLst>
              </a:tr>
              <a:tr h="321398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비용 제약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1.0%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+4.5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+0.5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+0.1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667179"/>
                  </a:ext>
                </a:extLst>
              </a:tr>
              <a:tr h="321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2.0%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+13.1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+2.1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+2.5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929575"/>
                  </a:ext>
                </a:extLst>
              </a:tr>
              <a:tr h="321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3.0%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+13.1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−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4.4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−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0.8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269065"/>
                  </a:ext>
                </a:extLst>
              </a:tr>
              <a:tr h="321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3.5%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+13.1</a:t>
                      </a: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−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8.2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−</a:t>
                      </a:r>
                      <a:r>
                        <a:rPr lang="en-US" altLang="ko-KR" sz="1400" kern="1200" dirty="0">
                          <a:solidFill>
                            <a:srgbClr val="333333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3.2</a:t>
                      </a:r>
                      <a:endParaRPr lang="ko-KR" altLang="en-US" sz="1400" kern="1200" dirty="0">
                        <a:solidFill>
                          <a:srgbClr val="333333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57733" marR="57733" marT="15961" marB="1596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085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831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1F726319-3FB2-4BCC-8086-C1FE6024F4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7" r="46195"/>
          <a:stretch/>
        </p:blipFill>
        <p:spPr>
          <a:xfrm flipH="1">
            <a:off x="0" y="0"/>
            <a:ext cx="3927305" cy="5715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89CA3E6-4F4D-4FCD-9243-94E94F527206}"/>
              </a:ext>
            </a:extLst>
          </p:cNvPr>
          <p:cNvSpPr txBox="1"/>
          <p:nvPr/>
        </p:nvSpPr>
        <p:spPr>
          <a:xfrm>
            <a:off x="4124324" y="2318891"/>
            <a:ext cx="4838701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결론 및 향후 연구</a:t>
            </a:r>
          </a:p>
        </p:txBody>
      </p:sp>
    </p:spTree>
    <p:extLst>
      <p:ext uri="{BB962C8B-B14F-4D97-AF65-F5344CB8AC3E}">
        <p14:creationId xmlns:p14="http://schemas.microsoft.com/office/powerpoint/2010/main" val="580807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86CE-AD34-4029-931B-BE506E2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177800"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결론 및 향후 연구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C39F26-39A6-4FFD-A80F-C20A867B8AFD}"/>
              </a:ext>
            </a:extLst>
          </p:cNvPr>
          <p:cNvSpPr txBox="1"/>
          <p:nvPr/>
        </p:nvSpPr>
        <p:spPr>
          <a:xfrm>
            <a:off x="4162074" y="2941854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EFF590-0477-4872-9C7D-7704657571B1}"/>
              </a:ext>
            </a:extLst>
          </p:cNvPr>
          <p:cNvSpPr txBox="1"/>
          <p:nvPr/>
        </p:nvSpPr>
        <p:spPr>
          <a:xfrm>
            <a:off x="4162074" y="3267324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C7859D-9A1B-40C8-AE9F-8AD9AD1C4A4E}"/>
              </a:ext>
            </a:extLst>
          </p:cNvPr>
          <p:cNvSpPr txBox="1"/>
          <p:nvPr/>
        </p:nvSpPr>
        <p:spPr>
          <a:xfrm>
            <a:off x="4162074" y="3571198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12C505-7614-4DE8-A8E8-725A6E26F1E8}"/>
              </a:ext>
            </a:extLst>
          </p:cNvPr>
          <p:cNvSpPr txBox="1"/>
          <p:nvPr/>
        </p:nvSpPr>
        <p:spPr>
          <a:xfrm>
            <a:off x="4162074" y="3902766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722615-823B-4D90-A4CF-1638E7AA95E6}"/>
              </a:ext>
            </a:extLst>
          </p:cNvPr>
          <p:cNvSpPr txBox="1"/>
          <p:nvPr/>
        </p:nvSpPr>
        <p:spPr>
          <a:xfrm>
            <a:off x="4162074" y="4202066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4FACF6-6BA9-4DBB-8BD8-C9D053BF78F6}"/>
              </a:ext>
            </a:extLst>
          </p:cNvPr>
          <p:cNvSpPr txBox="1"/>
          <p:nvPr/>
        </p:nvSpPr>
        <p:spPr>
          <a:xfrm>
            <a:off x="4162074" y="4528271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D4293D-02F0-4E61-9A41-855099FDC304}"/>
              </a:ext>
            </a:extLst>
          </p:cNvPr>
          <p:cNvSpPr txBox="1"/>
          <p:nvPr/>
        </p:nvSpPr>
        <p:spPr>
          <a:xfrm>
            <a:off x="4162074" y="4836509"/>
            <a:ext cx="371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56BC71-043A-44DE-8831-3FAF21EE5158}"/>
              </a:ext>
            </a:extLst>
          </p:cNvPr>
          <p:cNvSpPr txBox="1"/>
          <p:nvPr/>
        </p:nvSpPr>
        <p:spPr>
          <a:xfrm>
            <a:off x="8641131" y="2783104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FC2977-70F4-475F-8FF2-4C76E415A71B}"/>
              </a:ext>
            </a:extLst>
          </p:cNvPr>
          <p:cNvSpPr txBox="1"/>
          <p:nvPr/>
        </p:nvSpPr>
        <p:spPr>
          <a:xfrm>
            <a:off x="8641131" y="3156174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B6FC95-50D8-4F22-9C14-5543A41846D0}"/>
              </a:ext>
            </a:extLst>
          </p:cNvPr>
          <p:cNvSpPr txBox="1"/>
          <p:nvPr/>
        </p:nvSpPr>
        <p:spPr>
          <a:xfrm>
            <a:off x="8641131" y="3505449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BAB770-2FD0-4B9A-A861-A46C949BFD6C}"/>
              </a:ext>
            </a:extLst>
          </p:cNvPr>
          <p:cNvSpPr txBox="1"/>
          <p:nvPr/>
        </p:nvSpPr>
        <p:spPr>
          <a:xfrm>
            <a:off x="8641131" y="3854724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C138D4-3949-440D-B70A-9BD745FC3986}"/>
              </a:ext>
            </a:extLst>
          </p:cNvPr>
          <p:cNvSpPr txBox="1"/>
          <p:nvPr/>
        </p:nvSpPr>
        <p:spPr>
          <a:xfrm>
            <a:off x="8641131" y="4219217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6EC0DE-C2DC-43AA-A09E-E0AB5A7E56B2}"/>
              </a:ext>
            </a:extLst>
          </p:cNvPr>
          <p:cNvSpPr txBox="1"/>
          <p:nvPr/>
        </p:nvSpPr>
        <p:spPr>
          <a:xfrm>
            <a:off x="8641131" y="4555001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004948-6D38-4C37-A40D-3B767EC1C759}"/>
              </a:ext>
            </a:extLst>
          </p:cNvPr>
          <p:cNvSpPr txBox="1"/>
          <p:nvPr/>
        </p:nvSpPr>
        <p:spPr>
          <a:xfrm>
            <a:off x="8641131" y="4871229"/>
            <a:ext cx="408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E945B4-DBF6-42E0-BD49-523CE6E3BBBF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결론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0F2BCBB-DC42-4F61-96AA-002063D4978C}"/>
              </a:ext>
            </a:extLst>
          </p:cNvPr>
          <p:cNvSpPr/>
          <p:nvPr/>
        </p:nvSpPr>
        <p:spPr>
          <a:xfrm>
            <a:off x="-8754" y="1246086"/>
            <a:ext cx="9144000" cy="2276268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B412AB-5344-4E45-B7DD-38AA9B0EB8F2}"/>
              </a:ext>
            </a:extLst>
          </p:cNvPr>
          <p:cNvSpPr txBox="1"/>
          <p:nvPr/>
        </p:nvSpPr>
        <p:spPr>
          <a:xfrm>
            <a:off x="346908" y="1312869"/>
            <a:ext cx="8788337" cy="214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 리스크 기반 우선순위 방식은 고위험 설비 식별에는 유효하지만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실무 제약 조건 하에서 최적 투자 포트폴리오를 구성하기에는 한계가 있음 →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의사결정 </a:t>
            </a:r>
            <a:r>
              <a:rPr lang="en-US" altLang="ko-KR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GAP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발생 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 연구에서는 이러한 문제를 해결하기 위해 리스크 평가를 확장하여 투자효과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경제성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신뢰도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안전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환경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와 </a:t>
            </a:r>
            <a:r>
              <a:rPr lang="en-US" altLang="ko-KR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AHP·Fuzzy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 전문가 판단을 반영한 </a:t>
            </a: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다기준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투자우선순위 지수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(PI)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제안함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제안된 방법은 전력 유틸리티의 운영 목표와 전문가 판단을 정량적으로 평가하여 최적 투자 우선순위 산정이 가능하며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 방법 대비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유연한 자산 투자계획 수립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가능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또한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설비유형 및 비용규모 가중치를 적용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시스템 관점에서의 투자 포트폴리오 최적화 지원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가능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A19535F-895A-45F1-B3A8-D19782EC1E72}"/>
              </a:ext>
            </a:extLst>
          </p:cNvPr>
          <p:cNvSpPr/>
          <p:nvPr/>
        </p:nvSpPr>
        <p:spPr>
          <a:xfrm>
            <a:off x="290831" y="3610083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향후 연구 방향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34F594D-D7B0-429B-B0A3-5235F26BE7D0}"/>
              </a:ext>
            </a:extLst>
          </p:cNvPr>
          <p:cNvSpPr/>
          <p:nvPr/>
        </p:nvSpPr>
        <p:spPr>
          <a:xfrm>
            <a:off x="-8754" y="4083161"/>
            <a:ext cx="9144000" cy="1418480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BA5977-2F3B-4B8E-9091-11975AA20C41}"/>
              </a:ext>
            </a:extLst>
          </p:cNvPr>
          <p:cNvSpPr txBox="1"/>
          <p:nvPr/>
        </p:nvSpPr>
        <p:spPr>
          <a:xfrm>
            <a:off x="346908" y="4149944"/>
            <a:ext cx="8667552" cy="96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실제 전력 유틸리티의 설비 데이터와 운영 이력을 적용하여 제안 방법론의 </a:t>
            </a:r>
            <a:r>
              <a:rPr lang="ko-KR" altLang="en-US" sz="1600" dirty="0" err="1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실계통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적용 가능성 확보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상기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검증 결과를 바탕으로 전력설비 운영환경에 적합한 자산관리 시스템 적용을 위해</a:t>
            </a:r>
            <a:r>
              <a:rPr lang="en-US" altLang="ko-KR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기업별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 목표와 설비 및 지역 특성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변화에 따라 가중치가 동적으로 조정되는 </a:t>
            </a:r>
            <a:r>
              <a:rPr lang="ko-KR" altLang="en-US" sz="1600" dirty="0">
                <a:solidFill>
                  <a:srgbClr val="0070C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적응형 의사결정 구조</a:t>
            </a:r>
            <a:r>
              <a:rPr lang="ko-KR" altLang="en-US" sz="1600" dirty="0">
                <a:solidFill>
                  <a:srgbClr val="33333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연구</a:t>
            </a:r>
            <a:endParaRPr lang="en-US" altLang="ko-KR" sz="1600" dirty="0">
              <a:solidFill>
                <a:srgbClr val="333333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1481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6CAA4377-9514-4FF8-B8C2-396CD5853F2D}"/>
              </a:ext>
            </a:extLst>
          </p:cNvPr>
          <p:cNvSpPr txBox="1">
            <a:spLocks/>
          </p:cNvSpPr>
          <p:nvPr/>
        </p:nvSpPr>
        <p:spPr>
          <a:xfrm>
            <a:off x="1447027" y="1367043"/>
            <a:ext cx="3229747" cy="2773506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4500" spc="-100" dirty="0">
                <a:solidFill>
                  <a:srgbClr val="004098"/>
                </a:solidFill>
                <a:latin typeface="+mj-ea"/>
              </a:rPr>
              <a:t>감사합니다</a:t>
            </a:r>
            <a:r>
              <a:rPr lang="en-US" altLang="ko-KR" sz="4500" spc="-100" dirty="0">
                <a:solidFill>
                  <a:srgbClr val="004098"/>
                </a:solidFill>
                <a:latin typeface="+mj-ea"/>
              </a:rPr>
              <a:t>.</a:t>
            </a:r>
            <a:endParaRPr lang="ko-KR" altLang="en-US" sz="4500" spc="-100" dirty="0">
              <a:solidFill>
                <a:srgbClr val="004098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648214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A1F41C-517B-4523-967D-1B3A4809B16C}"/>
              </a:ext>
            </a:extLst>
          </p:cNvPr>
          <p:cNvSpPr/>
          <p:nvPr/>
        </p:nvSpPr>
        <p:spPr>
          <a:xfrm>
            <a:off x="290831" y="773008"/>
            <a:ext cx="8495029" cy="425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45566F"/>
              </a:buClr>
              <a:buSzPct val="130000"/>
              <a:buBlip>
                <a:blip r:embed="rId3"/>
              </a:buBlip>
            </a:pPr>
            <a:r>
              <a:rPr lang="ko-KR" altLang="en-US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KoPubWorld돋움체 Bold" panose="00000800000000000000" pitchFamily="2" charset="-127"/>
              </a:rPr>
              <a:t>논문 게재 현황</a:t>
            </a:r>
            <a:endParaRPr lang="en-US" altLang="ko-KR" b="1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206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F40031-AD11-4FD5-93AD-E162F1C96A46}"/>
              </a:ext>
            </a:extLst>
          </p:cNvPr>
          <p:cNvSpPr/>
          <p:nvPr/>
        </p:nvSpPr>
        <p:spPr>
          <a:xfrm>
            <a:off x="-8754" y="1246086"/>
            <a:ext cx="9144000" cy="595593"/>
          </a:xfrm>
          <a:prstGeom prst="rect">
            <a:avLst/>
          </a:prstGeom>
          <a:solidFill>
            <a:srgbClr val="E0EBF6"/>
          </a:solidFill>
          <a:ln w="6350">
            <a:noFill/>
          </a:ln>
        </p:spPr>
        <p:txBody>
          <a:bodyPr wrap="square">
            <a:noAutofit/>
          </a:bodyPr>
          <a:lstStyle/>
          <a:p>
            <a:pPr marL="180975" lvl="0" indent="-180975" algn="just">
              <a:lnSpc>
                <a:spcPct val="150000"/>
              </a:lnSpc>
              <a:buClr>
                <a:srgbClr val="2970FF"/>
              </a:buClr>
              <a:buSzPct val="150000"/>
              <a:buFont typeface="Wingdings" panose="05000000000000000000" pitchFamily="2" charset="2"/>
              <a:buChar char="§"/>
              <a:defRPr/>
            </a:pPr>
            <a:endParaRPr lang="en-US" altLang="ko-KR" sz="16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D0561-258E-453A-A0C3-8E07CC3AF5DD}"/>
              </a:ext>
            </a:extLst>
          </p:cNvPr>
          <p:cNvSpPr txBox="1"/>
          <p:nvPr/>
        </p:nvSpPr>
        <p:spPr>
          <a:xfrm>
            <a:off x="346908" y="1345064"/>
            <a:ext cx="8788337" cy="36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4"/>
              </a:buBlip>
            </a:pP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SCI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논문 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KCI 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논문 </a:t>
            </a:r>
            <a:r>
              <a:rPr lang="en-US" altLang="ko-KR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</a:t>
            </a:r>
            <a:r>
              <a:rPr lang="ko-KR" altLang="en-US" sz="1600" dirty="0">
                <a:solidFill>
                  <a:srgbClr val="053F8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 게재</a:t>
            </a:r>
            <a:endParaRPr lang="en-US" altLang="ko-KR" sz="1600" dirty="0">
              <a:solidFill>
                <a:srgbClr val="053F8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01F2C1-7796-4186-87C0-4F1D23854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831" y="1934945"/>
            <a:ext cx="2657960" cy="36200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00B05C-6F9D-4C48-88F9-A35BB5FC0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0125" y="1841679"/>
            <a:ext cx="2674495" cy="38065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A8B4B9-9F83-477E-A28B-150BB338D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802" y="1875615"/>
            <a:ext cx="2674495" cy="381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9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1">
      <a:dk1>
        <a:sysClr val="windowText" lastClr="000000"/>
      </a:dk1>
      <a:lt1>
        <a:sysClr val="window" lastClr="FFFFFF"/>
      </a:lt1>
      <a:dk2>
        <a:srgbClr val="003399"/>
      </a:dk2>
      <a:lt2>
        <a:srgbClr val="E7E6E6"/>
      </a:lt2>
      <a:accent1>
        <a:srgbClr val="126FBA"/>
      </a:accent1>
      <a:accent2>
        <a:srgbClr val="FF6600"/>
      </a:accent2>
      <a:accent3>
        <a:srgbClr val="0099CC"/>
      </a:accent3>
      <a:accent4>
        <a:srgbClr val="FFCC00"/>
      </a:accent4>
      <a:accent5>
        <a:srgbClr val="006699"/>
      </a:accent5>
      <a:accent6>
        <a:srgbClr val="669900"/>
      </a:accent6>
      <a:hlink>
        <a:srgbClr val="126FBA"/>
      </a:hlink>
      <a:folHlink>
        <a:srgbClr val="954F72"/>
      </a:folHlink>
    </a:clrScheme>
    <a:fontScheme name="사용자 지정 37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11024</TotalTime>
  <Words>2252</Words>
  <Application>Microsoft Office PowerPoint</Application>
  <PresentationFormat>화면 슬라이드 쇼(16:10)</PresentationFormat>
  <Paragraphs>476</Paragraphs>
  <Slides>34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8" baseType="lpstr">
      <vt:lpstr>나눔고딕 ExtraBold</vt:lpstr>
      <vt:lpstr>맑은 고딕</vt:lpstr>
      <vt:lpstr>나눔스퀘어 네오 Bold</vt:lpstr>
      <vt:lpstr>Wingdings</vt:lpstr>
      <vt:lpstr>나눔스퀘어 네오 ExtraBold</vt:lpstr>
      <vt:lpstr>Calibri</vt:lpstr>
      <vt:lpstr>HY헤드라인M</vt:lpstr>
      <vt:lpstr>KoPub돋움체 Bold</vt:lpstr>
      <vt:lpstr>KoPub돋움체 Medium</vt:lpstr>
      <vt:lpstr>Cambria Math</vt:lpstr>
      <vt:lpstr>함초롬바탕</vt:lpstr>
      <vt:lpstr>Times New Roman</vt:lpstr>
      <vt:lpstr>Arial</vt:lpstr>
      <vt:lpstr>Office 테마</vt:lpstr>
      <vt:lpstr>PowerPoint 프레젠테이션</vt:lpstr>
      <vt:lpstr>목차</vt:lpstr>
      <vt:lpstr>PowerPoint 프레젠테이션</vt:lpstr>
      <vt:lpstr>연구 배경 및 필요성</vt:lpstr>
      <vt:lpstr>연구 배경 및 필요성</vt:lpstr>
      <vt:lpstr>연구 배경 및 필요성</vt:lpstr>
      <vt:lpstr>연구 배경 및 필요성</vt:lpstr>
      <vt:lpstr>PowerPoint 프레젠테이션</vt:lpstr>
      <vt:lpstr>기술적 배경 및 사례분석</vt:lpstr>
      <vt:lpstr>기술적 배경 및 사례분석</vt:lpstr>
      <vt:lpstr>기술적 배경 및 사례분석</vt:lpstr>
      <vt:lpstr>PowerPoint 프레젠테이션</vt:lpstr>
      <vt:lpstr>제안 방법론</vt:lpstr>
      <vt:lpstr>제안 방법론</vt:lpstr>
      <vt:lpstr>제안 방법론</vt:lpstr>
      <vt:lpstr>제안 방법론</vt:lpstr>
      <vt:lpstr>제안 방법론</vt:lpstr>
      <vt:lpstr>PowerPoint 프레젠테이션</vt:lpstr>
      <vt:lpstr>시뮬레이션 결과분석</vt:lpstr>
      <vt:lpstr>시뮬레이션 결과분석</vt:lpstr>
      <vt:lpstr>시뮬레이션 결과분석</vt:lpstr>
      <vt:lpstr>시뮬레이션 결과분석</vt:lpstr>
      <vt:lpstr>시뮬레이션 결과분석</vt:lpstr>
      <vt:lpstr>시뮬레이션 결과분석</vt:lpstr>
      <vt:lpstr>시뮬레이션 결과분석</vt:lpstr>
      <vt:lpstr>시뮬레이션 결과분석</vt:lpstr>
      <vt:lpstr>시뮬레이션 결과분석</vt:lpstr>
      <vt:lpstr>시뮬레이션 결과분석</vt:lpstr>
      <vt:lpstr>시뮬레이션 결과분석</vt:lpstr>
      <vt:lpstr>시뮬레이션 결과분석</vt:lpstr>
      <vt:lpstr>PowerPoint 프레젠테이션</vt:lpstr>
      <vt:lpstr>결론 및 향후 연구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곽 현수</dc:creator>
  <cp:lastModifiedBy>안병현</cp:lastModifiedBy>
  <cp:revision>504</cp:revision>
  <cp:lastPrinted>2023-11-01T00:09:39Z</cp:lastPrinted>
  <dcterms:created xsi:type="dcterms:W3CDTF">2023-10-20T10:13:43Z</dcterms:created>
  <dcterms:modified xsi:type="dcterms:W3CDTF">2026-06-29T03:25:35Z</dcterms:modified>
</cp:coreProperties>
</file>