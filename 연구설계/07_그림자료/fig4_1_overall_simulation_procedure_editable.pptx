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19f687508454c" /><Relationship Type="http://schemas.openxmlformats.org/officeDocument/2006/relationships/extended-properties" Target="/docProps/app.xml" Id="Rb6e4ea4c50bd4952" /><Relationship Type="http://schemas.openxmlformats.org/officeDocument/2006/relationships/officeDocument" Target="/ppt/presentation.xml" Id="R48a148a1935a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5bf1472cd42a9"/>
  </p:sldMasterIdLst>
  <p:notesMasterIdLst>
    <p:notesMasterId xmlns:r="http://schemas.openxmlformats.org/officeDocument/2006/relationships" r:id="R73b4360ac5a240cd"/>
  </p:notesMasterIdLst>
  <p:sldIdLst>
    <p:sldId xmlns:r="http://schemas.openxmlformats.org/officeDocument/2006/relationships" id="256" r:id="R248f921fe9b14d98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72bbcb007243e5" /><Relationship Type="http://schemas.openxmlformats.org/officeDocument/2006/relationships/slideMaster" Target="/ppt/slideMasters/slideMaster1.xml" Id="Rf565bf1472cd42a9" /><Relationship Type="http://schemas.openxmlformats.org/officeDocument/2006/relationships/notesMaster" Target="/ppt/notesMasters/notesMaster1.xml" Id="R73b4360ac5a240cd" /><Relationship Type="http://schemas.openxmlformats.org/officeDocument/2006/relationships/presProps" Target="/ppt/presProps.xml" Id="R542a2a01e3494561" /><Relationship Type="http://schemas.openxmlformats.org/officeDocument/2006/relationships/tableStyles" Target="/ppt/tableStyles.xml" Id="R894abf06975045db" /><Relationship Type="http://schemas.openxmlformats.org/officeDocument/2006/relationships/slide" Target="/ppt/slides/slide1.xml" Id="R248f921fe9b1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0bee45ecf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35e438e0d4d14" /><Relationship Type="http://schemas.openxmlformats.org/officeDocument/2006/relationships/notesMaster" Target="/ppt/notesMasters/notesMaster1.xml" Id="Rf9b472f56ecd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a00e78f374e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1d3ee2c8a7493f" /><Relationship Type="http://schemas.openxmlformats.org/officeDocument/2006/relationships/slideLayout" Target="/ppt/slideLayouts/slideLayout1.xml" Id="Rb2a76148d097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76148d097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82f9490740ea" /><Relationship Type="http://schemas.openxmlformats.org/officeDocument/2006/relationships/notesSlide" Target="/ppt/notesSlides/notesSlide1.xml" Id="R193c39a91523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63D7224-1953-4787-8567-234C9C2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"/>
            <a:ext cx="1524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Overall Simulation Procedure</a:t>
            </a:r>
          </a:p>
        </p:txBody>
      </p:sp>
      <p:sp>
        <p:nvSpPr>
          <p:cNvPr id="2" name="input_box">
            <a:extLst xmlns:a="http://schemas.openxmlformats.org/drawingml/2006/main">
              <a:ext uri="{FF2B5EF4-FFF2-40B4-BE49-F238E27FC236}">
                <a16:creationId xmlns:a16="http://schemas.microsoft.com/office/drawing/2014/main" id="{A73D5F0C-599F-483A-8AE1-9B757B88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4000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B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3" name="input_title">
            <a:extLst xmlns:a="http://schemas.openxmlformats.org/drawingml/2006/main">
              <a:ext uri="{FF2B5EF4-FFF2-40B4-BE49-F238E27FC236}">
                <a16:creationId xmlns:a16="http://schemas.microsoft.com/office/drawing/2014/main" id="{7FAC0B65-F573-4A88-8CF8-66C13921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28725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입력 데이터</a:t>
            </a:r>
          </a:p>
        </p:txBody>
      </p:sp>
      <p:sp>
        <p:nvSpPr>
          <p:cNvPr id="4" name="input_body">
            <a:extLst xmlns:a="http://schemas.openxmlformats.org/drawingml/2006/main">
              <a:ext uri="{FF2B5EF4-FFF2-40B4-BE49-F238E27FC236}">
                <a16:creationId xmlns:a16="http://schemas.microsoft.com/office/drawing/2014/main" id="{EF271B25-8C70-49A9-B22B-4137599B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47825"/>
            <a:ext cx="3467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CNAIM 적용 데이터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교체비용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SAIDI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PI 산정자료</a:t>
            </a:r>
          </a:p>
        </p:txBody>
      </p:sp>
      <p:sp>
        <p:nvSpPr>
          <p:cNvPr id="5" name="candidate_box">
            <a:extLst xmlns:a="http://schemas.openxmlformats.org/drawingml/2006/main">
              <a:ext uri="{FF2B5EF4-FFF2-40B4-BE49-F238E27FC236}">
                <a16:creationId xmlns:a16="http://schemas.microsoft.com/office/drawing/2014/main" id="{D56B8086-7EBB-42E3-86D8-E4C5FDC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95375"/>
            <a:ext cx="4000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6" name="candidate_title">
            <a:extLst xmlns:a="http://schemas.openxmlformats.org/drawingml/2006/main">
              <a:ext uri="{FF2B5EF4-FFF2-40B4-BE49-F238E27FC236}">
                <a16:creationId xmlns:a16="http://schemas.microsoft.com/office/drawing/2014/main" id="{4B727449-6265-4D26-8AFB-FE7BB656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228725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후보군 구성</a:t>
            </a:r>
          </a:p>
        </p:txBody>
      </p:sp>
      <p:sp>
        <p:nvSpPr>
          <p:cNvPr id="7" name="candidate_body">
            <a:extLst xmlns:a="http://schemas.openxmlformats.org/drawingml/2006/main">
              <a:ext uri="{FF2B5EF4-FFF2-40B4-BE49-F238E27FC236}">
                <a16:creationId xmlns:a16="http://schemas.microsoft.com/office/drawing/2014/main" id="{2C976DA1-1863-4FF6-8808-3E7DAACC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85925"/>
            <a:ext cx="34671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기준연도 Risk 상위 30%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투자가치 상위 30%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통합 후보군</a:t>
            </a:r>
          </a:p>
        </p:txBody>
      </p:sp>
      <p:sp>
        <p:nvSpPr>
          <p:cNvPr id="8" name="constraints_box">
            <a:extLst xmlns:a="http://schemas.openxmlformats.org/drawingml/2006/main">
              <a:ext uri="{FF2B5EF4-FFF2-40B4-BE49-F238E27FC236}">
                <a16:creationId xmlns:a16="http://schemas.microsoft.com/office/drawing/2014/main" id="{99F46851-0920-46CF-9EAB-D8E281F6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95375"/>
            <a:ext cx="4000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9" name="constraints_title">
            <a:extLst xmlns:a="http://schemas.openxmlformats.org/drawingml/2006/main">
              <a:ext uri="{FF2B5EF4-FFF2-40B4-BE49-F238E27FC236}">
                <a16:creationId xmlns:a16="http://schemas.microsoft.com/office/drawing/2014/main" id="{AD0FE2F1-43F3-43CB-9B87-07A8003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228725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공통 제약조건</a:t>
            </a:r>
          </a:p>
        </p:txBody>
      </p:sp>
      <p:sp>
        <p:nvSpPr>
          <p:cNvPr id="10" name="constraints_body">
            <a:extLst xmlns:a="http://schemas.openxmlformats.org/drawingml/2006/main">
              <a:ext uri="{FF2B5EF4-FFF2-40B4-BE49-F238E27FC236}">
                <a16:creationId xmlns:a16="http://schemas.microsoft.com/office/drawing/2014/main" id="{0252E597-F2F5-4A9D-8864-8A3DAE1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47825"/>
            <a:ext cx="3467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연도별 예산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연도별 물량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• 동일 설비 최대 1회 교체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42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※ 모든 Stage 동일 적용</a:t>
            </a:r>
          </a:p>
        </p:txBody>
      </p:sp>
      <p:sp>
        <p:nvSpPr>
          <p:cNvPr id="11" name="stage1_box">
            <a:extLst xmlns:a="http://schemas.openxmlformats.org/drawingml/2006/main">
              <a:ext uri="{FF2B5EF4-FFF2-40B4-BE49-F238E27FC236}">
                <a16:creationId xmlns:a16="http://schemas.microsoft.com/office/drawing/2014/main" id="{97A9738D-F764-4569-AC25-9E8E0159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000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B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12" name="stage1_title">
            <a:extLst xmlns:a="http://schemas.openxmlformats.org/drawingml/2006/main">
              <a:ext uri="{FF2B5EF4-FFF2-40B4-BE49-F238E27FC236}">
                <a16:creationId xmlns:a16="http://schemas.microsoft.com/office/drawing/2014/main" id="{E173FA5F-D317-4BDC-AC93-00528C73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1: Risk·투자가치 기반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3" name="stage1_body">
            <a:extLst xmlns:a="http://schemas.openxmlformats.org/drawingml/2006/main">
              <a:ext uri="{FF2B5EF4-FFF2-40B4-BE49-F238E27FC236}">
                <a16:creationId xmlns:a16="http://schemas.microsoft.com/office/drawing/2014/main" id="{52E24D07-1A85-4310-BA8C-5DCD9346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467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Risk Greedy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Greedy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ILP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IV GA</a:t>
            </a:r>
          </a:p>
        </p:txBody>
      </p:sp>
      <p:sp>
        <p:nvSpPr>
          <p:cNvPr id="14" name="stage2_box">
            <a:extLst xmlns:a="http://schemas.openxmlformats.org/drawingml/2006/main">
              <a:ext uri="{FF2B5EF4-FFF2-40B4-BE49-F238E27FC236}">
                <a16:creationId xmlns:a16="http://schemas.microsoft.com/office/drawing/2014/main" id="{D2DC7087-EE1B-4040-851F-3478CAC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62375"/>
            <a:ext cx="4000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8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15" name="stage2_title">
            <a:extLst xmlns:a="http://schemas.openxmlformats.org/drawingml/2006/main">
              <a:ext uri="{FF2B5EF4-FFF2-40B4-BE49-F238E27FC236}">
                <a16:creationId xmlns:a16="http://schemas.microsoft.com/office/drawing/2014/main" id="{D73F5949-46CC-4B68-BEC5-DEC27D0D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9572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2: 설비 단위 PI 기반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6" name="stage2_body">
            <a:extLst xmlns:a="http://schemas.openxmlformats.org/drawingml/2006/main">
              <a:ext uri="{FF2B5EF4-FFF2-40B4-BE49-F238E27FC236}">
                <a16:creationId xmlns:a16="http://schemas.microsoft.com/office/drawing/2014/main" id="{2FA15FCC-C143-466D-B93F-B56937C0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9625"/>
            <a:ext cx="34671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Greedy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ILP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PI GA</a:t>
            </a:r>
          </a:p>
        </p:txBody>
      </p:sp>
      <p:sp>
        <p:nvSpPr>
          <p:cNvPr id="17" name="stage3_box">
            <a:extLst xmlns:a="http://schemas.openxmlformats.org/drawingml/2006/main">
              <a:ext uri="{FF2B5EF4-FFF2-40B4-BE49-F238E27FC236}">
                <a16:creationId xmlns:a16="http://schemas.microsoft.com/office/drawing/2014/main" id="{54AA96C2-0EBE-4F3C-BE3A-517FF05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62375"/>
            <a:ext cx="4000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F8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18" name="stage3_title">
            <a:extLst xmlns:a="http://schemas.openxmlformats.org/drawingml/2006/main">
              <a:ext uri="{FF2B5EF4-FFF2-40B4-BE49-F238E27FC236}">
                <a16:creationId xmlns:a16="http://schemas.microsoft.com/office/drawing/2014/main" id="{00D414F6-FBBF-4FF5-AA63-E5150ED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9572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Stage 3: 통합 PI 기반 시스템 단위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포트폴리오 최적화</a:t>
            </a:r>
          </a:p>
        </p:txBody>
      </p:sp>
      <p:sp>
        <p:nvSpPr>
          <p:cNvPr id="19" name="stage3_body">
            <a:extLst xmlns:a="http://schemas.openxmlformats.org/drawingml/2006/main">
              <a:ext uri="{FF2B5EF4-FFF2-40B4-BE49-F238E27FC236}">
                <a16:creationId xmlns:a16="http://schemas.microsoft.com/office/drawing/2014/main" id="{BC697E0D-4FE0-413D-91F8-18D033B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81525"/>
            <a:ext cx="3467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설비유형 가중치 적용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통합 PI 기반 포트폴리오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시스템 단위 성과 비교</a:t>
            </a:r>
          </a:p>
        </p:txBody>
      </p:sp>
      <p:sp>
        <p:nvSpPr>
          <p:cNvPr id="20" name="sensitivity_box">
            <a:extLst xmlns:a="http://schemas.openxmlformats.org/drawingml/2006/main">
              <a:ext uri="{FF2B5EF4-FFF2-40B4-BE49-F238E27FC236}">
                <a16:creationId xmlns:a16="http://schemas.microsoft.com/office/drawing/2014/main" id="{203F5D69-7CF3-4234-89BB-1E8EDAE9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390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7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21" name="sensitivity_title">
            <a:extLst xmlns:a="http://schemas.openxmlformats.org/drawingml/2006/main">
              <a:ext uri="{FF2B5EF4-FFF2-40B4-BE49-F238E27FC236}">
                <a16:creationId xmlns:a16="http://schemas.microsoft.com/office/drawing/2014/main" id="{4B119810-185E-4674-AA4D-05767D35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103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8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민감도 및 강건성 검증</a:t>
            </a:r>
          </a:p>
        </p:txBody>
      </p:sp>
      <p:sp>
        <p:nvSpPr>
          <p:cNvPr id="22" name="sensitivity_body">
            <a:extLst xmlns:a="http://schemas.openxmlformats.org/drawingml/2006/main">
              <a:ext uri="{FF2B5EF4-FFF2-40B4-BE49-F238E27FC236}">
                <a16:creationId xmlns:a16="http://schemas.microsoft.com/office/drawing/2014/main" id="{4548084F-605A-4B1A-ACFC-062FC74E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24675"/>
            <a:ext cx="1362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75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예산, 물량, SAIDI, Risk 총량, 운영목표 가중치</a:t>
            </a:r>
          </a:p>
        </p:txBody>
      </p:sp>
      <p:sp>
        <p:nvSpPr>
          <p:cNvPr id="23" name="sens_anchor_stage1">
            <a:extLst xmlns:a="http://schemas.openxmlformats.org/drawingml/2006/main">
              <a:ext uri="{FF2B5EF4-FFF2-40B4-BE49-F238E27FC236}">
                <a16:creationId xmlns:a16="http://schemas.microsoft.com/office/drawing/2014/main" id="{D8B5D6F0-52A5-413F-A1F1-396672A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45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ns_anchor_stage2">
            <a:extLst xmlns:a="http://schemas.openxmlformats.org/drawingml/2006/main">
              <a:ext uri="{FF2B5EF4-FFF2-40B4-BE49-F238E27FC236}">
                <a16:creationId xmlns:a16="http://schemas.microsoft.com/office/drawing/2014/main" id="{E23B8941-9FF9-4987-B4F8-7CE274B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45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_anchor_stage3">
            <a:extLst xmlns:a="http://schemas.openxmlformats.org/drawingml/2006/main">
              <a:ext uri="{FF2B5EF4-FFF2-40B4-BE49-F238E27FC236}">
                <a16:creationId xmlns:a16="http://schemas.microsoft.com/office/drawing/2014/main" id="{C373DFD4-EBF4-4EC3-8AE1-BE70A71D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45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inal_anchor">
            <a:extLst xmlns:a="http://schemas.openxmlformats.org/drawingml/2006/main">
              <a:ext uri="{FF2B5EF4-FFF2-40B4-BE49-F238E27FC236}">
                <a16:creationId xmlns:a16="http://schemas.microsoft.com/office/drawing/2014/main" id="{4EA904BA-1009-4430-ACFD-D3877D7E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3907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nal_box">
            <a:extLst xmlns:a="http://schemas.openxmlformats.org/drawingml/2006/main">
              <a:ext uri="{FF2B5EF4-FFF2-40B4-BE49-F238E27FC236}">
                <a16:creationId xmlns:a16="http://schemas.microsoft.com/office/drawing/2014/main" id="{C393AE51-04A9-4F7F-924E-959C790A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5812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20955">
            <a:solidFill>
              <a:srgbClr val="0B2B56"/>
            </a:solidFill>
            <a:prstDash val="solid"/>
          </a:ln>
        </p:spPr>
      </p:sp>
      <p:sp>
        <p:nvSpPr>
          <p:cNvPr id="28" name="final_title">
            <a:extLst xmlns:a="http://schemas.openxmlformats.org/drawingml/2006/main">
              <a:ext uri="{FF2B5EF4-FFF2-40B4-BE49-F238E27FC236}">
                <a16:creationId xmlns:a16="http://schemas.microsoft.com/office/drawing/2014/main" id="{1E9FA18F-F2BC-4B41-B34B-D6772A38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924800"/>
            <a:ext cx="1362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500" b="1">
                <a:solidFill>
                  <a:srgbClr val="111111"/>
                </a:solidFill>
                <a:latin typeface="Batang"/>
                <a:ea typeface="Batang"/>
                <a:cs typeface="Batang"/>
              </a:rPr>
              <a:t>최종 비교지표</a:t>
            </a:r>
          </a:p>
        </p:txBody>
      </p:sp>
      <p:sp>
        <p:nvSpPr>
          <p:cNvPr id="29" name="final_body">
            <a:extLst xmlns:a="http://schemas.openxmlformats.org/drawingml/2006/main">
              <a:ext uri="{FF2B5EF4-FFF2-40B4-BE49-F238E27FC236}">
                <a16:creationId xmlns:a16="http://schemas.microsoft.com/office/drawing/2014/main" id="{FA4E83E0-B999-4FEE-837C-BE399B4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143875"/>
            <a:ext cx="1362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Batang"/>
                <a:ea typeface="Batang"/>
                <a:cs typeface="Batang"/>
              </a:defRPr>
            </a:pPr>
            <a:r>
              <a:rPr sz="1350" b="0">
                <a:solidFill>
                  <a:srgbClr val="111111"/>
                </a:solidFill>
                <a:latin typeface="Batang"/>
                <a:ea typeface="Batang"/>
                <a:cs typeface="Batang"/>
              </a:rPr>
              <a:t>투자대수, 투자비용, Risk 저감량, 투자가치, SAIDI 저감량, PI</a:t>
            </a:r>
          </a:p>
        </p:txBody>
      </p:sp>
      <p:cxnSp>
        <p:nvCxnSpPr>
          <p:cNvPr id="69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67250" y="19288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19288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667000" y="276225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0" y="276225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67250" y="46910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620250" y="469106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2667000" y="56197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4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620000" y="56197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7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573000" y="56197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20000" y="73342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2B56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07427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2026-06-26T13:18:36.9570000Z</dcterms:created>
  <dcterms:modified xsi:type="dcterms:W3CDTF">2026-06-26T13:18:36.9580000Z</dcterms:modified>
</coreProperties>
</file>