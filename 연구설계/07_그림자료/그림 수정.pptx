
<file path=[Content_Types].xml><?xml version="1.0" encoding="utf-8"?>
<Types xmlns="http://schemas.openxmlformats.org/package/2006/content-types">
  <Default Extension="bmp" ContentType="image/bmp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CEC"/>
    <a:srgbClr val="FFFDF9"/>
    <a:srgbClr val="FEF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b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put_box">
            <a:extLst>
              <a:ext uri="{FF2B5EF4-FFF2-40B4-BE49-F238E27FC236}">
                <a16:creationId xmlns:a16="http://schemas.microsoft.com/office/drawing/2014/main" id="{A73D5F0C-599F-483A-8AE1-9B757B88C7E8}"/>
              </a:ext>
            </a:extLst>
          </p:cNvPr>
          <p:cNvSpPr>
            <a:spLocks noGrp="1"/>
          </p:cNvSpPr>
          <p:nvPr/>
        </p:nvSpPr>
        <p:spPr>
          <a:xfrm>
            <a:off x="666750" y="1095375"/>
            <a:ext cx="4000500" cy="1666875"/>
          </a:xfrm>
          <a:prstGeom prst="rect">
            <a:avLst/>
          </a:prstGeom>
          <a:solidFill>
            <a:srgbClr val="E4F1FB"/>
          </a:solidFill>
          <a:ln w="20955">
            <a:solidFill>
              <a:srgbClr val="0B2B56"/>
            </a:solidFill>
            <a:prstDash val="solid"/>
          </a:ln>
        </p:spPr>
      </p:sp>
      <p:sp>
        <p:nvSpPr>
          <p:cNvPr id="3" name="input_title">
            <a:extLst>
              <a:ext uri="{FF2B5EF4-FFF2-40B4-BE49-F238E27FC236}">
                <a16:creationId xmlns:a16="http://schemas.microsoft.com/office/drawing/2014/main" id="{7FAC0B65-F573-4A88-8CF8-66C13921E555}"/>
              </a:ext>
            </a:extLst>
          </p:cNvPr>
          <p:cNvSpPr>
            <a:spLocks noGrp="1"/>
          </p:cNvSpPr>
          <p:nvPr/>
        </p:nvSpPr>
        <p:spPr>
          <a:xfrm>
            <a:off x="781050" y="1228725"/>
            <a:ext cx="377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8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입력 데이터</a:t>
            </a:r>
          </a:p>
        </p:txBody>
      </p:sp>
      <p:sp>
        <p:nvSpPr>
          <p:cNvPr id="4" name="input_body">
            <a:extLst>
              <a:ext uri="{FF2B5EF4-FFF2-40B4-BE49-F238E27FC236}">
                <a16:creationId xmlns:a16="http://schemas.microsoft.com/office/drawing/2014/main" id="{EF271B25-8C70-49A9-B22B-4137599B653E}"/>
              </a:ext>
            </a:extLst>
          </p:cNvPr>
          <p:cNvSpPr>
            <a:spLocks noGrp="1"/>
          </p:cNvSpPr>
          <p:nvPr/>
        </p:nvSpPr>
        <p:spPr>
          <a:xfrm>
            <a:off x="933450" y="1647825"/>
            <a:ext cx="34671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CNAIM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적용</a:t>
            </a: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데이터</a:t>
            </a:r>
            <a:endParaRPr sz="1575" b="0" dirty="0">
              <a:solidFill>
                <a:srgbClr val="111111"/>
              </a:solidFill>
              <a:latin typeface="Batang"/>
              <a:ea typeface="Batang"/>
              <a:cs typeface="Batang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교체비용</a:t>
            </a:r>
            <a:endParaRPr sz="1575" b="0" dirty="0">
              <a:solidFill>
                <a:srgbClr val="111111"/>
              </a:solidFill>
              <a:latin typeface="Batang"/>
              <a:ea typeface="Batang"/>
              <a:cs typeface="Batang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SAIDI</a:t>
            </a: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PI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산정자료</a:t>
            </a:r>
            <a:endParaRPr sz="1575" b="0" dirty="0">
              <a:solidFill>
                <a:srgbClr val="111111"/>
              </a:solidFill>
              <a:latin typeface="Batang"/>
              <a:ea typeface="Batang"/>
              <a:cs typeface="Batang"/>
            </a:endParaRPr>
          </a:p>
        </p:txBody>
      </p:sp>
      <p:sp>
        <p:nvSpPr>
          <p:cNvPr id="5" name="candidate_box">
            <a:extLst>
              <a:ext uri="{FF2B5EF4-FFF2-40B4-BE49-F238E27FC236}">
                <a16:creationId xmlns:a16="http://schemas.microsoft.com/office/drawing/2014/main" id="{D56B8086-7EBB-42E3-86D8-E4C5FDC1785E}"/>
              </a:ext>
            </a:extLst>
          </p:cNvPr>
          <p:cNvSpPr>
            <a:spLocks noGrp="1"/>
          </p:cNvSpPr>
          <p:nvPr/>
        </p:nvSpPr>
        <p:spPr>
          <a:xfrm>
            <a:off x="5619750" y="1095375"/>
            <a:ext cx="4000500" cy="1666875"/>
          </a:xfrm>
          <a:prstGeom prst="rect">
            <a:avLst/>
          </a:prstGeom>
          <a:solidFill>
            <a:srgbClr val="FFF0DD"/>
          </a:solidFill>
          <a:ln w="20955">
            <a:solidFill>
              <a:srgbClr val="0B2B56"/>
            </a:solidFill>
            <a:prstDash val="solid"/>
          </a:ln>
        </p:spPr>
      </p:sp>
      <p:sp>
        <p:nvSpPr>
          <p:cNvPr id="6" name="candidate_title">
            <a:extLst>
              <a:ext uri="{FF2B5EF4-FFF2-40B4-BE49-F238E27FC236}">
                <a16:creationId xmlns:a16="http://schemas.microsoft.com/office/drawing/2014/main" id="{4B727449-6265-4D26-8AFB-FE7BB656BB7A}"/>
              </a:ext>
            </a:extLst>
          </p:cNvPr>
          <p:cNvSpPr>
            <a:spLocks noGrp="1"/>
          </p:cNvSpPr>
          <p:nvPr/>
        </p:nvSpPr>
        <p:spPr>
          <a:xfrm>
            <a:off x="5734050" y="1228725"/>
            <a:ext cx="377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8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후보군 구성</a:t>
            </a:r>
          </a:p>
        </p:txBody>
      </p:sp>
      <p:sp>
        <p:nvSpPr>
          <p:cNvPr id="7" name="candidate_body">
            <a:extLst>
              <a:ext uri="{FF2B5EF4-FFF2-40B4-BE49-F238E27FC236}">
                <a16:creationId xmlns:a16="http://schemas.microsoft.com/office/drawing/2014/main" id="{2C976DA1-1863-4FF6-8808-3E7DAACC359C}"/>
              </a:ext>
            </a:extLst>
          </p:cNvPr>
          <p:cNvSpPr>
            <a:spLocks noGrp="1"/>
          </p:cNvSpPr>
          <p:nvPr/>
        </p:nvSpPr>
        <p:spPr>
          <a:xfrm>
            <a:off x="5886450" y="1685925"/>
            <a:ext cx="346710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기준연도</a:t>
            </a: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 Risk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상위</a:t>
            </a: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 30%</a:t>
            </a: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투자가치</a:t>
            </a: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상위</a:t>
            </a: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 30%</a:t>
            </a: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통합</a:t>
            </a:r>
            <a:r>
              <a:rPr sz="1575" b="0" dirty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후보군</a:t>
            </a:r>
            <a:endParaRPr sz="1575" b="0" dirty="0">
              <a:solidFill>
                <a:srgbClr val="111111"/>
              </a:solidFill>
              <a:latin typeface="Batang"/>
              <a:ea typeface="Batang"/>
              <a:cs typeface="Batang"/>
            </a:endParaRPr>
          </a:p>
        </p:txBody>
      </p:sp>
      <p:sp>
        <p:nvSpPr>
          <p:cNvPr id="8" name="constraints_box">
            <a:extLst>
              <a:ext uri="{FF2B5EF4-FFF2-40B4-BE49-F238E27FC236}">
                <a16:creationId xmlns:a16="http://schemas.microsoft.com/office/drawing/2014/main" id="{99F46851-0920-46CF-9EAB-D8E281F6C9DD}"/>
              </a:ext>
            </a:extLst>
          </p:cNvPr>
          <p:cNvSpPr>
            <a:spLocks noGrp="1"/>
          </p:cNvSpPr>
          <p:nvPr/>
        </p:nvSpPr>
        <p:spPr>
          <a:xfrm>
            <a:off x="10572750" y="1095375"/>
            <a:ext cx="4000500" cy="1666875"/>
          </a:xfrm>
          <a:prstGeom prst="rect">
            <a:avLst/>
          </a:prstGeom>
          <a:solidFill>
            <a:srgbClr val="EEEEEE"/>
          </a:solidFill>
          <a:ln w="20955">
            <a:solidFill>
              <a:srgbClr val="0B2B56"/>
            </a:solidFill>
            <a:prstDash val="solid"/>
          </a:ln>
        </p:spPr>
      </p:sp>
      <p:sp>
        <p:nvSpPr>
          <p:cNvPr id="9" name="constraints_title">
            <a:extLst>
              <a:ext uri="{FF2B5EF4-FFF2-40B4-BE49-F238E27FC236}">
                <a16:creationId xmlns:a16="http://schemas.microsoft.com/office/drawing/2014/main" id="{AD0FE2F1-43F3-43CB-9B87-07A8003DB770}"/>
              </a:ext>
            </a:extLst>
          </p:cNvPr>
          <p:cNvSpPr>
            <a:spLocks noGrp="1"/>
          </p:cNvSpPr>
          <p:nvPr/>
        </p:nvSpPr>
        <p:spPr>
          <a:xfrm>
            <a:off x="10687050" y="1228725"/>
            <a:ext cx="377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8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공통 제약조건</a:t>
            </a:r>
          </a:p>
        </p:txBody>
      </p:sp>
      <p:sp>
        <p:nvSpPr>
          <p:cNvPr id="10" name="constraints_body">
            <a:extLst>
              <a:ext uri="{FF2B5EF4-FFF2-40B4-BE49-F238E27FC236}">
                <a16:creationId xmlns:a16="http://schemas.microsoft.com/office/drawing/2014/main" id="{0252E597-F2F5-4A9D-8864-8A3DAE128136}"/>
              </a:ext>
            </a:extLst>
          </p:cNvPr>
          <p:cNvSpPr>
            <a:spLocks noGrp="1"/>
          </p:cNvSpPr>
          <p:nvPr/>
        </p:nvSpPr>
        <p:spPr>
          <a:xfrm>
            <a:off x="10839450" y="1647825"/>
            <a:ext cx="34671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연도별 예산</a:t>
            </a: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연도별 물량</a:t>
            </a: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동일 설비 최대 1회 교체</a:t>
            </a: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※ 모든 Stage 동일 적용</a:t>
            </a:r>
          </a:p>
        </p:txBody>
      </p:sp>
      <p:sp>
        <p:nvSpPr>
          <p:cNvPr id="11" name="stage1_box">
            <a:extLst>
              <a:ext uri="{FF2B5EF4-FFF2-40B4-BE49-F238E27FC236}">
                <a16:creationId xmlns:a16="http://schemas.microsoft.com/office/drawing/2014/main" id="{97A9738D-F764-4569-AC25-9E8E0159080E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4000500" cy="1857375"/>
          </a:xfrm>
          <a:prstGeom prst="rect">
            <a:avLst/>
          </a:prstGeom>
          <a:solidFill>
            <a:srgbClr val="E4F1FB"/>
          </a:solidFill>
          <a:ln w="20955">
            <a:solidFill>
              <a:srgbClr val="0B2B56"/>
            </a:solidFill>
            <a:prstDash val="solid"/>
          </a:ln>
        </p:spPr>
      </p:sp>
      <p:sp>
        <p:nvSpPr>
          <p:cNvPr id="12" name="stage1_title">
            <a:extLst>
              <a:ext uri="{FF2B5EF4-FFF2-40B4-BE49-F238E27FC236}">
                <a16:creationId xmlns:a16="http://schemas.microsoft.com/office/drawing/2014/main" id="{E173FA5F-D317-4BDC-AC93-00528C73A592}"/>
              </a:ext>
            </a:extLst>
          </p:cNvPr>
          <p:cNvSpPr>
            <a:spLocks noGrp="1"/>
          </p:cNvSpPr>
          <p:nvPr/>
        </p:nvSpPr>
        <p:spPr>
          <a:xfrm>
            <a:off x="781050" y="3895725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Stage 1: Risk·투자가치 기반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포트폴리오 최적화</a:t>
            </a:r>
          </a:p>
        </p:txBody>
      </p:sp>
      <p:sp>
        <p:nvSpPr>
          <p:cNvPr id="13" name="stage1_body">
            <a:extLst>
              <a:ext uri="{FF2B5EF4-FFF2-40B4-BE49-F238E27FC236}">
                <a16:creationId xmlns:a16="http://schemas.microsoft.com/office/drawing/2014/main" id="{52E24D07-1A85-4310-BA8C-5DCD93464A53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4671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Risk Greedy</a:t>
            </a:r>
          </a:p>
          <a:p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IV Greedy</a:t>
            </a:r>
          </a:p>
          <a:p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IV ILP</a:t>
            </a:r>
          </a:p>
          <a:p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IV GA</a:t>
            </a:r>
          </a:p>
        </p:txBody>
      </p:sp>
      <p:sp>
        <p:nvSpPr>
          <p:cNvPr id="14" name="stage2_box">
            <a:extLst>
              <a:ext uri="{FF2B5EF4-FFF2-40B4-BE49-F238E27FC236}">
                <a16:creationId xmlns:a16="http://schemas.microsoft.com/office/drawing/2014/main" id="{D2DC7087-EE1B-4040-851F-3478CACD0D68}"/>
              </a:ext>
            </a:extLst>
          </p:cNvPr>
          <p:cNvSpPr>
            <a:spLocks noGrp="1"/>
          </p:cNvSpPr>
          <p:nvPr/>
        </p:nvSpPr>
        <p:spPr>
          <a:xfrm>
            <a:off x="5619750" y="3762375"/>
            <a:ext cx="4000500" cy="1857375"/>
          </a:xfrm>
          <a:prstGeom prst="rect">
            <a:avLst/>
          </a:prstGeom>
          <a:solidFill>
            <a:srgbClr val="E8F7E8"/>
          </a:solidFill>
          <a:ln w="20955">
            <a:solidFill>
              <a:srgbClr val="0B2B56"/>
            </a:solidFill>
            <a:prstDash val="solid"/>
          </a:ln>
        </p:spPr>
      </p:sp>
      <p:sp>
        <p:nvSpPr>
          <p:cNvPr id="15" name="stage2_title">
            <a:extLst>
              <a:ext uri="{FF2B5EF4-FFF2-40B4-BE49-F238E27FC236}">
                <a16:creationId xmlns:a16="http://schemas.microsoft.com/office/drawing/2014/main" id="{D73F5949-46CC-4B68-BEC5-DEC27D0DBAA2}"/>
              </a:ext>
            </a:extLst>
          </p:cNvPr>
          <p:cNvSpPr>
            <a:spLocks noGrp="1"/>
          </p:cNvSpPr>
          <p:nvPr/>
        </p:nvSpPr>
        <p:spPr>
          <a:xfrm>
            <a:off x="5734050" y="3895725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Stage 2: 설비 단위 PI 기반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포트폴리오 최적화</a:t>
            </a:r>
          </a:p>
        </p:txBody>
      </p:sp>
      <p:sp>
        <p:nvSpPr>
          <p:cNvPr id="16" name="stage2_body">
            <a:extLst>
              <a:ext uri="{FF2B5EF4-FFF2-40B4-BE49-F238E27FC236}">
                <a16:creationId xmlns:a16="http://schemas.microsoft.com/office/drawing/2014/main" id="{2FA15FCC-C143-466D-B93F-B56937C003B3}"/>
              </a:ext>
            </a:extLst>
          </p:cNvPr>
          <p:cNvSpPr>
            <a:spLocks noGrp="1"/>
          </p:cNvSpPr>
          <p:nvPr/>
        </p:nvSpPr>
        <p:spPr>
          <a:xfrm>
            <a:off x="5886450" y="4619625"/>
            <a:ext cx="34671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PI Greedy</a:t>
            </a:r>
          </a:p>
          <a:p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PI ILP</a:t>
            </a:r>
          </a:p>
          <a:p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PI GA</a:t>
            </a:r>
          </a:p>
        </p:txBody>
      </p:sp>
      <p:sp>
        <p:nvSpPr>
          <p:cNvPr id="17" name="stage3_box">
            <a:extLst>
              <a:ext uri="{FF2B5EF4-FFF2-40B4-BE49-F238E27FC236}">
                <a16:creationId xmlns:a16="http://schemas.microsoft.com/office/drawing/2014/main" id="{54AA96C2-0EBE-4F3C-BE3A-517FF05ED59E}"/>
              </a:ext>
            </a:extLst>
          </p:cNvPr>
          <p:cNvSpPr>
            <a:spLocks noGrp="1"/>
          </p:cNvSpPr>
          <p:nvPr/>
        </p:nvSpPr>
        <p:spPr>
          <a:xfrm>
            <a:off x="10572750" y="3762375"/>
            <a:ext cx="4000500" cy="1857375"/>
          </a:xfrm>
          <a:prstGeom prst="rect">
            <a:avLst/>
          </a:prstGeom>
          <a:solidFill>
            <a:srgbClr val="F1E5F8"/>
          </a:solidFill>
          <a:ln w="20955">
            <a:solidFill>
              <a:srgbClr val="0B2B56"/>
            </a:solidFill>
            <a:prstDash val="solid"/>
          </a:ln>
        </p:spPr>
      </p:sp>
      <p:sp>
        <p:nvSpPr>
          <p:cNvPr id="18" name="stage3_title">
            <a:extLst>
              <a:ext uri="{FF2B5EF4-FFF2-40B4-BE49-F238E27FC236}">
                <a16:creationId xmlns:a16="http://schemas.microsoft.com/office/drawing/2014/main" id="{00D414F6-FBBF-4FF5-AA63-E5150EDBC5AB}"/>
              </a:ext>
            </a:extLst>
          </p:cNvPr>
          <p:cNvSpPr>
            <a:spLocks noGrp="1"/>
          </p:cNvSpPr>
          <p:nvPr/>
        </p:nvSpPr>
        <p:spPr>
          <a:xfrm>
            <a:off x="10687050" y="3895725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Stage 3: 통합 PI 기반 시스템 단위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포트폴리오 최적화</a:t>
            </a:r>
          </a:p>
        </p:txBody>
      </p:sp>
      <p:sp>
        <p:nvSpPr>
          <p:cNvPr id="19" name="stage3_body">
            <a:extLst>
              <a:ext uri="{FF2B5EF4-FFF2-40B4-BE49-F238E27FC236}">
                <a16:creationId xmlns:a16="http://schemas.microsoft.com/office/drawing/2014/main" id="{BC697E0D-4FE0-413D-91F8-18D033B7E97D}"/>
              </a:ext>
            </a:extLst>
          </p:cNvPr>
          <p:cNvSpPr>
            <a:spLocks noGrp="1"/>
          </p:cNvSpPr>
          <p:nvPr/>
        </p:nvSpPr>
        <p:spPr>
          <a:xfrm>
            <a:off x="10839450" y="4581525"/>
            <a:ext cx="34671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설비유형 가중치 적용</a:t>
            </a:r>
          </a:p>
          <a:p>
            <a:pPr algn="ctr">
              <a:lnSpc>
                <a:spcPct val="100000"/>
              </a:lnSpc>
              <a:buNone/>
              <a:defRPr sz="1500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통합 PI 기반 포트폴리오</a:t>
            </a:r>
          </a:p>
          <a:p>
            <a:pPr algn="ctr">
              <a:lnSpc>
                <a:spcPct val="100000"/>
              </a:lnSpc>
              <a:buNone/>
              <a:defRPr sz="1500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시스템 단위 성과 비교</a:t>
            </a:r>
          </a:p>
        </p:txBody>
      </p:sp>
      <p:sp>
        <p:nvSpPr>
          <p:cNvPr id="20" name="sensitivity_box">
            <a:extLst>
              <a:ext uri="{FF2B5EF4-FFF2-40B4-BE49-F238E27FC236}">
                <a16:creationId xmlns:a16="http://schemas.microsoft.com/office/drawing/2014/main" id="{203F5D69-7CF3-4234-89BB-1E8EDAE99B1D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13906500" cy="857250"/>
          </a:xfrm>
          <a:prstGeom prst="rect">
            <a:avLst/>
          </a:prstGeom>
          <a:solidFill>
            <a:srgbClr val="FFF7D7"/>
          </a:solidFill>
          <a:ln w="20955">
            <a:solidFill>
              <a:srgbClr val="0B2B56"/>
            </a:solidFill>
            <a:prstDash val="solid"/>
          </a:ln>
        </p:spPr>
      </p:sp>
      <p:sp>
        <p:nvSpPr>
          <p:cNvPr id="21" name="sensitivity_title">
            <a:extLst>
              <a:ext uri="{FF2B5EF4-FFF2-40B4-BE49-F238E27FC236}">
                <a16:creationId xmlns:a16="http://schemas.microsoft.com/office/drawing/2014/main" id="{4B119810-185E-4674-AA4D-05767D355B64}"/>
              </a:ext>
            </a:extLst>
          </p:cNvPr>
          <p:cNvSpPr>
            <a:spLocks noGrp="1"/>
          </p:cNvSpPr>
          <p:nvPr/>
        </p:nvSpPr>
        <p:spPr>
          <a:xfrm>
            <a:off x="809625" y="6610350"/>
            <a:ext cx="1362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800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민감도 및 강건성 검증</a:t>
            </a:r>
          </a:p>
        </p:txBody>
      </p:sp>
      <p:sp>
        <p:nvSpPr>
          <p:cNvPr id="22" name="sensitivity_body">
            <a:extLst>
              <a:ext uri="{FF2B5EF4-FFF2-40B4-BE49-F238E27FC236}">
                <a16:creationId xmlns:a16="http://schemas.microsoft.com/office/drawing/2014/main" id="{4548084F-605A-4B1A-ACFC-062FC74EBFF9}"/>
              </a:ext>
            </a:extLst>
          </p:cNvPr>
          <p:cNvSpPr>
            <a:spLocks noGrp="1"/>
          </p:cNvSpPr>
          <p:nvPr/>
        </p:nvSpPr>
        <p:spPr>
          <a:xfrm>
            <a:off x="809625" y="6924675"/>
            <a:ext cx="1362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예산, 물량, SAIDI, Risk 총량, 운영목표 가중치</a:t>
            </a:r>
          </a:p>
        </p:txBody>
      </p:sp>
      <p:sp>
        <p:nvSpPr>
          <p:cNvPr id="23" name="sens_anchor_stage1">
            <a:extLst>
              <a:ext uri="{FF2B5EF4-FFF2-40B4-BE49-F238E27FC236}">
                <a16:creationId xmlns:a16="http://schemas.microsoft.com/office/drawing/2014/main" id="{D8B5D6F0-52A5-413F-A1F1-396672A9BA86}"/>
              </a:ext>
            </a:extLst>
          </p:cNvPr>
          <p:cNvSpPr>
            <a:spLocks noGrp="1"/>
          </p:cNvSpPr>
          <p:nvPr/>
        </p:nvSpPr>
        <p:spPr>
          <a:xfrm>
            <a:off x="2647950" y="6457950"/>
            <a:ext cx="38100" cy="38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  <a:prstDash val="solid"/>
          </a:ln>
        </p:spPr>
      </p:sp>
      <p:sp>
        <p:nvSpPr>
          <p:cNvPr id="24" name="sens_anchor_stage2">
            <a:extLst>
              <a:ext uri="{FF2B5EF4-FFF2-40B4-BE49-F238E27FC236}">
                <a16:creationId xmlns:a16="http://schemas.microsoft.com/office/drawing/2014/main" id="{E23B8941-9FF9-4987-B4F8-7CE274BE7416}"/>
              </a:ext>
            </a:extLst>
          </p:cNvPr>
          <p:cNvSpPr>
            <a:spLocks noGrp="1"/>
          </p:cNvSpPr>
          <p:nvPr/>
        </p:nvSpPr>
        <p:spPr>
          <a:xfrm>
            <a:off x="7600950" y="6457950"/>
            <a:ext cx="38100" cy="38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  <a:prstDash val="solid"/>
          </a:ln>
        </p:spPr>
      </p:sp>
      <p:sp>
        <p:nvSpPr>
          <p:cNvPr id="25" name="sens_anchor_stage3">
            <a:extLst>
              <a:ext uri="{FF2B5EF4-FFF2-40B4-BE49-F238E27FC236}">
                <a16:creationId xmlns:a16="http://schemas.microsoft.com/office/drawing/2014/main" id="{C373DFD4-EBF4-4EC3-8AE1-BE70A71D5B28}"/>
              </a:ext>
            </a:extLst>
          </p:cNvPr>
          <p:cNvSpPr>
            <a:spLocks noGrp="1"/>
          </p:cNvSpPr>
          <p:nvPr/>
        </p:nvSpPr>
        <p:spPr>
          <a:xfrm>
            <a:off x="12553950" y="6457950"/>
            <a:ext cx="38100" cy="38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  <a:prstDash val="solid"/>
          </a:ln>
        </p:spPr>
      </p:sp>
      <p:sp>
        <p:nvSpPr>
          <p:cNvPr id="26" name="final_anchor">
            <a:extLst>
              <a:ext uri="{FF2B5EF4-FFF2-40B4-BE49-F238E27FC236}">
                <a16:creationId xmlns:a16="http://schemas.microsoft.com/office/drawing/2014/main" id="{4EA904BA-1009-4430-ACFD-D3877D7E9E9E}"/>
              </a:ext>
            </a:extLst>
          </p:cNvPr>
          <p:cNvSpPr>
            <a:spLocks noGrp="1"/>
          </p:cNvSpPr>
          <p:nvPr/>
        </p:nvSpPr>
        <p:spPr>
          <a:xfrm>
            <a:off x="7600950" y="7839075"/>
            <a:ext cx="38100" cy="38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  <a:prstDash val="solid"/>
          </a:ln>
        </p:spPr>
      </p:sp>
      <p:sp>
        <p:nvSpPr>
          <p:cNvPr id="27" name="final_box">
            <a:extLst>
              <a:ext uri="{FF2B5EF4-FFF2-40B4-BE49-F238E27FC236}">
                <a16:creationId xmlns:a16="http://schemas.microsoft.com/office/drawing/2014/main" id="{C393AE51-04A9-4F7F-924E-959C790AF223}"/>
              </a:ext>
            </a:extLst>
          </p:cNvPr>
          <p:cNvSpPr>
            <a:spLocks noGrp="1"/>
          </p:cNvSpPr>
          <p:nvPr/>
        </p:nvSpPr>
        <p:spPr>
          <a:xfrm>
            <a:off x="666750" y="7858125"/>
            <a:ext cx="13906500" cy="552450"/>
          </a:xfrm>
          <a:prstGeom prst="rect">
            <a:avLst/>
          </a:prstGeom>
          <a:solidFill>
            <a:srgbClr val="FBFBFB"/>
          </a:solidFill>
          <a:ln w="20955">
            <a:solidFill>
              <a:srgbClr val="0B2B56"/>
            </a:solidFill>
            <a:prstDash val="solid"/>
          </a:ln>
        </p:spPr>
      </p:sp>
      <p:sp>
        <p:nvSpPr>
          <p:cNvPr id="28" name="final_title">
            <a:extLst>
              <a:ext uri="{FF2B5EF4-FFF2-40B4-BE49-F238E27FC236}">
                <a16:creationId xmlns:a16="http://schemas.microsoft.com/office/drawing/2014/main" id="{1E9FA18F-F2BC-4B41-B34B-D6772A386F01}"/>
              </a:ext>
            </a:extLst>
          </p:cNvPr>
          <p:cNvSpPr>
            <a:spLocks noGrp="1"/>
          </p:cNvSpPr>
          <p:nvPr/>
        </p:nvSpPr>
        <p:spPr>
          <a:xfrm>
            <a:off x="809625" y="7924800"/>
            <a:ext cx="1362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최종 비교지표</a:t>
            </a:r>
          </a:p>
        </p:txBody>
      </p:sp>
      <p:sp>
        <p:nvSpPr>
          <p:cNvPr id="29" name="final_body">
            <a:extLst>
              <a:ext uri="{FF2B5EF4-FFF2-40B4-BE49-F238E27FC236}">
                <a16:creationId xmlns:a16="http://schemas.microsoft.com/office/drawing/2014/main" id="{FA4E83E0-B999-4FEE-837C-BE399B47F483}"/>
              </a:ext>
            </a:extLst>
          </p:cNvPr>
          <p:cNvSpPr>
            <a:spLocks noGrp="1"/>
          </p:cNvSpPr>
          <p:nvPr/>
        </p:nvSpPr>
        <p:spPr>
          <a:xfrm>
            <a:off x="809625" y="8143875"/>
            <a:ext cx="1362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/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350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투자대수, 투자비용, Risk 저감량, 투자가치, SAIDI 저감량, PI</a:t>
            </a:r>
          </a:p>
        </p:txBody>
      </p:sp>
      <p:cxnSp>
        <p:nvCxnSpPr>
          <p:cNvPr id="69" name="직선 화살표 연결선 68"/>
          <p:cNvCxnSpPr>
            <a:stCxn id="2" idx="3"/>
            <a:endCxn id="5" idx="1"/>
          </p:cNvCxnSpPr>
          <p:nvPr/>
        </p:nvCxnSpPr>
        <p:spPr>
          <a:xfrm>
            <a:off x="4667250" y="1928813"/>
            <a:ext cx="952500" cy="0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0" name="직선 화살표 연결선 69"/>
          <p:cNvCxnSpPr>
            <a:stCxn id="5" idx="3"/>
            <a:endCxn id="8" idx="1"/>
          </p:cNvCxnSpPr>
          <p:nvPr/>
        </p:nvCxnSpPr>
        <p:spPr>
          <a:xfrm>
            <a:off x="9620250" y="1928813"/>
            <a:ext cx="952500" cy="0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1" name="직선 화살표 연결선 70"/>
          <p:cNvCxnSpPr>
            <a:stCxn id="2" idx="2"/>
            <a:endCxn id="11" idx="0"/>
          </p:cNvCxnSpPr>
          <p:nvPr/>
        </p:nvCxnSpPr>
        <p:spPr>
          <a:xfrm>
            <a:off x="2667000" y="2762250"/>
            <a:ext cx="0" cy="1000125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2" name="직선 화살표 연결선 71"/>
          <p:cNvCxnSpPr>
            <a:stCxn id="5" idx="2"/>
            <a:endCxn id="14" idx="0"/>
          </p:cNvCxnSpPr>
          <p:nvPr/>
        </p:nvCxnSpPr>
        <p:spPr>
          <a:xfrm>
            <a:off x="7620000" y="2762250"/>
            <a:ext cx="0" cy="1000125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3" name="직선 화살표 연결선 72"/>
          <p:cNvCxnSpPr>
            <a:stCxn id="11" idx="3"/>
            <a:endCxn id="14" idx="1"/>
          </p:cNvCxnSpPr>
          <p:nvPr/>
        </p:nvCxnSpPr>
        <p:spPr>
          <a:xfrm>
            <a:off x="4667250" y="4691063"/>
            <a:ext cx="952500" cy="0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4" name="직선 화살표 연결선 73"/>
          <p:cNvCxnSpPr>
            <a:stCxn id="14" idx="3"/>
            <a:endCxn id="17" idx="1"/>
          </p:cNvCxnSpPr>
          <p:nvPr/>
        </p:nvCxnSpPr>
        <p:spPr>
          <a:xfrm>
            <a:off x="9620250" y="4691063"/>
            <a:ext cx="952500" cy="0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5" name="직선 화살표 연결선 74"/>
          <p:cNvCxnSpPr>
            <a:stCxn id="11" idx="2"/>
            <a:endCxn id="23" idx="0"/>
          </p:cNvCxnSpPr>
          <p:nvPr/>
        </p:nvCxnSpPr>
        <p:spPr>
          <a:xfrm>
            <a:off x="2667000" y="5619750"/>
            <a:ext cx="0" cy="838200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6" name="직선 화살표 연결선 75"/>
          <p:cNvCxnSpPr>
            <a:stCxn id="14" idx="2"/>
            <a:endCxn id="24" idx="0"/>
          </p:cNvCxnSpPr>
          <p:nvPr/>
        </p:nvCxnSpPr>
        <p:spPr>
          <a:xfrm>
            <a:off x="7620000" y="5619750"/>
            <a:ext cx="0" cy="838200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7" name="직선 화살표 연결선 76"/>
          <p:cNvCxnSpPr>
            <a:stCxn id="17" idx="2"/>
            <a:endCxn id="25" idx="0"/>
          </p:cNvCxnSpPr>
          <p:nvPr/>
        </p:nvCxnSpPr>
        <p:spPr>
          <a:xfrm>
            <a:off x="12573000" y="5619750"/>
            <a:ext cx="0" cy="838200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8" name="직선 화살표 연결선 77"/>
          <p:cNvCxnSpPr>
            <a:stCxn id="20" idx="2"/>
            <a:endCxn id="26" idx="0"/>
          </p:cNvCxnSpPr>
          <p:nvPr/>
        </p:nvCxnSpPr>
        <p:spPr>
          <a:xfrm>
            <a:off x="7620000" y="7334250"/>
            <a:ext cx="0" cy="504825"/>
          </a:xfrm>
          <a:prstGeom prst="straightConnector1">
            <a:avLst/>
          </a:prstGeom>
          <a:ln w="23813">
            <a:solidFill>
              <a:srgbClr val="0B2B56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07427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A72A28E-593B-4270-84B2-E407D52E814E}"/>
              </a:ext>
            </a:extLst>
          </p:cNvPr>
          <p:cNvSpPr/>
          <p:nvPr/>
        </p:nvSpPr>
        <p:spPr>
          <a:xfrm>
            <a:off x="6088284" y="5005067"/>
            <a:ext cx="8846916" cy="1291783"/>
          </a:xfrm>
          <a:prstGeom prst="roundRect">
            <a:avLst/>
          </a:prstGeom>
          <a:solidFill>
            <a:srgbClr val="FEF8EA"/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AutoShape 4" descr="생성된 이미지 2">
            <a:extLst>
              <a:ext uri="{FF2B5EF4-FFF2-40B4-BE49-F238E27FC236}">
                <a16:creationId xmlns:a16="http://schemas.microsoft.com/office/drawing/2014/main" id="{3AF9F4BD-A855-4069-BD99-B8A4AF79EC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0" y="448768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AD6E8E-571C-4E6C-B93B-8C1AB19B2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2" b="55060"/>
          <a:stretch/>
        </p:blipFill>
        <p:spPr>
          <a:xfrm>
            <a:off x="0" y="864242"/>
            <a:ext cx="15240000" cy="2731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83CF32-79AF-4F69-A621-0878E8EFFC12}"/>
              </a:ext>
            </a:extLst>
          </p:cNvPr>
          <p:cNvSpPr txBox="1"/>
          <p:nvPr/>
        </p:nvSpPr>
        <p:spPr>
          <a:xfrm>
            <a:off x="9241846" y="5798160"/>
            <a:ext cx="2679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>
                <a:solidFill>
                  <a:srgbClr val="00206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함초롬바탕" panose="02030604000101010101" pitchFamily="18" charset="-127"/>
              </a:rPr>
              <a:t>전문가 </a:t>
            </a:r>
            <a:r>
              <a:rPr lang="ko-KR" altLang="en-US" sz="2500" b="1">
                <a:solidFill>
                  <a:srgbClr val="00206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함초롬바탕" panose="02030604000101010101" pitchFamily="18" charset="-127"/>
              </a:rPr>
              <a:t>및 운영자</a:t>
            </a:r>
            <a:endParaRPr lang="ko-KR" altLang="en-US" sz="2500" b="1" dirty="0">
              <a:solidFill>
                <a:srgbClr val="002060"/>
              </a:solidFill>
              <a:latin typeface="KoPub바탕체 Bold" panose="00000800000000000000" pitchFamily="2" charset="-127"/>
              <a:ea typeface="KoPub바탕체 Bold" panose="000008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E952F28-634C-4DA2-830A-98573BE1FF80}"/>
              </a:ext>
            </a:extLst>
          </p:cNvPr>
          <p:cNvSpPr/>
          <p:nvPr/>
        </p:nvSpPr>
        <p:spPr>
          <a:xfrm>
            <a:off x="6399480" y="5242803"/>
            <a:ext cx="2679700" cy="768971"/>
          </a:xfrm>
          <a:prstGeom prst="roundRect">
            <a:avLst/>
          </a:prstGeom>
          <a:solidFill>
            <a:srgbClr val="FFFDF9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rgbClr val="002060"/>
              </a:solidFill>
              <a:latin typeface="함초롬바탕 확장" panose="02030504000101010101" pitchFamily="18" charset="-127"/>
              <a:ea typeface="함초롬바탕 확장" panose="020305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0964B6-77CD-4B5F-8166-08929E50A74D}"/>
              </a:ext>
            </a:extLst>
          </p:cNvPr>
          <p:cNvSpPr/>
          <p:nvPr/>
        </p:nvSpPr>
        <p:spPr>
          <a:xfrm>
            <a:off x="12084213" y="5242803"/>
            <a:ext cx="2679700" cy="768971"/>
          </a:xfrm>
          <a:prstGeom prst="roundRect">
            <a:avLst/>
          </a:prstGeom>
          <a:solidFill>
            <a:srgbClr val="FFFDF9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rgbClr val="002060"/>
              </a:solidFill>
              <a:latin typeface="함초롬바탕 확장" panose="02030504000101010101" pitchFamily="18" charset="-127"/>
              <a:ea typeface="함초롬바탕 확장" panose="020305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EAF8AD7-D86A-4F3E-8F88-7E75EF19EC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26" t="72768" r="46000" b="19018"/>
          <a:stretch/>
        </p:blipFill>
        <p:spPr>
          <a:xfrm>
            <a:off x="6466157" y="5314315"/>
            <a:ext cx="2510661" cy="6259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9B8CC70-53BE-4A06-823B-9662A1D6FD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7" t="72453" r="9750" b="18778"/>
          <a:stretch/>
        </p:blipFill>
        <p:spPr>
          <a:xfrm>
            <a:off x="12259802" y="5300026"/>
            <a:ext cx="2336800" cy="66821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A5E5B21-EAA0-4BDC-9653-8B228F8BCF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66" t="83356" r="61667" b="7915"/>
          <a:stretch/>
        </p:blipFill>
        <p:spPr>
          <a:xfrm>
            <a:off x="10035596" y="5096444"/>
            <a:ext cx="1092200" cy="665207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2CDA1E0-D7AC-45DA-8997-E10D1804B335}"/>
              </a:ext>
            </a:extLst>
          </p:cNvPr>
          <p:cNvSpPr/>
          <p:nvPr/>
        </p:nvSpPr>
        <p:spPr>
          <a:xfrm>
            <a:off x="9616354" y="4035088"/>
            <a:ext cx="2424414" cy="768971"/>
          </a:xfrm>
          <a:prstGeom prst="roundRect">
            <a:avLst/>
          </a:prstGeom>
          <a:solidFill>
            <a:srgbClr val="EDECEC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rgbClr val="002060"/>
              </a:solidFill>
              <a:latin typeface="함초롬바탕 확장" panose="02030504000101010101" pitchFamily="18" charset="-127"/>
              <a:ea typeface="함초롬바탕 확장" panose="020305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0BED703-926E-4D68-9F77-81E96D49C4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83" t="53924" r="21008" b="39544"/>
          <a:stretch/>
        </p:blipFill>
        <p:spPr>
          <a:xfrm>
            <a:off x="9708429" y="4201149"/>
            <a:ext cx="2280371" cy="468140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3E2FE8D-255E-4559-BD61-A21558F1A8CD}"/>
              </a:ext>
            </a:extLst>
          </p:cNvPr>
          <p:cNvCxnSpPr>
            <a:cxnSpLocks/>
          </p:cNvCxnSpPr>
          <p:nvPr/>
        </p:nvCxnSpPr>
        <p:spPr>
          <a:xfrm>
            <a:off x="10813956" y="3580627"/>
            <a:ext cx="0" cy="439221"/>
          </a:xfrm>
          <a:prstGeom prst="straightConnector1">
            <a:avLst/>
          </a:prstGeom>
          <a:ln w="635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793EF3A-8B31-4569-A987-4DB37DC3C28A}"/>
              </a:ext>
            </a:extLst>
          </p:cNvPr>
          <p:cNvCxnSpPr>
            <a:cxnSpLocks/>
          </p:cNvCxnSpPr>
          <p:nvPr/>
        </p:nvCxnSpPr>
        <p:spPr>
          <a:xfrm flipV="1">
            <a:off x="7764527" y="3580628"/>
            <a:ext cx="0" cy="1662175"/>
          </a:xfrm>
          <a:prstGeom prst="straightConnector1">
            <a:avLst/>
          </a:prstGeom>
          <a:ln w="635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다이아몬드 33">
            <a:extLst>
              <a:ext uri="{FF2B5EF4-FFF2-40B4-BE49-F238E27FC236}">
                <a16:creationId xmlns:a16="http://schemas.microsoft.com/office/drawing/2014/main" id="{83FB49CB-80E9-4FE2-BF52-B48C37A926BE}"/>
              </a:ext>
            </a:extLst>
          </p:cNvPr>
          <p:cNvSpPr/>
          <p:nvPr/>
        </p:nvSpPr>
        <p:spPr>
          <a:xfrm>
            <a:off x="12866720" y="4028742"/>
            <a:ext cx="1729882" cy="790300"/>
          </a:xfrm>
          <a:prstGeom prst="diamond">
            <a:avLst/>
          </a:prstGeom>
          <a:solidFill>
            <a:srgbClr val="EDECE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150AE99-EB62-4663-BF4D-F6D65363DAD1}"/>
              </a:ext>
            </a:extLst>
          </p:cNvPr>
          <p:cNvCxnSpPr>
            <a:cxnSpLocks/>
            <a:stCxn id="19" idx="3"/>
            <a:endCxn id="34" idx="1"/>
          </p:cNvCxnSpPr>
          <p:nvPr/>
        </p:nvCxnSpPr>
        <p:spPr>
          <a:xfrm>
            <a:off x="12040768" y="4419574"/>
            <a:ext cx="825952" cy="4318"/>
          </a:xfrm>
          <a:prstGeom prst="straightConnector1">
            <a:avLst/>
          </a:prstGeom>
          <a:ln w="635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00D87A4-3161-4BB1-9B3D-6CC17D1C2226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13731661" y="4819042"/>
            <a:ext cx="0" cy="423761"/>
          </a:xfrm>
          <a:prstGeom prst="straightConnector1">
            <a:avLst/>
          </a:prstGeom>
          <a:ln w="635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B1D722A2-6D90-4FD9-860B-B55B6A17FA76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3731661" y="3543300"/>
            <a:ext cx="0" cy="485442"/>
          </a:xfrm>
          <a:prstGeom prst="straightConnector1">
            <a:avLst/>
          </a:prstGeom>
          <a:ln w="635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25B1883-1EE1-4777-B51B-4CD91A341E47}"/>
              </a:ext>
            </a:extLst>
          </p:cNvPr>
          <p:cNvSpPr txBox="1"/>
          <p:nvPr/>
        </p:nvSpPr>
        <p:spPr>
          <a:xfrm>
            <a:off x="13212159" y="4141254"/>
            <a:ext cx="99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00206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함초롬바탕" panose="02030604000101010101" pitchFamily="18" charset="-127"/>
              </a:rPr>
              <a:t>수용성 </a:t>
            </a:r>
            <a:endParaRPr lang="en-US" altLang="ko-KR" sz="1600" b="1" dirty="0">
              <a:solidFill>
                <a:srgbClr val="002060"/>
              </a:solidFill>
              <a:latin typeface="KoPub바탕체 Bold" panose="00000800000000000000" pitchFamily="2" charset="-127"/>
              <a:ea typeface="KoPub바탕체 Bold" panose="00000800000000000000" pitchFamily="2" charset="-127"/>
              <a:cs typeface="함초롬바탕" panose="02030604000101010101" pitchFamily="18" charset="-127"/>
            </a:endParaRPr>
          </a:p>
          <a:p>
            <a:pPr algn="ctr"/>
            <a:r>
              <a:rPr lang="ko-KR" altLang="en-US" sz="1600" b="1" dirty="0">
                <a:solidFill>
                  <a:srgbClr val="00206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함초롬바탕" panose="02030604000101010101" pitchFamily="18" charset="-127"/>
              </a:rPr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147056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그림 174">
            <a:extLst>
              <a:ext uri="{FF2B5EF4-FFF2-40B4-BE49-F238E27FC236}">
                <a16:creationId xmlns:a16="http://schemas.microsoft.com/office/drawing/2014/main" id="{D5B5168F-6BBC-4DD7-A7AC-07FFF7CF0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50"/>
            <a:ext cx="1524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9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103CCCA-F067-49C9-883C-5979CC98C8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1"/>
          <a:stretch/>
        </p:blipFill>
        <p:spPr>
          <a:xfrm>
            <a:off x="585204" y="466338"/>
            <a:ext cx="13825626" cy="687789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153963-82B1-4F6B-AB49-CBEC6F21C3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9" t="93311" r="71622" b="887"/>
          <a:stretch/>
        </p:blipFill>
        <p:spPr>
          <a:xfrm>
            <a:off x="3862120" y="7344230"/>
            <a:ext cx="1358900" cy="4272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032FE4-00A4-4091-A703-EA686C13A8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0" t="93398" r="21201" b="800"/>
          <a:stretch/>
        </p:blipFill>
        <p:spPr>
          <a:xfrm>
            <a:off x="10892312" y="7332355"/>
            <a:ext cx="1358900" cy="42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3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D971EF-2553-45AA-95F4-86A50885CC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7" r="49167"/>
          <a:stretch/>
        </p:blipFill>
        <p:spPr>
          <a:xfrm>
            <a:off x="0" y="711200"/>
            <a:ext cx="7747000" cy="61546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064F533-8907-4505-B310-969EC939FC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0" t="4647"/>
          <a:stretch/>
        </p:blipFill>
        <p:spPr>
          <a:xfrm>
            <a:off x="8255000" y="603118"/>
            <a:ext cx="7505700" cy="61546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1CFA3F-1931-4839-8EAA-41FC5632596A}"/>
              </a:ext>
            </a:extLst>
          </p:cNvPr>
          <p:cNvSpPr txBox="1"/>
          <p:nvPr/>
        </p:nvSpPr>
        <p:spPr>
          <a:xfrm>
            <a:off x="2536246" y="403063"/>
            <a:ext cx="173095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latin typeface="KoPub돋움체 Bold" panose="00000800000000000000" pitchFamily="2" charset="-127"/>
                <a:ea typeface="KoPub돋움체 Bold" panose="00000800000000000000" pitchFamily="2" charset="-127"/>
                <a:cs typeface="함초롬바탕" panose="02030604000101010101" pitchFamily="18" charset="-127"/>
              </a:rPr>
              <a:t>(a) </a:t>
            </a:r>
            <a:r>
              <a:rPr lang="ko-KR" altLang="en-US" sz="20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함초롬바탕" panose="02030604000101010101" pitchFamily="18" charset="-127"/>
              </a:rPr>
              <a:t>투자가치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F77B1-2426-452E-AB82-F0A7BD2975E8}"/>
              </a:ext>
            </a:extLst>
          </p:cNvPr>
          <p:cNvSpPr txBox="1"/>
          <p:nvPr/>
        </p:nvSpPr>
        <p:spPr>
          <a:xfrm>
            <a:off x="10689646" y="403063"/>
            <a:ext cx="173095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함초롬바탕" panose="02030604000101010101" pitchFamily="18" charset="-127"/>
              </a:rPr>
              <a:t>(a) SAIDI</a:t>
            </a:r>
            <a:endParaRPr lang="ko-KR" altLang="en-US" sz="2000" b="1" dirty="0">
              <a:latin typeface="KoPub돋움체 Bold" panose="00000800000000000000" pitchFamily="2" charset="-127"/>
              <a:ea typeface="KoPub돋움체 Bold" panose="00000800000000000000" pitchFamily="2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935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0F4A5B-FA68-44D4-A11B-D210D03152D3}"/>
              </a:ext>
            </a:extLst>
          </p:cNvPr>
          <p:cNvSpPr txBox="1"/>
          <p:nvPr/>
        </p:nvSpPr>
        <p:spPr>
          <a:xfrm rot="16200000">
            <a:off x="3714157" y="4101584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투자가치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백만원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9A4B38-0842-4E71-BAA7-2D69A55CE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773" y="1760779"/>
            <a:ext cx="7632854" cy="4669941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22831EB-35C0-4EE6-8048-0928FD10B7D9}"/>
              </a:ext>
            </a:extLst>
          </p:cNvPr>
          <p:cNvCxnSpPr>
            <a:cxnSpLocks/>
          </p:cNvCxnSpPr>
          <p:nvPr/>
        </p:nvCxnSpPr>
        <p:spPr>
          <a:xfrm flipV="1">
            <a:off x="6410325" y="4755356"/>
            <a:ext cx="842963" cy="233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E305692-327B-470C-9367-27C124416723}"/>
              </a:ext>
            </a:extLst>
          </p:cNvPr>
          <p:cNvCxnSpPr>
            <a:cxnSpLocks/>
          </p:cNvCxnSpPr>
          <p:nvPr/>
        </p:nvCxnSpPr>
        <p:spPr>
          <a:xfrm flipV="1">
            <a:off x="7253288" y="4448175"/>
            <a:ext cx="838200" cy="307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144E976-EFB1-48F6-AF28-51B6D3866FDD}"/>
              </a:ext>
            </a:extLst>
          </p:cNvPr>
          <p:cNvCxnSpPr>
            <a:cxnSpLocks/>
          </p:cNvCxnSpPr>
          <p:nvPr/>
        </p:nvCxnSpPr>
        <p:spPr>
          <a:xfrm flipV="1">
            <a:off x="8091488" y="4233863"/>
            <a:ext cx="833437" cy="214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0789DD3-1179-43FB-A3C3-E9A843A2E597}"/>
              </a:ext>
            </a:extLst>
          </p:cNvPr>
          <p:cNvCxnSpPr>
            <a:cxnSpLocks/>
          </p:cNvCxnSpPr>
          <p:nvPr/>
        </p:nvCxnSpPr>
        <p:spPr>
          <a:xfrm flipV="1">
            <a:off x="8924925" y="4055269"/>
            <a:ext cx="838200" cy="1785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EE1449A-DC84-4106-B147-920CBDB961D1}"/>
              </a:ext>
            </a:extLst>
          </p:cNvPr>
          <p:cNvCxnSpPr>
            <a:cxnSpLocks/>
          </p:cNvCxnSpPr>
          <p:nvPr/>
        </p:nvCxnSpPr>
        <p:spPr>
          <a:xfrm flipV="1">
            <a:off x="9763125" y="3960019"/>
            <a:ext cx="833437" cy="95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AAE3733-5B4E-428E-BB1B-48291F429634}"/>
              </a:ext>
            </a:extLst>
          </p:cNvPr>
          <p:cNvCxnSpPr>
            <a:cxnSpLocks/>
          </p:cNvCxnSpPr>
          <p:nvPr/>
        </p:nvCxnSpPr>
        <p:spPr>
          <a:xfrm flipV="1">
            <a:off x="10596562" y="3900488"/>
            <a:ext cx="838200" cy="595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곱하기 기호 24">
            <a:extLst>
              <a:ext uri="{FF2B5EF4-FFF2-40B4-BE49-F238E27FC236}">
                <a16:creationId xmlns:a16="http://schemas.microsoft.com/office/drawing/2014/main" id="{0D9ED54F-A862-4686-9733-124328FC268C}"/>
              </a:ext>
            </a:extLst>
          </p:cNvPr>
          <p:cNvSpPr/>
          <p:nvPr/>
        </p:nvSpPr>
        <p:spPr>
          <a:xfrm>
            <a:off x="6368616" y="4939904"/>
            <a:ext cx="88106" cy="88106"/>
          </a:xfrm>
          <a:prstGeom prst="mathMultiply">
            <a:avLst>
              <a:gd name="adj1" fmla="val 1271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곱하기 기호 25">
            <a:extLst>
              <a:ext uri="{FF2B5EF4-FFF2-40B4-BE49-F238E27FC236}">
                <a16:creationId xmlns:a16="http://schemas.microsoft.com/office/drawing/2014/main" id="{41BE8674-F978-4AE4-93DA-450286ED4667}"/>
              </a:ext>
            </a:extLst>
          </p:cNvPr>
          <p:cNvSpPr/>
          <p:nvPr/>
        </p:nvSpPr>
        <p:spPr>
          <a:xfrm>
            <a:off x="7206891" y="4708921"/>
            <a:ext cx="88106" cy="88106"/>
          </a:xfrm>
          <a:prstGeom prst="mathMultiply">
            <a:avLst>
              <a:gd name="adj1" fmla="val 1271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DE69E8D4-4A95-4A73-B4B3-29A14DB44549}"/>
              </a:ext>
            </a:extLst>
          </p:cNvPr>
          <p:cNvSpPr/>
          <p:nvPr/>
        </p:nvSpPr>
        <p:spPr>
          <a:xfrm>
            <a:off x="8037873" y="4411264"/>
            <a:ext cx="88106" cy="88106"/>
          </a:xfrm>
          <a:prstGeom prst="mathMultiply">
            <a:avLst>
              <a:gd name="adj1" fmla="val 1271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곱하기 기호 27">
            <a:extLst>
              <a:ext uri="{FF2B5EF4-FFF2-40B4-BE49-F238E27FC236}">
                <a16:creationId xmlns:a16="http://schemas.microsoft.com/office/drawing/2014/main" id="{DD9EC4E6-66A5-4134-9D24-2866A275DFBD}"/>
              </a:ext>
            </a:extLst>
          </p:cNvPr>
          <p:cNvSpPr/>
          <p:nvPr/>
        </p:nvSpPr>
        <p:spPr>
          <a:xfrm>
            <a:off x="8874846" y="4194568"/>
            <a:ext cx="88106" cy="88106"/>
          </a:xfrm>
          <a:prstGeom prst="mathMultiply">
            <a:avLst>
              <a:gd name="adj1" fmla="val 1271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곱하기 기호 28">
            <a:extLst>
              <a:ext uri="{FF2B5EF4-FFF2-40B4-BE49-F238E27FC236}">
                <a16:creationId xmlns:a16="http://schemas.microsoft.com/office/drawing/2014/main" id="{00B8D2E9-9351-4E22-A3CD-60163CFD63F7}"/>
              </a:ext>
            </a:extLst>
          </p:cNvPr>
          <p:cNvSpPr/>
          <p:nvPr/>
        </p:nvSpPr>
        <p:spPr>
          <a:xfrm>
            <a:off x="9716691" y="4011215"/>
            <a:ext cx="88106" cy="88106"/>
          </a:xfrm>
          <a:prstGeom prst="mathMultiply">
            <a:avLst>
              <a:gd name="adj1" fmla="val 1271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곱하기 기호 29">
            <a:extLst>
              <a:ext uri="{FF2B5EF4-FFF2-40B4-BE49-F238E27FC236}">
                <a16:creationId xmlns:a16="http://schemas.microsoft.com/office/drawing/2014/main" id="{B2084437-201E-4F2C-B6EA-9D03A0E60900}"/>
              </a:ext>
            </a:extLst>
          </p:cNvPr>
          <p:cNvSpPr/>
          <p:nvPr/>
        </p:nvSpPr>
        <p:spPr>
          <a:xfrm>
            <a:off x="10550562" y="3915965"/>
            <a:ext cx="88106" cy="88106"/>
          </a:xfrm>
          <a:prstGeom prst="mathMultiply">
            <a:avLst>
              <a:gd name="adj1" fmla="val 1271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곱하기 기호 30">
            <a:extLst>
              <a:ext uri="{FF2B5EF4-FFF2-40B4-BE49-F238E27FC236}">
                <a16:creationId xmlns:a16="http://schemas.microsoft.com/office/drawing/2014/main" id="{F25E7FFD-A755-42A0-A545-8C9A61D5C870}"/>
              </a:ext>
            </a:extLst>
          </p:cNvPr>
          <p:cNvSpPr/>
          <p:nvPr/>
        </p:nvSpPr>
        <p:spPr>
          <a:xfrm>
            <a:off x="11392656" y="3858814"/>
            <a:ext cx="88106" cy="88106"/>
          </a:xfrm>
          <a:prstGeom prst="mathMultiply">
            <a:avLst>
              <a:gd name="adj1" fmla="val 1271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D14C3EF-BD43-4103-A975-12035F05CF44}"/>
              </a:ext>
            </a:extLst>
          </p:cNvPr>
          <p:cNvCxnSpPr>
            <a:cxnSpLocks/>
          </p:cNvCxnSpPr>
          <p:nvPr/>
        </p:nvCxnSpPr>
        <p:spPr>
          <a:xfrm>
            <a:off x="5454650" y="4939904"/>
            <a:ext cx="6985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84B12A6-7E92-4328-8E10-6C6D1648D394}"/>
              </a:ext>
            </a:extLst>
          </p:cNvPr>
          <p:cNvSpPr/>
          <p:nvPr/>
        </p:nvSpPr>
        <p:spPr>
          <a:xfrm>
            <a:off x="5276359" y="2322831"/>
            <a:ext cx="88106" cy="4016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E58201-70CC-4857-8C46-912F909429DB}"/>
              </a:ext>
            </a:extLst>
          </p:cNvPr>
          <p:cNvSpPr txBox="1"/>
          <p:nvPr/>
        </p:nvSpPr>
        <p:spPr>
          <a:xfrm>
            <a:off x="5065941" y="4778321"/>
            <a:ext cx="2985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-</a:t>
            </a:r>
            <a:endParaRPr lang="ko-KR" altLang="en-US" sz="1500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6C0EFFC-5805-4458-AC33-14BDED359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005" y="612592"/>
            <a:ext cx="8029128" cy="466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93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0F4A5B-FA68-44D4-A11B-D210D03152D3}"/>
              </a:ext>
            </a:extLst>
          </p:cNvPr>
          <p:cNvSpPr txBox="1"/>
          <p:nvPr/>
        </p:nvSpPr>
        <p:spPr>
          <a:xfrm rot="16200000">
            <a:off x="3956477" y="3504683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투자가치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백만원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FCA4D8-D079-40F8-A67B-A69D1E0A1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093" y="1390957"/>
            <a:ext cx="7517019" cy="4596782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26990968-8A9F-471D-8772-224CBB0EAA38}"/>
              </a:ext>
            </a:extLst>
          </p:cNvPr>
          <p:cNvSpPr/>
          <p:nvPr/>
        </p:nvSpPr>
        <p:spPr>
          <a:xfrm>
            <a:off x="5548856" y="1956443"/>
            <a:ext cx="88106" cy="4016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00C8C0-01A6-4E1D-973D-A4EE321414D7}"/>
              </a:ext>
            </a:extLst>
          </p:cNvPr>
          <p:cNvSpPr txBox="1"/>
          <p:nvPr/>
        </p:nvSpPr>
        <p:spPr>
          <a:xfrm>
            <a:off x="5338438" y="4793561"/>
            <a:ext cx="2985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-</a:t>
            </a:r>
            <a:endParaRPr lang="ko-KR" altLang="en-US" sz="1500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6DDE33-9252-4763-A4F2-EF0705D46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706" y="3689348"/>
            <a:ext cx="7913294" cy="45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3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C38B91-FAB7-4543-A73A-D7613D8466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74" b="7538"/>
          <a:stretch>
            <a:fillRect/>
          </a:stretch>
        </p:blipFill>
        <p:spPr>
          <a:xfrm>
            <a:off x="1854935" y="2008716"/>
            <a:ext cx="11530129" cy="520488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6335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D3CBD3-E53F-4CBE-9E27-226FD55F00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01" b="16162"/>
          <a:stretch/>
        </p:blipFill>
        <p:spPr>
          <a:xfrm>
            <a:off x="0" y="1524000"/>
            <a:ext cx="15240000" cy="4635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3AFB4C-143B-4370-B61E-35DA6DF84BB5}"/>
              </a:ext>
            </a:extLst>
          </p:cNvPr>
          <p:cNvSpPr txBox="1"/>
          <p:nvPr/>
        </p:nvSpPr>
        <p:spPr>
          <a:xfrm rot="16200000">
            <a:off x="-666323" y="3339584"/>
            <a:ext cx="19939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투자가치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백만원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16AAA-BA43-4F8C-958E-E889FE82FD66}"/>
              </a:ext>
            </a:extLst>
          </p:cNvPr>
          <p:cNvSpPr txBox="1"/>
          <p:nvPr/>
        </p:nvSpPr>
        <p:spPr>
          <a:xfrm rot="16200000">
            <a:off x="7004477" y="3339584"/>
            <a:ext cx="19939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투자가치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호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1A5552-194E-4250-B527-C4A2C80C98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01" r="53667" b="16162"/>
          <a:stretch/>
        </p:blipFill>
        <p:spPr>
          <a:xfrm>
            <a:off x="1485900" y="2203450"/>
            <a:ext cx="70612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3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D6E7325-9DBF-499F-87AC-A291EEE02E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50" t="9597" r="3917" b="16666"/>
          <a:stretch/>
        </p:blipFill>
        <p:spPr>
          <a:xfrm>
            <a:off x="6790854" y="1466850"/>
            <a:ext cx="7061200" cy="4635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D87E1DA-CF5A-4346-8326-DF2ACEA9D0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01" r="53667" b="16162"/>
          <a:stretch/>
        </p:blipFill>
        <p:spPr>
          <a:xfrm>
            <a:off x="0" y="1466850"/>
            <a:ext cx="7061200" cy="4635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B01C79-922E-4834-9EED-E9FDA2DCC48C}"/>
              </a:ext>
            </a:extLst>
          </p:cNvPr>
          <p:cNvSpPr txBox="1"/>
          <p:nvPr/>
        </p:nvSpPr>
        <p:spPr>
          <a:xfrm rot="16200000">
            <a:off x="-640923" y="3276084"/>
            <a:ext cx="19939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투자가치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백만원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98E43-6F7C-4C5D-88C1-94AD051CE272}"/>
              </a:ext>
            </a:extLst>
          </p:cNvPr>
          <p:cNvSpPr txBox="1"/>
          <p:nvPr/>
        </p:nvSpPr>
        <p:spPr>
          <a:xfrm rot="16200000">
            <a:off x="6149931" y="3364984"/>
            <a:ext cx="19939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SAIDI[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호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79542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175</Words>
  <Application>Microsoft Office PowerPoint</Application>
  <DocSecurity>0</DocSecurity>
  <PresentationFormat>사용자 지정</PresentationFormat>
  <Paragraphs>47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KoPub바탕체 Bold</vt:lpstr>
      <vt:lpstr>Batang</vt:lpstr>
      <vt:lpstr>함초롬바탕 확장</vt:lpstr>
      <vt:lpstr>Arial</vt:lpstr>
      <vt:lpstr>Calibri</vt:lpstr>
      <vt:lpstr>KoPub돋움체 Bold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안병현</cp:lastModifiedBy>
  <cp:revision>17</cp:revision>
  <dcterms:created xsi:type="dcterms:W3CDTF">2026-06-26T13:18:36Z</dcterms:created>
  <dcterms:modified xsi:type="dcterms:W3CDTF">2026-06-28T10:48:51Z</dcterms:modified>
</cp:coreProperties>
</file>